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65960"/>
            <a:ext cx="9692640" cy="2743200"/>
          </a:xfrm>
          <a:prstGeom prst="rect">
            <a:avLst/>
          </a:prstGeom>
          <a:noFill/>
        </p:spPr>
        <p:txBody>
          <a:bodyPr wrap="square" lIns="0" rIns="0" tIns="0" bIns="0">
            <a:spAutoFit/>
          </a:bodyPr>
          <a:lstStyle/>
          <a:p>
            <a:pPr algn="l">
              <a:spcBef>
                <a:spcPts val="0"/>
              </a:spcBef>
              <a:spcAft>
                <a:spcPts val="1600"/>
              </a:spcAft>
            </a:pPr>
            <a:r>
              <a:rPr sz="1300" b="1" i="0">
                <a:solidFill>
                  <a:srgbClr val="C2411F"/>
                </a:solidFill>
                <a:latin typeface="Segoe UI"/>
              </a:rPr>
              <a:t>VOICE OF THE CUSTOMER INSIGHTS</a:t>
            </a:r>
          </a:p>
          <a:p>
            <a:pPr algn="l">
              <a:spcBef>
                <a:spcPts val="0"/>
              </a:spcBef>
              <a:spcAft>
                <a:spcPts val="1800"/>
              </a:spcAft>
            </a:pPr>
            <a:r>
              <a:rPr sz="4000" b="1" i="0">
                <a:solidFill>
                  <a:srgbClr val="14171C"/>
                </a:solidFill>
                <a:latin typeface="Segoe UI"/>
              </a:rPr>
              <a:t>Turning thousands of contact-centre
conversations into evidence-based insight</a:t>
            </a:r>
          </a:p>
          <a:p>
            <a:pPr algn="l">
              <a:spcBef>
                <a:spcPts val="0"/>
              </a:spcBef>
              <a:spcAft>
                <a:spcPts val="0"/>
              </a:spcAft>
            </a:pPr>
            <a:r>
              <a:rPr sz="1900" b="0" i="0">
                <a:solidFill>
                  <a:srgbClr val="6B7280"/>
                </a:solidFill>
                <a:latin typeface="Segoe UI"/>
              </a:rPr>
              <a:t>Agents do the reading. The server checks every number before you see it.</a:t>
            </a:r>
          </a:p>
        </p:txBody>
      </p:sp>
      <p:sp>
        <p:nvSpPr>
          <p:cNvPr id="4" name="TextBox 3"/>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Working proof of concept  ·  5,425 real contacts  ·  24 months  ·  runs offline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PROBLEM</a:t>
            </a:r>
          </a:p>
          <a:p>
            <a:pPr algn="l">
              <a:spcBef>
                <a:spcPts val="0"/>
              </a:spcBef>
              <a:spcAft>
                <a:spcPts val="0"/>
              </a:spcAft>
            </a:pPr>
            <a:r>
              <a:rPr sz="3300" b="1" i="0">
                <a:solidFill>
                  <a:srgbClr val="14171C"/>
                </a:solidFill>
                <a:latin typeface="Segoe UI"/>
              </a:rPr>
              <a:t>Nobody reads the conversations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700" b="1">
                <a:solidFill>
                  <a:srgbClr val="14171C"/>
                </a:solidFill>
                <a:latin typeface="Segoe UI"/>
              </a:rPr>
              <a:t>Volume beats attention.  </a:t>
            </a:r>
            <a:r>
              <a:rPr sz="1700">
                <a:solidFill>
                  <a:srgbClr val="6B7280"/>
                </a:solidFill>
                <a:latin typeface="Segoe UI"/>
              </a:rPr>
              <a:t>Thousands of calls a week. A person samples a handful, and the sample is whatever was easy to grab.</a:t>
            </a:r>
          </a:p>
          <a:p>
            <a:pPr>
              <a:spcAft>
                <a:spcPts val="1300"/>
              </a:spcAft>
            </a:pPr>
            <a:r>
              <a:rPr sz="1700" b="1">
                <a:solidFill>
                  <a:srgbClr val="14171C"/>
                </a:solidFill>
                <a:latin typeface="Segoe UI"/>
              </a:rPr>
              <a:t>Labels are not causes.  </a:t>
            </a:r>
            <a:r>
              <a:rPr sz="1700">
                <a:solidFill>
                  <a:srgbClr val="6B7280"/>
                </a:solidFill>
                <a:latin typeface="Segoe UI"/>
              </a:rPr>
              <a:t>A dropdown says "fee complaint". It never says the fee was charged although the deposit already showed as available.</a:t>
            </a:r>
          </a:p>
          <a:p>
            <a:pPr>
              <a:spcAft>
                <a:spcPts val="1300"/>
              </a:spcAft>
            </a:pPr>
            <a:r>
              <a:rPr sz="1700" b="1">
                <a:solidFill>
                  <a:srgbClr val="14171C"/>
                </a:solidFill>
                <a:latin typeface="Segoe UI"/>
              </a:rPr>
              <a:t>One problem arrives as a hundred problems.  </a:t>
            </a:r>
            <a:r>
              <a:rPr sz="1700">
                <a:solidFill>
                  <a:srgbClr val="6B7280"/>
                </a:solidFill>
                <a:latin typeface="Segoe UI"/>
              </a:rPr>
              <a:t>The same failure is described in a hundred different ways, so no keyword rule ever groups it and the volume stays invisible.</a:t>
            </a:r>
          </a:p>
          <a:p>
            <a:pPr>
              <a:spcAft>
                <a:spcPts val="1300"/>
              </a:spcAft>
            </a:pPr>
            <a:r>
              <a:rPr sz="1700" b="1">
                <a:solidFill>
                  <a:srgbClr val="14171C"/>
                </a:solidFill>
                <a:latin typeface="Segoe UI"/>
              </a:rPr>
              <a:t>By the time it is measurable, it is old.  </a:t>
            </a:r>
            <a:r>
              <a:rPr sz="1700">
                <a:solidFill>
                  <a:srgbClr val="6B7280"/>
                </a:solidFill>
                <a:latin typeface="Segoe UI"/>
              </a:rPr>
              <a:t>A theme that matters is small first. Monthly reporting finds it a quarter late.</a:t>
            </a:r>
          </a:p>
          <a:p>
            <a:pPr>
              <a:spcAft>
                <a:spcPts val="1300"/>
              </a:spcAft>
            </a:pPr>
            <a:r>
              <a:rPr sz="1700" b="1">
                <a:solidFill>
                  <a:srgbClr val="14171C"/>
                </a:solidFill>
                <a:latin typeface="Segoe UI"/>
              </a:rPr>
              <a:t>Numbers nobody can trace.  </a:t>
            </a:r>
            <a:r>
              <a:rPr sz="1700">
                <a:solidFill>
                  <a:srgbClr val="6B7280"/>
                </a:solidFill>
                <a:latin typeface="Segoe UI"/>
              </a:rPr>
              <a:t>A slide says 12%. Nobody in the room can open the calls behind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WHAT WE BUILT</a:t>
            </a:r>
          </a:p>
          <a:p>
            <a:pPr algn="l">
              <a:spcBef>
                <a:spcPts val="0"/>
              </a:spcBef>
              <a:spcAft>
                <a:spcPts val="0"/>
              </a:spcAft>
            </a:pPr>
            <a:r>
              <a:rPr sz="3300" b="1" i="0">
                <a:solidFill>
                  <a:srgbClr val="14171C"/>
                </a:solidFill>
                <a:latin typeface="Segoe UI"/>
              </a:rPr>
              <a:t>Five steps, all working on real data</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700" b="1">
                <a:solidFill>
                  <a:srgbClr val="14171C"/>
                </a:solidFill>
                <a:latin typeface="Segoe UI"/>
              </a:rPr>
              <a:t>1  Read every contact.  </a:t>
            </a:r>
            <a:r>
              <a:rPr sz="1700">
                <a:solidFill>
                  <a:srgbClr val="6B7280"/>
                </a:solidFill>
                <a:latin typeface="Segoe UI"/>
              </a:rPr>
              <a:t>Each one goes to Claude once and comes back as a fixed structure: reasons, products, topics with a sentiment each, the specific driver, and verbatim evidence.</a:t>
            </a:r>
          </a:p>
          <a:p>
            <a:pPr>
              <a:spcAft>
                <a:spcPts val="1300"/>
              </a:spcAft>
            </a:pPr>
            <a:r>
              <a:rPr sz="1700" b="1">
                <a:solidFill>
                  <a:srgbClr val="14171C"/>
                </a:solidFill>
                <a:latin typeface="Segoe UI"/>
              </a:rPr>
              <a:t>2  Connect to the collective.  </a:t>
            </a:r>
            <a:r>
              <a:rPr sz="1700">
                <a:solidFill>
                  <a:srgbClr val="6B7280"/>
                </a:solidFill>
                <a:latin typeface="Segoe UI"/>
              </a:rPr>
              <a:t>Differently-worded descriptions of the same experience are grouped into themes. One problem, one plausible cause, one team that could fix it.</a:t>
            </a:r>
          </a:p>
          <a:p>
            <a:pPr>
              <a:spcAft>
                <a:spcPts val="1300"/>
              </a:spcAft>
            </a:pPr>
            <a:r>
              <a:rPr sz="1700" b="1">
                <a:solidFill>
                  <a:srgbClr val="14171C"/>
                </a:solidFill>
                <a:latin typeface="Segoe UI"/>
              </a:rPr>
              <a:t>3  Watch the shape over time.  </a:t>
            </a:r>
            <a:r>
              <a:rPr sz="1700">
                <a:solidFill>
                  <a:srgbClr val="6B7280"/>
                </a:solidFill>
                <a:latin typeface="Segoe UI"/>
              </a:rPr>
              <a:t>Weekly counts with an emerging score, so a theme that is small but accelerating is flagged while it is still small.</a:t>
            </a:r>
          </a:p>
          <a:p>
            <a:pPr>
              <a:spcAft>
                <a:spcPts val="1300"/>
              </a:spcAft>
            </a:pPr>
            <a:r>
              <a:rPr sz="1700" b="1">
                <a:solidFill>
                  <a:srgbClr val="14171C"/>
                </a:solidFill>
                <a:latin typeface="Segoe UI"/>
              </a:rPr>
              <a:t>4  Answer plain-language questions.  </a:t>
            </a:r>
            <a:r>
              <a:rPr sz="1700">
                <a:solidFill>
                  <a:srgbClr val="6B7280"/>
                </a:solidFill>
                <a:latin typeface="Segoe UI"/>
              </a:rPr>
              <a:t>An agent picks what to pull from twelve read-only tools and submits a structured answer.</a:t>
            </a:r>
          </a:p>
          <a:p>
            <a:pPr>
              <a:spcAft>
                <a:spcPts val="1300"/>
              </a:spcAft>
            </a:pPr>
            <a:r>
              <a:rPr sz="1700" b="1">
                <a:solidFill>
                  <a:srgbClr val="14171C"/>
                </a:solidFill>
                <a:latin typeface="Segoe UI"/>
              </a:rPr>
              <a:t>5  Show evidence and confidence.  </a:t>
            </a:r>
            <a:r>
              <a:rPr sz="1700">
                <a:solidFill>
                  <a:srgbClr val="6B7280"/>
                </a:solidFill>
                <a:latin typeface="Segoe UI"/>
              </a:rPr>
              <a:t>Every claim traces to real calls. The server recounts it before it reaches the screen.</a:t>
            </a:r>
          </a:p>
        </p:txBody>
      </p:sp>
      <p:sp>
        <p:nvSpPr>
          <p:cNvPr id="5" name="TextBox 4"/>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The briefing asked to prioritise the question-answering demo. It is the centre of the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DATA</a:t>
            </a:r>
          </a:p>
          <a:p>
            <a:pPr algn="l">
              <a:spcBef>
                <a:spcPts val="0"/>
              </a:spcBef>
              <a:spcAft>
                <a:spcPts val="0"/>
              </a:spcAft>
            </a:pPr>
            <a:r>
              <a:rPr sz="3300" b="1" i="0">
                <a:solidFill>
                  <a:srgbClr val="14171C"/>
                </a:solidFill>
                <a:latin typeface="Segoe UI"/>
              </a:rPr>
              <a:t>Two corpora, kept apart on purpose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550" b="1">
                <a:solidFill>
                  <a:srgbClr val="14171C"/>
                </a:solidFill>
                <a:latin typeface="Segoe UI"/>
              </a:rPr>
              <a:t>Written complaints, real.  </a:t>
            </a:r>
            <a:r>
              <a:rPr sz="1550">
                <a:solidFill>
                  <a:srgbClr val="6B7280"/>
                </a:solidFill>
                <a:latin typeface="Segoe UI"/>
              </a:rPr>
              <a:t>4,425 consumer complaint narratives about one large US bank, pulled live from the US regulator's public database. A constant 25.25% monthly sample on a fixed seed, so month-to-month movement is the real shape of the intake.</a:t>
            </a:r>
          </a:p>
          <a:p>
            <a:pPr>
              <a:spcAft>
                <a:spcPts val="1300"/>
              </a:spcAft>
            </a:pPr>
            <a:r>
              <a:rPr sz="1550" b="1">
                <a:solidFill>
                  <a:srgbClr val="14171C"/>
                </a:solidFill>
                <a:latin typeface="Segoe UI"/>
              </a:rPr>
              <a:t>Call transcripts, synthetic.  </a:t>
            </a:r>
            <a:r>
              <a:rPr sz="1550">
                <a:solidFill>
                  <a:srgbClr val="6B7280"/>
                </a:solidFill>
                <a:latin typeface="Segoe UI"/>
              </a:rPr>
              <a:t>1,000 agent and customer phone conversations from a published Hugging Face dataset, MIT licensed, whose own card says it is synthetically generated. Labelled SYNTHETIC wherever it appears, and switchable on or off at the top of the screen.</a:t>
            </a:r>
          </a:p>
          <a:p>
            <a:pPr>
              <a:spcAft>
                <a:spcPts val="1300"/>
              </a:spcAft>
            </a:pPr>
            <a:r>
              <a:rPr sz="1550" b="1">
                <a:solidFill>
                  <a:srgbClr val="14171C"/>
                </a:solidFill>
                <a:latin typeface="Segoe UI"/>
              </a:rPr>
              <a:t>Why both.  </a:t>
            </a:r>
            <a:r>
              <a:rPr sz="1550">
                <a:solidFill>
                  <a:srgbClr val="6B7280"/>
                </a:solidFill>
                <a:latin typeface="Segoe UI"/>
              </a:rPr>
              <a:t>A contact centre has conversations, not letters. The second corpus is what proves the transcript path: speaker turns, quotes restricted to what the customer said, and the reason given versus the reason underneath.</a:t>
            </a:r>
          </a:p>
        </p:txBody>
      </p:sp>
      <p:sp>
        <p:nvSpPr>
          <p:cNvPr id="5" name="Rectangle 4"/>
          <p:cNvSpPr/>
          <p:nvPr/>
        </p:nvSpPr>
        <p:spPr>
          <a:xfrm>
            <a:off x="777240" y="4892040"/>
            <a:ext cx="1907987" cy="10972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4,425</a:t>
            </a:r>
          </a:p>
          <a:p>
            <a:pPr algn="ctr">
              <a:spcBef>
                <a:spcPts val="0"/>
              </a:spcBef>
              <a:spcAft>
                <a:spcPts val="0"/>
              </a:spcAft>
            </a:pPr>
            <a:r>
              <a:rPr sz="1150" b="0" i="0">
                <a:solidFill>
                  <a:srgbClr val="6B7280"/>
                </a:solidFill>
                <a:latin typeface="Segoe UI"/>
              </a:rPr>
              <a:t>real complaints</a:t>
            </a:r>
          </a:p>
        </p:txBody>
      </p:sp>
      <p:sp>
        <p:nvSpPr>
          <p:cNvPr id="6" name="Rectangle 5"/>
          <p:cNvSpPr/>
          <p:nvPr/>
        </p:nvSpPr>
        <p:spPr>
          <a:xfrm>
            <a:off x="2959547" y="4892040"/>
            <a:ext cx="1907987" cy="10972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1,000</a:t>
            </a:r>
          </a:p>
          <a:p>
            <a:pPr algn="ctr">
              <a:spcBef>
                <a:spcPts val="0"/>
              </a:spcBef>
              <a:spcAft>
                <a:spcPts val="0"/>
              </a:spcAft>
            </a:pPr>
            <a:r>
              <a:rPr sz="1150" b="0" i="0">
                <a:solidFill>
                  <a:srgbClr val="6B7280"/>
                </a:solidFill>
                <a:latin typeface="Segoe UI"/>
              </a:rPr>
              <a:t>synthetic conversations</a:t>
            </a:r>
          </a:p>
        </p:txBody>
      </p:sp>
      <p:sp>
        <p:nvSpPr>
          <p:cNvPr id="7" name="Rectangle 6"/>
          <p:cNvSpPr/>
          <p:nvPr/>
        </p:nvSpPr>
        <p:spPr>
          <a:xfrm>
            <a:off x="5141854" y="4892040"/>
            <a:ext cx="1907987" cy="10972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a:t>
            </a:r>
          </a:p>
          <a:p>
            <a:pPr algn="ctr">
              <a:spcBef>
                <a:spcPts val="0"/>
              </a:spcBef>
              <a:spcAft>
                <a:spcPts val="0"/>
              </a:spcAft>
            </a:pPr>
            <a:r>
              <a:rPr sz="1150" b="0" i="0">
                <a:solidFill>
                  <a:srgbClr val="6B7280"/>
                </a:solidFill>
                <a:latin typeface="Segoe UI"/>
              </a:rPr>
              <a:t>bank</a:t>
            </a:r>
          </a:p>
        </p:txBody>
      </p:sp>
      <p:sp>
        <p:nvSpPr>
          <p:cNvPr id="8" name="Rectangle 7"/>
          <p:cNvSpPr/>
          <p:nvPr/>
        </p:nvSpPr>
        <p:spPr>
          <a:xfrm>
            <a:off x="7324161" y="4892040"/>
            <a:ext cx="1907987" cy="10972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25.25%</a:t>
            </a:r>
          </a:p>
          <a:p>
            <a:pPr algn="ctr">
              <a:spcBef>
                <a:spcPts val="0"/>
              </a:spcBef>
              <a:spcAft>
                <a:spcPts val="0"/>
              </a:spcAft>
            </a:pPr>
            <a:r>
              <a:rPr sz="1150" b="0" i="0">
                <a:solidFill>
                  <a:srgbClr val="6B7280"/>
                </a:solidFill>
                <a:latin typeface="Segoe UI"/>
              </a:rPr>
              <a:t>constant sample</a:t>
            </a:r>
          </a:p>
        </p:txBody>
      </p:sp>
      <p:sp>
        <p:nvSpPr>
          <p:cNvPr id="9" name="Rectangle 8"/>
          <p:cNvSpPr/>
          <p:nvPr/>
        </p:nvSpPr>
        <p:spPr>
          <a:xfrm>
            <a:off x="9506468" y="4892040"/>
            <a:ext cx="1907987" cy="10972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a:t>
            </a:r>
          </a:p>
          <a:p>
            <a:pPr algn="ctr">
              <a:spcBef>
                <a:spcPts val="0"/>
              </a:spcBef>
              <a:spcAft>
                <a:spcPts val="0"/>
              </a:spcAft>
            </a:pPr>
            <a:r>
              <a:rPr sz="1150" b="0" i="0">
                <a:solidFill>
                  <a:srgbClr val="6B7280"/>
                </a:solidFill>
                <a:latin typeface="Segoe UI"/>
              </a:rPr>
              <a:t>records we fabricated</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Honest caveat, stated in the product: complaint dates are when the regulator received them, and the conversation corpus covers a single month, so it carries no trend baseline.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1 · READ EVERY CALL</a:t>
            </a:r>
          </a:p>
          <a:p>
            <a:pPr algn="l">
              <a:spcBef>
                <a:spcPts val="0"/>
              </a:spcBef>
              <a:spcAft>
                <a:spcPts val="0"/>
              </a:spcAft>
            </a:pPr>
            <a:r>
              <a:rPr sz="3300" b="1" i="0">
                <a:solidFill>
                  <a:srgbClr val="14171C"/>
                </a:solidFill>
                <a:latin typeface="Segoe UI"/>
              </a:rPr>
              <a:t>A consistent structure, not a summary</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What comes back per contact.  </a:t>
            </a:r>
            <a:r>
              <a:rPr sz="1700">
                <a:solidFill>
                  <a:srgbClr val="6B7280"/>
                </a:solidFill>
                <a:latin typeface="Segoe UI"/>
              </a:rPr>
              <a:t>Contact reasons from a small taxonomy plus the reason in the customer's own words, products, topics each with a sentiment from -2 to +2, the specific driver of that feeling, verbatim evidence quotes with character offsets, and what the customer asked for.</a:t>
            </a:r>
          </a:p>
          <a:p>
            <a:pPr>
              <a:spcAft>
                <a:spcPts val="1300"/>
              </a:spcAft>
            </a:pPr>
            <a:r>
              <a:rPr sz="1700" b="1">
                <a:solidFill>
                  <a:srgbClr val="14171C"/>
                </a:solidFill>
                <a:latin typeface="Segoe UI"/>
              </a:rPr>
              <a:t>The form's own labels are deliberately withheld.  </a:t>
            </a:r>
            <a:r>
              <a:rPr sz="1700">
                <a:solidFill>
                  <a:srgbClr val="6B7280"/>
                </a:solidFill>
                <a:latin typeface="Segoe UI"/>
              </a:rPr>
              <a:t>The regulator's product and issue fields never reach the extractor. Feeding them in would bias the reading toward the dropdown, which is the exact failure we are trying to solve, and would destroy our only free quality measure.</a:t>
            </a:r>
          </a:p>
        </p:txBody>
      </p:sp>
      <p:sp>
        <p:nvSpPr>
          <p:cNvPr id="5" name="Rectangle 4"/>
          <p:cNvSpPr/>
          <p:nvPr/>
        </p:nvSpPr>
        <p:spPr>
          <a:xfrm>
            <a:off x="777240"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99.5%</a:t>
            </a:r>
          </a:p>
          <a:p>
            <a:pPr algn="ctr">
              <a:spcBef>
                <a:spcPts val="0"/>
              </a:spcBef>
              <a:spcAft>
                <a:spcPts val="0"/>
              </a:spcAft>
            </a:pPr>
            <a:r>
              <a:rPr sz="1150" b="0" i="0">
                <a:solidFill>
                  <a:srgbClr val="6B7280"/>
                </a:solidFill>
                <a:latin typeface="Segoe UI"/>
              </a:rPr>
              <a:t>quotes verify as exact
substrings of the source</a:t>
            </a:r>
          </a:p>
        </p:txBody>
      </p:sp>
      <p:sp>
        <p:nvSpPr>
          <p:cNvPr id="6" name="Rectangle 5"/>
          <p:cNvSpPr/>
          <p:nvPr/>
        </p:nvSpPr>
        <p:spPr>
          <a:xfrm>
            <a:off x="2959547"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a:t>
            </a:r>
          </a:p>
          <a:p>
            <a:pPr algn="ctr">
              <a:spcBef>
                <a:spcPts val="0"/>
              </a:spcBef>
              <a:spcAft>
                <a:spcPts val="0"/>
              </a:spcAft>
            </a:pPr>
            <a:r>
              <a:rPr sz="1150" b="0" i="0">
                <a:solidFill>
                  <a:srgbClr val="6B7280"/>
                </a:solidFill>
                <a:latin typeface="Segoe UI"/>
              </a:rPr>
              <a:t>validation errors
in 4,425 readings</a:t>
            </a:r>
          </a:p>
        </p:txBody>
      </p:sp>
      <p:sp>
        <p:nvSpPr>
          <p:cNvPr id="7" name="Rectangle 6"/>
          <p:cNvSpPr/>
          <p:nvPr/>
        </p:nvSpPr>
        <p:spPr>
          <a:xfrm>
            <a:off x="5141854"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1.37</a:t>
            </a:r>
          </a:p>
          <a:p>
            <a:pPr algn="ctr">
              <a:spcBef>
                <a:spcPts val="0"/>
              </a:spcBef>
              <a:spcAft>
                <a:spcPts val="0"/>
              </a:spcAft>
            </a:pPr>
            <a:r>
              <a:rPr sz="1150" b="0" i="0">
                <a:solidFill>
                  <a:srgbClr val="6B7280"/>
                </a:solidFill>
                <a:latin typeface="Segoe UI"/>
              </a:rPr>
              <a:t>topics per contact</a:t>
            </a:r>
          </a:p>
        </p:txBody>
      </p:sp>
      <p:sp>
        <p:nvSpPr>
          <p:cNvPr id="8" name="Rectangle 7"/>
          <p:cNvSpPr/>
          <p:nvPr/>
        </p:nvSpPr>
        <p:spPr>
          <a:xfrm>
            <a:off x="7324161"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1.4%</a:t>
            </a:r>
          </a:p>
          <a:p>
            <a:pPr algn="ctr">
              <a:spcBef>
                <a:spcPts val="0"/>
              </a:spcBef>
              <a:spcAft>
                <a:spcPts val="0"/>
              </a:spcAft>
            </a:pPr>
            <a:r>
              <a:rPr sz="1150" b="0" i="0">
                <a:solidFill>
                  <a:srgbClr val="6B7280"/>
                </a:solidFill>
                <a:latin typeface="Segoe UI"/>
              </a:rPr>
              <a:t>abstained rather
than guessed</a:t>
            </a:r>
          </a:p>
        </p:txBody>
      </p:sp>
      <p:sp>
        <p:nvSpPr>
          <p:cNvPr id="9" name="Rectangle 8"/>
          <p:cNvSpPr/>
          <p:nvPr/>
        </p:nvSpPr>
        <p:spPr>
          <a:xfrm>
            <a:off x="9506468"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85.2%</a:t>
            </a:r>
          </a:p>
          <a:p>
            <a:pPr algn="ctr">
              <a:spcBef>
                <a:spcPts val="0"/>
              </a:spcBef>
              <a:spcAft>
                <a:spcPts val="0"/>
              </a:spcAft>
            </a:pPr>
            <a:r>
              <a:rPr sz="1150" b="0" i="0">
                <a:solidFill>
                  <a:srgbClr val="6B7280"/>
                </a:solidFill>
                <a:latin typeface="Segoe UI"/>
              </a:rPr>
              <a:t>negative, as a complaint
corpus should be</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A quote that is not an exact substring never reaches the interface, a tool result, or the agent.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2 · CONNECT TO THE COLLECTIVE</a:t>
            </a:r>
          </a:p>
          <a:p>
            <a:pPr algn="l">
              <a:spcBef>
                <a:spcPts val="0"/>
              </a:spcBef>
              <a:spcAft>
                <a:spcPts val="0"/>
              </a:spcAft>
            </a:pPr>
            <a:r>
              <a:rPr sz="3300" b="1" i="0">
                <a:solidFill>
                  <a:srgbClr val="14171C"/>
                </a:solidFill>
                <a:latin typeface="Segoe UI"/>
              </a:rPr>
              <a:t>Many complaints become one problem</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Four passes.  </a:t>
            </a:r>
            <a:r>
              <a:rPr sz="1700">
                <a:solidFill>
                  <a:srgbClr val="6B7280"/>
                </a:solidFill>
                <a:latin typeface="Segoe UI"/>
              </a:rPr>
              <a:t>Seed a registry inside each driver category, consolidate near-duplicates through an audit trail that never deletes membership, rewrite every name so it alone tells a product owner what the problem is, then re-assign every statement against the frozen registry.</a:t>
            </a:r>
          </a:p>
          <a:p>
            <a:pPr>
              <a:spcAft>
                <a:spcPts val="1300"/>
              </a:spcAft>
            </a:pPr>
            <a:r>
              <a:rPr sz="1700" b="1">
                <a:solidFill>
                  <a:srgbClr val="14171C"/>
                </a:solidFill>
                <a:latin typeface="Segoe UI"/>
              </a:rPr>
              <a:t>Measured, not asserted.  </a:t>
            </a:r>
            <a:r>
              <a:rPr sz="1700">
                <a:solidFill>
                  <a:srgbClr val="6B7280"/>
                </a:solidFill>
                <a:latin typeface="Segoe UI"/>
              </a:rPr>
              <a:t>Re-judging a 10% sample independently agreed with the original assignment 88.1% of the time. 1742 statements fit nothing and were left unplaced rather than forced; they count in every total but are never ranked or flagged.</a:t>
            </a:r>
          </a:p>
        </p:txBody>
      </p:sp>
      <p:sp>
        <p:nvSpPr>
          <p:cNvPr id="5" name="Rectangle 4"/>
          <p:cNvSpPr/>
          <p:nvPr/>
        </p:nvSpPr>
        <p:spPr>
          <a:xfrm>
            <a:off x="777240"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7,417</a:t>
            </a:r>
          </a:p>
          <a:p>
            <a:pPr algn="ctr">
              <a:spcBef>
                <a:spcPts val="0"/>
              </a:spcBef>
              <a:spcAft>
                <a:spcPts val="0"/>
              </a:spcAft>
            </a:pPr>
            <a:r>
              <a:rPr sz="1150" b="0" i="0">
                <a:solidFill>
                  <a:srgbClr val="6B7280"/>
                </a:solidFill>
                <a:latin typeface="Segoe UI"/>
              </a:rPr>
              <a:t>issue statements</a:t>
            </a:r>
          </a:p>
        </p:txBody>
      </p:sp>
      <p:sp>
        <p:nvSpPr>
          <p:cNvPr id="6" name="Rectangle 5"/>
          <p:cNvSpPr/>
          <p:nvPr/>
        </p:nvSpPr>
        <p:spPr>
          <a:xfrm>
            <a:off x="2959547"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a:t>
            </a:r>
          </a:p>
          <a:p>
            <a:pPr algn="ctr">
              <a:spcBef>
                <a:spcPts val="0"/>
              </a:spcBef>
              <a:spcAft>
                <a:spcPts val="0"/>
              </a:spcAft>
            </a:pPr>
            <a:r>
              <a:rPr sz="1150" b="0" i="0">
                <a:solidFill>
                  <a:srgbClr val="6B7280"/>
                </a:solidFill>
                <a:latin typeface="Segoe UI"/>
              </a:rPr>
              <a:t>grouping passes</a:t>
            </a:r>
          </a:p>
        </p:txBody>
      </p:sp>
      <p:sp>
        <p:nvSpPr>
          <p:cNvPr id="7" name="Rectangle 6"/>
          <p:cNvSpPr/>
          <p:nvPr/>
        </p:nvSpPr>
        <p:spPr>
          <a:xfrm>
            <a:off x="5141854"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227</a:t>
            </a:r>
          </a:p>
          <a:p>
            <a:pPr algn="ctr">
              <a:spcBef>
                <a:spcPts val="0"/>
              </a:spcBef>
              <a:spcAft>
                <a:spcPts val="0"/>
              </a:spcAft>
            </a:pPr>
            <a:r>
              <a:rPr sz="1150" b="0" i="0">
                <a:solidFill>
                  <a:srgbClr val="6B7280"/>
                </a:solidFill>
                <a:latin typeface="Segoe UI"/>
              </a:rPr>
              <a:t>themes</a:t>
            </a:r>
          </a:p>
        </p:txBody>
      </p:sp>
      <p:sp>
        <p:nvSpPr>
          <p:cNvPr id="8" name="Rectangle 7"/>
          <p:cNvSpPr/>
          <p:nvPr/>
        </p:nvSpPr>
        <p:spPr>
          <a:xfrm>
            <a:off x="7324161"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1,875</a:t>
            </a:r>
          </a:p>
          <a:p>
            <a:pPr algn="ctr">
              <a:spcBef>
                <a:spcPts val="0"/>
              </a:spcBef>
              <a:spcAft>
                <a:spcPts val="0"/>
              </a:spcAft>
            </a:pPr>
            <a:r>
              <a:rPr sz="1150" b="0" i="0">
                <a:solidFill>
                  <a:srgbClr val="6B7280"/>
                </a:solidFill>
                <a:latin typeface="Segoe UI"/>
              </a:rPr>
              <a:t>distinct wordings</a:t>
            </a:r>
          </a:p>
        </p:txBody>
      </p:sp>
      <p:sp>
        <p:nvSpPr>
          <p:cNvPr id="9" name="Rectangle 8"/>
          <p:cNvSpPr/>
          <p:nvPr/>
        </p:nvSpPr>
        <p:spPr>
          <a:xfrm>
            <a:off x="9506468"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0.881</a:t>
            </a:r>
          </a:p>
          <a:p>
            <a:pPr algn="ctr">
              <a:spcBef>
                <a:spcPts val="0"/>
              </a:spcBef>
              <a:spcAft>
                <a:spcPts val="0"/>
              </a:spcAft>
            </a:pPr>
            <a:r>
              <a:rPr sz="1150" b="0" i="0">
                <a:solidFill>
                  <a:srgbClr val="6B7280"/>
                </a:solidFill>
                <a:latin typeface="Segoe UI"/>
              </a:rPr>
              <a:t>re-judgement agreement</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A theme is one problem, with one plausible cause, that one team could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PAYOFF</a:t>
            </a:r>
          </a:p>
          <a:p>
            <a:pPr algn="l">
              <a:spcBef>
                <a:spcPts val="0"/>
              </a:spcBef>
              <a:spcAft>
                <a:spcPts val="0"/>
              </a:spcAft>
            </a:pPr>
            <a:r>
              <a:rPr sz="3300" b="1" i="0">
                <a:solidFill>
                  <a:srgbClr val="14171C"/>
                </a:solidFill>
                <a:latin typeface="Segoe UI"/>
              </a:rPr>
              <a:t>The same problem, in 381 different wordings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1993392"/>
            <a:ext cx="10637215" cy="731520"/>
          </a:xfrm>
          <a:prstGeom prst="rect">
            <a:avLst/>
          </a:prstGeom>
          <a:noFill/>
        </p:spPr>
        <p:txBody>
          <a:bodyPr wrap="square" lIns="0" rIns="0" tIns="0" bIns="0">
            <a:spAutoFit/>
          </a:bodyPr>
          <a:lstStyle/>
          <a:p>
            <a:pPr algn="l">
              <a:spcBef>
                <a:spcPts val="0"/>
              </a:spcBef>
              <a:spcAft>
                <a:spcPts val="500"/>
              </a:spcAft>
            </a:pPr>
            <a:r>
              <a:rPr sz="2300" b="1" i="0">
                <a:solidFill>
                  <a:srgbClr val="14171C"/>
                </a:solidFill>
                <a:latin typeface="Segoe UI"/>
              </a:rPr>
              <a:t>Fraud and dispute claims denied despite evidence</a:t>
            </a:r>
          </a:p>
          <a:p>
            <a:pPr algn="l">
              <a:spcBef>
                <a:spcPts val="0"/>
              </a:spcBef>
              <a:spcAft>
                <a:spcPts val="0"/>
              </a:spcAft>
            </a:pPr>
            <a:r>
              <a:rPr sz="1400" b="0" i="0">
                <a:solidFill>
                  <a:srgbClr val="6B7280"/>
                </a:solidFill>
                <a:latin typeface="Segoe UI"/>
              </a:rPr>
              <a:t>379 contacts  ·  381 distinct wordings  ·  6 products  ·  41 states  ·  7.0% of everything that came in</a:t>
            </a:r>
          </a:p>
        </p:txBody>
      </p:sp>
      <p:sp>
        <p:nvSpPr>
          <p:cNvPr id="5" name="Rectangle 4"/>
          <p:cNvSpPr/>
          <p:nvPr/>
        </p:nvSpPr>
        <p:spPr>
          <a:xfrm>
            <a:off x="777240" y="2944368"/>
            <a:ext cx="10637215" cy="713232"/>
          </a:xfrm>
          <a:prstGeom prst="rect">
            <a:avLst/>
          </a:prstGeom>
          <a:solidFill>
            <a:srgbClr val="FFFFFD"/>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28600"/>
          <a:lstStyle/>
          <a:p>
            <a:pPr algn="l">
              <a:spcBef>
                <a:spcPts val="0"/>
              </a:spcBef>
              <a:spcAft>
                <a:spcPts val="0"/>
              </a:spcAft>
            </a:pPr>
            <a:r>
              <a:rPr sz="1350" b="0" i="1">
                <a:solidFill>
                  <a:srgbClr val="14171C"/>
                </a:solidFill>
                <a:latin typeface="Segoe UI"/>
              </a:rPr>
              <a:t>“The bank requires initiating a dispute process and cannot immediately refund unauthorized pre-authorized debits without proof of fraudulent transactions.”</a:t>
            </a:r>
          </a:p>
        </p:txBody>
      </p:sp>
      <p:sp>
        <p:nvSpPr>
          <p:cNvPr id="6" name="Rectangle 5"/>
          <p:cNvSpPr/>
          <p:nvPr/>
        </p:nvSpPr>
        <p:spPr>
          <a:xfrm>
            <a:off x="777240" y="2944368"/>
            <a:ext cx="50292" cy="713232"/>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3767328"/>
            <a:ext cx="10637215" cy="713232"/>
          </a:xfrm>
          <a:prstGeom prst="rect">
            <a:avLst/>
          </a:prstGeom>
          <a:solidFill>
            <a:srgbClr val="FFFFFD"/>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28600"/>
          <a:lstStyle/>
          <a:p>
            <a:pPr algn="l">
              <a:spcBef>
                <a:spcPts val="0"/>
              </a:spcBef>
              <a:spcAft>
                <a:spcPts val="0"/>
              </a:spcAft>
            </a:pPr>
            <a:r>
              <a:rPr sz="1350" b="0" i="1">
                <a:solidFill>
                  <a:srgbClr val="14171C"/>
                </a:solidFill>
                <a:latin typeface="Segoe UI"/>
              </a:rPr>
              <a:t>“Chase closed my claim for the misdirected funds because it wasn't reported within 5 days, even though Chase itself had been insisting the payment went to the right place during that window.”</a:t>
            </a:r>
          </a:p>
        </p:txBody>
      </p:sp>
      <p:sp>
        <p:nvSpPr>
          <p:cNvPr id="8" name="Rectangle 7"/>
          <p:cNvSpPr/>
          <p:nvPr/>
        </p:nvSpPr>
        <p:spPr>
          <a:xfrm>
            <a:off x="777240" y="3767328"/>
            <a:ext cx="50292" cy="713232"/>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590288"/>
            <a:ext cx="10637215" cy="713232"/>
          </a:xfrm>
          <a:prstGeom prst="rect">
            <a:avLst/>
          </a:prstGeom>
          <a:solidFill>
            <a:srgbClr val="FFFFFD"/>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28600"/>
          <a:lstStyle/>
          <a:p>
            <a:pPr algn="l">
              <a:spcBef>
                <a:spcPts val="0"/>
              </a:spcBef>
              <a:spcAft>
                <a:spcPts val="0"/>
              </a:spcAft>
            </a:pPr>
            <a:r>
              <a:rPr sz="1350" b="0" i="1">
                <a:solidFill>
                  <a:srgbClr val="14171C"/>
                </a:solidFill>
                <a:latin typeface="Segoe UI"/>
              </a:rPr>
              <a:t>“The customer disputed the fabricated charges with the card issuer, but the outcome so far shows no credit given.”</a:t>
            </a:r>
          </a:p>
        </p:txBody>
      </p:sp>
      <p:sp>
        <p:nvSpPr>
          <p:cNvPr id="10" name="Rectangle 9"/>
          <p:cNvSpPr/>
          <p:nvPr/>
        </p:nvSpPr>
        <p:spPr>
          <a:xfrm>
            <a:off x="777240" y="4590288"/>
            <a:ext cx="50292" cy="713232"/>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32120"/>
            <a:ext cx="10637215" cy="640080"/>
          </a:xfrm>
          <a:prstGeom prst="rect">
            <a:avLst/>
          </a:prstGeom>
          <a:noFill/>
        </p:spPr>
        <p:txBody>
          <a:bodyPr wrap="square" lIns="0" rIns="0" tIns="0" bIns="0">
            <a:spAutoFit/>
          </a:bodyPr>
          <a:lstStyle/>
          <a:p>
            <a:pPr algn="l">
              <a:spcBef>
                <a:spcPts val="0"/>
              </a:spcBef>
              <a:spcAft>
                <a:spcPts val="0"/>
              </a:spcAft>
            </a:pPr>
            <a:r>
              <a:rPr sz="1500" b="1" i="0">
                <a:solidFill>
                  <a:srgbClr val="C2411F"/>
                </a:solidFill>
                <a:latin typeface="Segoe UI"/>
              </a:rPr>
              <a:t>Three real contacts. One cause. No shared phrase, so no keyword rule, tag list or canned disposition ever finds them together.</a:t>
            </a:r>
          </a:p>
        </p:txBody>
      </p:sp>
      <p:sp>
        <p:nvSpPr>
          <p:cNvPr id="12" name="TextBox 11"/>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The ratio holds down the whole top ten: 381 wordings over 379 contacts at the top, 109 over 108 at the tenth.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WHAT THE READING FOUND</a:t>
            </a:r>
          </a:p>
          <a:p>
            <a:pPr algn="l">
              <a:spcBef>
                <a:spcPts val="0"/>
              </a:spcBef>
              <a:spcAft>
                <a:spcPts val="0"/>
              </a:spcAft>
            </a:pPr>
            <a:r>
              <a:rPr sz="3300" b="1" i="0">
                <a:solidFill>
                  <a:srgbClr val="14171C"/>
                </a:solidFill>
                <a:latin typeface="Segoe UI"/>
              </a:rPr>
              <a:t>Causes a team could act on, not tags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4884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212848"/>
            <a:ext cx="64008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Theme</a:t>
            </a:r>
          </a:p>
        </p:txBody>
      </p:sp>
      <p:sp>
        <p:nvSpPr>
          <p:cNvPr id="6" name="TextBox 5"/>
          <p:cNvSpPr txBox="1"/>
          <p:nvPr/>
        </p:nvSpPr>
        <p:spPr>
          <a:xfrm>
            <a:off x="7488936" y="2212848"/>
            <a:ext cx="11887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Contacts</a:t>
            </a:r>
          </a:p>
        </p:txBody>
      </p:sp>
      <p:sp>
        <p:nvSpPr>
          <p:cNvPr id="7" name="TextBox 6"/>
          <p:cNvSpPr txBox="1"/>
          <p:nvPr/>
        </p:nvSpPr>
        <p:spPr>
          <a:xfrm>
            <a:off x="8860536" y="2212848"/>
            <a:ext cx="11887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Wordings</a:t>
            </a:r>
          </a:p>
        </p:txBody>
      </p:sp>
      <p:sp>
        <p:nvSpPr>
          <p:cNvPr id="8" name="TextBox 7"/>
          <p:cNvSpPr txBox="1"/>
          <p:nvPr/>
        </p:nvSpPr>
        <p:spPr>
          <a:xfrm>
            <a:off x="10232136" y="2212848"/>
            <a:ext cx="10972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Products</a:t>
            </a:r>
          </a:p>
        </p:txBody>
      </p:sp>
      <p:sp>
        <p:nvSpPr>
          <p:cNvPr id="9" name="Rectangle 8"/>
          <p:cNvSpPr/>
          <p:nvPr/>
        </p:nvSpPr>
        <p:spPr>
          <a:xfrm>
            <a:off x="777240" y="2496312"/>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569464"/>
            <a:ext cx="640080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Fraud and dispute claims denied despite evidence</a:t>
            </a:r>
          </a:p>
        </p:txBody>
      </p:sp>
      <p:sp>
        <p:nvSpPr>
          <p:cNvPr id="11" name="TextBox 10"/>
          <p:cNvSpPr txBox="1"/>
          <p:nvPr/>
        </p:nvSpPr>
        <p:spPr>
          <a:xfrm>
            <a:off x="7488936" y="2569464"/>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379</a:t>
            </a:r>
          </a:p>
        </p:txBody>
      </p:sp>
      <p:sp>
        <p:nvSpPr>
          <p:cNvPr id="12" name="TextBox 11"/>
          <p:cNvSpPr txBox="1"/>
          <p:nvPr/>
        </p:nvSpPr>
        <p:spPr>
          <a:xfrm>
            <a:off x="8860536" y="2569464"/>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381</a:t>
            </a:r>
          </a:p>
        </p:txBody>
      </p:sp>
      <p:sp>
        <p:nvSpPr>
          <p:cNvPr id="13" name="TextBox 12"/>
          <p:cNvSpPr txBox="1"/>
          <p:nvPr/>
        </p:nvSpPr>
        <p:spPr>
          <a:xfrm>
            <a:off x="10232136" y="2569464"/>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6</a:t>
            </a:r>
          </a:p>
        </p:txBody>
      </p:sp>
      <p:cxnSp>
        <p:nvCxnSpPr>
          <p:cNvPr id="14" name="Connector 13"/>
          <p:cNvCxnSpPr/>
          <p:nvPr/>
        </p:nvCxnSpPr>
        <p:spPr>
          <a:xfrm>
            <a:off x="777240" y="284378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05256" y="2916936"/>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Unexplained account closures or restrictions</a:t>
            </a:r>
          </a:p>
        </p:txBody>
      </p:sp>
      <p:sp>
        <p:nvSpPr>
          <p:cNvPr id="16" name="TextBox 15"/>
          <p:cNvSpPr txBox="1"/>
          <p:nvPr/>
        </p:nvSpPr>
        <p:spPr>
          <a:xfrm>
            <a:off x="7488936" y="2916936"/>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353</a:t>
            </a:r>
          </a:p>
        </p:txBody>
      </p:sp>
      <p:sp>
        <p:nvSpPr>
          <p:cNvPr id="17" name="TextBox 16"/>
          <p:cNvSpPr txBox="1"/>
          <p:nvPr/>
        </p:nvSpPr>
        <p:spPr>
          <a:xfrm>
            <a:off x="8860536" y="2916936"/>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364</a:t>
            </a:r>
          </a:p>
        </p:txBody>
      </p:sp>
      <p:sp>
        <p:nvSpPr>
          <p:cNvPr id="18" name="TextBox 17"/>
          <p:cNvSpPr txBox="1"/>
          <p:nvPr/>
        </p:nvSpPr>
        <p:spPr>
          <a:xfrm>
            <a:off x="10232136" y="2916936"/>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5</a:t>
            </a:r>
          </a:p>
        </p:txBody>
      </p:sp>
      <p:cxnSp>
        <p:nvCxnSpPr>
          <p:cNvPr id="19" name="Connector 18"/>
          <p:cNvCxnSpPr/>
          <p:nvPr/>
        </p:nvCxnSpPr>
        <p:spPr>
          <a:xfrm>
            <a:off x="777240" y="319125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5256" y="3264408"/>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Contradictory information from bank representatives</a:t>
            </a:r>
          </a:p>
        </p:txBody>
      </p:sp>
      <p:sp>
        <p:nvSpPr>
          <p:cNvPr id="21" name="TextBox 20"/>
          <p:cNvSpPr txBox="1"/>
          <p:nvPr/>
        </p:nvSpPr>
        <p:spPr>
          <a:xfrm>
            <a:off x="7488936" y="3264408"/>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281</a:t>
            </a:r>
          </a:p>
        </p:txBody>
      </p:sp>
      <p:sp>
        <p:nvSpPr>
          <p:cNvPr id="22" name="TextBox 21"/>
          <p:cNvSpPr txBox="1"/>
          <p:nvPr/>
        </p:nvSpPr>
        <p:spPr>
          <a:xfrm>
            <a:off x="8860536" y="3264408"/>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282</a:t>
            </a:r>
          </a:p>
        </p:txBody>
      </p:sp>
      <p:sp>
        <p:nvSpPr>
          <p:cNvPr id="23" name="TextBox 22"/>
          <p:cNvSpPr txBox="1"/>
          <p:nvPr/>
        </p:nvSpPr>
        <p:spPr>
          <a:xfrm>
            <a:off x="10232136" y="3264408"/>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7</a:t>
            </a:r>
          </a:p>
        </p:txBody>
      </p:sp>
      <p:cxnSp>
        <p:nvCxnSpPr>
          <p:cNvPr id="24" name="Connector 23"/>
          <p:cNvCxnSpPr/>
          <p:nvPr/>
        </p:nvCxnSpPr>
        <p:spPr>
          <a:xfrm>
            <a:off x="777240" y="353872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05256" y="3611880"/>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Unexplained decisions on auto charge-offs and fees</a:t>
            </a:r>
          </a:p>
        </p:txBody>
      </p:sp>
      <p:sp>
        <p:nvSpPr>
          <p:cNvPr id="26" name="TextBox 25"/>
          <p:cNvSpPr txBox="1"/>
          <p:nvPr/>
        </p:nvSpPr>
        <p:spPr>
          <a:xfrm>
            <a:off x="7488936" y="3611880"/>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201</a:t>
            </a:r>
          </a:p>
        </p:txBody>
      </p:sp>
      <p:sp>
        <p:nvSpPr>
          <p:cNvPr id="27" name="TextBox 26"/>
          <p:cNvSpPr txBox="1"/>
          <p:nvPr/>
        </p:nvSpPr>
        <p:spPr>
          <a:xfrm>
            <a:off x="8860536" y="3611880"/>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201</a:t>
            </a:r>
          </a:p>
        </p:txBody>
      </p:sp>
      <p:sp>
        <p:nvSpPr>
          <p:cNvPr id="28" name="TextBox 27"/>
          <p:cNvSpPr txBox="1"/>
          <p:nvPr/>
        </p:nvSpPr>
        <p:spPr>
          <a:xfrm>
            <a:off x="10232136" y="3611880"/>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8</a:t>
            </a:r>
          </a:p>
        </p:txBody>
      </p:sp>
      <p:cxnSp>
        <p:nvCxnSpPr>
          <p:cNvPr id="29" name="Connector 28"/>
          <p:cNvCxnSpPr/>
          <p:nvPr/>
        </p:nvCxnSpPr>
        <p:spPr>
          <a:xfrm>
            <a:off x="777240" y="388620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5256" y="3959352"/>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Fraud monitoring failed to stop unauthorized transfers</a:t>
            </a:r>
          </a:p>
        </p:txBody>
      </p:sp>
      <p:sp>
        <p:nvSpPr>
          <p:cNvPr id="31" name="TextBox 30"/>
          <p:cNvSpPr txBox="1"/>
          <p:nvPr/>
        </p:nvSpPr>
        <p:spPr>
          <a:xfrm>
            <a:off x="7488936" y="3959352"/>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189</a:t>
            </a:r>
          </a:p>
        </p:txBody>
      </p:sp>
      <p:sp>
        <p:nvSpPr>
          <p:cNvPr id="32" name="TextBox 31"/>
          <p:cNvSpPr txBox="1"/>
          <p:nvPr/>
        </p:nvSpPr>
        <p:spPr>
          <a:xfrm>
            <a:off x="8860536" y="3959352"/>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189</a:t>
            </a:r>
          </a:p>
        </p:txBody>
      </p:sp>
      <p:sp>
        <p:nvSpPr>
          <p:cNvPr id="33" name="TextBox 32"/>
          <p:cNvSpPr txBox="1"/>
          <p:nvPr/>
        </p:nvSpPr>
        <p:spPr>
          <a:xfrm>
            <a:off x="10232136" y="3959352"/>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6</a:t>
            </a:r>
          </a:p>
        </p:txBody>
      </p:sp>
      <p:cxnSp>
        <p:nvCxnSpPr>
          <p:cNvPr id="34" name="Connector 33"/>
          <p:cNvCxnSpPr/>
          <p:nvPr/>
        </p:nvCxnSpPr>
        <p:spPr>
          <a:xfrm>
            <a:off x="777240" y="423367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77240" y="4572000"/>
            <a:ext cx="10637215" cy="1463040"/>
          </a:xfrm>
          <a:prstGeom prst="rect">
            <a:avLst/>
          </a:prstGeom>
          <a:noFill/>
        </p:spPr>
        <p:txBody>
          <a:bodyPr wrap="square" lIns="0" rIns="0" tIns="0" bIns="0">
            <a:spAutoFit/>
          </a:bodyPr>
          <a:lstStyle/>
          <a:p>
            <a:pPr algn="l">
              <a:spcBef>
                <a:spcPts val="0"/>
              </a:spcBef>
              <a:spcAft>
                <a:spcPts val="1000"/>
              </a:spcAft>
            </a:pPr>
            <a:r>
              <a:rPr sz="1900" b="1" i="0">
                <a:solidFill>
                  <a:srgbClr val="14171C"/>
                </a:solidFill>
                <a:latin typeface="Segoe UI"/>
              </a:rPr>
              <a:t>None of these exist as an option on a complaint form.</a:t>
            </a:r>
          </a:p>
          <a:p>
            <a:pPr algn="l">
              <a:spcBef>
                <a:spcPts val="0"/>
              </a:spcBef>
              <a:spcAft>
                <a:spcPts val="0"/>
              </a:spcAft>
            </a:pPr>
            <a:r>
              <a:rPr sz="1500" b="0" i="0">
                <a:solidFill>
                  <a:srgbClr val="6B7280"/>
                </a:solidFill>
                <a:latin typeface="Segoe UI"/>
              </a:rPr>
              <a:t>They read like work items because they name a mechanism: investigators closing cases on a narrow automated check instead of pulling the evidence; a back-office risk process the front line cannot see into; a reported error with no correction loop behind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3 · WATCH THE SHAPE OVER TIME</a:t>
            </a:r>
          </a:p>
          <a:p>
            <a:pPr algn="l">
              <a:spcBef>
                <a:spcPts val="0"/>
              </a:spcBef>
              <a:spcAft>
                <a:spcPts val="0"/>
              </a:spcAft>
            </a:pPr>
            <a:r>
              <a:rPr sz="3300" b="1" i="0">
                <a:solidFill>
                  <a:srgbClr val="14171C"/>
                </a:solidFill>
                <a:latin typeface="Segoe UI"/>
              </a:rPr>
              <a:t>Hear it while it is still small</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11680"/>
            <a:ext cx="10637215" cy="731520"/>
          </a:xfrm>
          <a:prstGeom prst="rect">
            <a:avLst/>
          </a:prstGeom>
          <a:noFill/>
        </p:spPr>
        <p:txBody>
          <a:bodyPr wrap="square" lIns="0" rIns="0" tIns="0" bIns="0">
            <a:spAutoFit/>
          </a:bodyPr>
          <a:lstStyle/>
          <a:p>
            <a:pPr algn="l">
              <a:spcBef>
                <a:spcPts val="0"/>
              </a:spcBef>
              <a:spcAft>
                <a:spcPts val="0"/>
              </a:spcAft>
            </a:pPr>
            <a:r>
              <a:rPr sz="1500" b="0" i="0">
                <a:solidFill>
                  <a:srgbClr val="6B7280"/>
                </a:solidFill>
                <a:latin typeface="Segoe UI"/>
              </a:rPr>
              <a:t>Replaying one real theme week by week: “Scam claim denied because transfer was customer-initiated”</a:t>
            </a:r>
          </a:p>
        </p:txBody>
      </p:sp>
      <p:sp>
        <p:nvSpPr>
          <p:cNvPr id="5" name="Rectangle 4"/>
          <p:cNvSpPr/>
          <p:nvPr/>
        </p:nvSpPr>
        <p:spPr>
          <a:xfrm>
            <a:off x="777240" y="260604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670048"/>
            <a:ext cx="173736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As-of week</a:t>
            </a:r>
          </a:p>
        </p:txBody>
      </p:sp>
      <p:sp>
        <p:nvSpPr>
          <p:cNvPr id="7" name="TextBox 6"/>
          <p:cNvSpPr txBox="1"/>
          <p:nvPr/>
        </p:nvSpPr>
        <p:spPr>
          <a:xfrm>
            <a:off x="2825496" y="2670048"/>
            <a:ext cx="18288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Recent 4 weeks</a:t>
            </a:r>
          </a:p>
        </p:txBody>
      </p:sp>
      <p:sp>
        <p:nvSpPr>
          <p:cNvPr id="8" name="TextBox 7"/>
          <p:cNvSpPr txBox="1"/>
          <p:nvPr/>
        </p:nvSpPr>
        <p:spPr>
          <a:xfrm>
            <a:off x="4837176" y="2670048"/>
            <a:ext cx="13716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Expected</a:t>
            </a:r>
          </a:p>
        </p:txBody>
      </p:sp>
      <p:sp>
        <p:nvSpPr>
          <p:cNvPr id="9" name="TextBox 8"/>
          <p:cNvSpPr txBox="1"/>
          <p:nvPr/>
        </p:nvSpPr>
        <p:spPr>
          <a:xfrm>
            <a:off x="6391656" y="2670048"/>
            <a:ext cx="10972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z</a:t>
            </a:r>
          </a:p>
        </p:txBody>
      </p:sp>
      <p:sp>
        <p:nvSpPr>
          <p:cNvPr id="10" name="TextBox 9"/>
          <p:cNvSpPr txBox="1"/>
          <p:nvPr/>
        </p:nvSpPr>
        <p:spPr>
          <a:xfrm>
            <a:off x="7671816" y="2670048"/>
            <a:ext cx="36576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Verdict</a:t>
            </a:r>
          </a:p>
        </p:txBody>
      </p:sp>
      <p:sp>
        <p:nvSpPr>
          <p:cNvPr id="11" name="TextBox 10"/>
          <p:cNvSpPr txBox="1"/>
          <p:nvPr/>
        </p:nvSpPr>
        <p:spPr>
          <a:xfrm>
            <a:off x="905256" y="3026664"/>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2024-W47</a:t>
            </a:r>
          </a:p>
        </p:txBody>
      </p:sp>
      <p:sp>
        <p:nvSpPr>
          <p:cNvPr id="12" name="TextBox 11"/>
          <p:cNvSpPr txBox="1"/>
          <p:nvPr/>
        </p:nvSpPr>
        <p:spPr>
          <a:xfrm>
            <a:off x="2825496" y="3026664"/>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4</a:t>
            </a:r>
          </a:p>
        </p:txBody>
      </p:sp>
      <p:sp>
        <p:nvSpPr>
          <p:cNvPr id="13" name="TextBox 12"/>
          <p:cNvSpPr txBox="1"/>
          <p:nvPr/>
        </p:nvSpPr>
        <p:spPr>
          <a:xfrm>
            <a:off x="4837176" y="3026664"/>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1.4</a:t>
            </a:r>
          </a:p>
        </p:txBody>
      </p:sp>
      <p:sp>
        <p:nvSpPr>
          <p:cNvPr id="14" name="TextBox 13"/>
          <p:cNvSpPr txBox="1"/>
          <p:nvPr/>
        </p:nvSpPr>
        <p:spPr>
          <a:xfrm>
            <a:off x="6391656" y="3026664"/>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1.91</a:t>
            </a:r>
          </a:p>
        </p:txBody>
      </p:sp>
      <p:sp>
        <p:nvSpPr>
          <p:cNvPr id="15" name="TextBox 14"/>
          <p:cNvSpPr txBox="1"/>
          <p:nvPr/>
        </p:nvSpPr>
        <p:spPr>
          <a:xfrm>
            <a:off x="7671816" y="3026664"/>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below threshold</a:t>
            </a:r>
          </a:p>
        </p:txBody>
      </p:sp>
      <p:cxnSp>
        <p:nvCxnSpPr>
          <p:cNvPr id="16" name="Connector 15"/>
          <p:cNvCxnSpPr/>
          <p:nvPr/>
        </p:nvCxnSpPr>
        <p:spPr>
          <a:xfrm>
            <a:off x="777240" y="330098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05256" y="3374136"/>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2024-W48</a:t>
            </a:r>
          </a:p>
        </p:txBody>
      </p:sp>
      <p:sp>
        <p:nvSpPr>
          <p:cNvPr id="18" name="TextBox 17"/>
          <p:cNvSpPr txBox="1"/>
          <p:nvPr/>
        </p:nvSpPr>
        <p:spPr>
          <a:xfrm>
            <a:off x="2825496" y="3374136"/>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a:t>
            </a:r>
          </a:p>
        </p:txBody>
      </p:sp>
      <p:sp>
        <p:nvSpPr>
          <p:cNvPr id="19" name="TextBox 18"/>
          <p:cNvSpPr txBox="1"/>
          <p:nvPr/>
        </p:nvSpPr>
        <p:spPr>
          <a:xfrm>
            <a:off x="4837176" y="3374136"/>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1.6</a:t>
            </a:r>
          </a:p>
        </p:txBody>
      </p:sp>
      <p:sp>
        <p:nvSpPr>
          <p:cNvPr id="20" name="TextBox 19"/>
          <p:cNvSpPr txBox="1"/>
          <p:nvPr/>
        </p:nvSpPr>
        <p:spPr>
          <a:xfrm>
            <a:off x="6391656" y="3374136"/>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0.95</a:t>
            </a:r>
          </a:p>
        </p:txBody>
      </p:sp>
      <p:sp>
        <p:nvSpPr>
          <p:cNvPr id="21" name="TextBox 20"/>
          <p:cNvSpPr txBox="1"/>
          <p:nvPr/>
        </p:nvSpPr>
        <p:spPr>
          <a:xfrm>
            <a:off x="7671816" y="3374136"/>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below threshold</a:t>
            </a:r>
          </a:p>
        </p:txBody>
      </p:sp>
      <p:cxnSp>
        <p:nvCxnSpPr>
          <p:cNvPr id="22" name="Connector 21"/>
          <p:cNvCxnSpPr/>
          <p:nvPr/>
        </p:nvCxnSpPr>
        <p:spPr>
          <a:xfrm>
            <a:off x="777240" y="364845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777240" y="3648456"/>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721608"/>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2024-W49</a:t>
            </a:r>
          </a:p>
        </p:txBody>
      </p:sp>
      <p:sp>
        <p:nvSpPr>
          <p:cNvPr id="25" name="TextBox 24"/>
          <p:cNvSpPr txBox="1"/>
          <p:nvPr/>
        </p:nvSpPr>
        <p:spPr>
          <a:xfrm>
            <a:off x="2825496" y="3721608"/>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7</a:t>
            </a:r>
          </a:p>
        </p:txBody>
      </p:sp>
      <p:sp>
        <p:nvSpPr>
          <p:cNvPr id="26" name="TextBox 25"/>
          <p:cNvSpPr txBox="1"/>
          <p:nvPr/>
        </p:nvSpPr>
        <p:spPr>
          <a:xfrm>
            <a:off x="4837176" y="3721608"/>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1.5</a:t>
            </a:r>
          </a:p>
        </p:txBody>
      </p:sp>
      <p:sp>
        <p:nvSpPr>
          <p:cNvPr id="27" name="TextBox 26"/>
          <p:cNvSpPr txBox="1"/>
          <p:nvPr/>
        </p:nvSpPr>
        <p:spPr>
          <a:xfrm>
            <a:off x="6391656" y="3721608"/>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3.93</a:t>
            </a:r>
          </a:p>
        </p:txBody>
      </p:sp>
      <p:sp>
        <p:nvSpPr>
          <p:cNvPr id="28" name="TextBox 27"/>
          <p:cNvSpPr txBox="1"/>
          <p:nvPr/>
        </p:nvSpPr>
        <p:spPr>
          <a:xfrm>
            <a:off x="7671816" y="3721608"/>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growing</a:t>
            </a:r>
          </a:p>
        </p:txBody>
      </p:sp>
      <p:cxnSp>
        <p:nvCxnSpPr>
          <p:cNvPr id="29" name="Connector 28"/>
          <p:cNvCxnSpPr/>
          <p:nvPr/>
        </p:nvCxnSpPr>
        <p:spPr>
          <a:xfrm>
            <a:off x="777240" y="399592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777240" y="3995928"/>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05256" y="4069080"/>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2024-W50</a:t>
            </a:r>
          </a:p>
        </p:txBody>
      </p:sp>
      <p:sp>
        <p:nvSpPr>
          <p:cNvPr id="32" name="TextBox 31"/>
          <p:cNvSpPr txBox="1"/>
          <p:nvPr/>
        </p:nvSpPr>
        <p:spPr>
          <a:xfrm>
            <a:off x="2825496" y="4069080"/>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6</a:t>
            </a:r>
          </a:p>
        </p:txBody>
      </p:sp>
      <p:sp>
        <p:nvSpPr>
          <p:cNvPr id="33" name="TextBox 32"/>
          <p:cNvSpPr txBox="1"/>
          <p:nvPr/>
        </p:nvSpPr>
        <p:spPr>
          <a:xfrm>
            <a:off x="4837176" y="4069080"/>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1.8</a:t>
            </a:r>
          </a:p>
        </p:txBody>
      </p:sp>
      <p:sp>
        <p:nvSpPr>
          <p:cNvPr id="34" name="TextBox 33"/>
          <p:cNvSpPr txBox="1"/>
          <p:nvPr/>
        </p:nvSpPr>
        <p:spPr>
          <a:xfrm>
            <a:off x="6391656" y="4069080"/>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2.73</a:t>
            </a:r>
          </a:p>
        </p:txBody>
      </p:sp>
      <p:sp>
        <p:nvSpPr>
          <p:cNvPr id="35" name="TextBox 34"/>
          <p:cNvSpPr txBox="1"/>
          <p:nvPr/>
        </p:nvSpPr>
        <p:spPr>
          <a:xfrm>
            <a:off x="7671816" y="4069080"/>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36" name="Connector 35"/>
          <p:cNvCxnSpPr/>
          <p:nvPr/>
        </p:nvCxnSpPr>
        <p:spPr>
          <a:xfrm>
            <a:off x="777240" y="434340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777240" y="4343400"/>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416552"/>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2024-W51</a:t>
            </a:r>
          </a:p>
        </p:txBody>
      </p:sp>
      <p:sp>
        <p:nvSpPr>
          <p:cNvPr id="39" name="TextBox 38"/>
          <p:cNvSpPr txBox="1"/>
          <p:nvPr/>
        </p:nvSpPr>
        <p:spPr>
          <a:xfrm>
            <a:off x="2825496" y="4416552"/>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7</a:t>
            </a:r>
          </a:p>
        </p:txBody>
      </p:sp>
      <p:sp>
        <p:nvSpPr>
          <p:cNvPr id="40" name="TextBox 39"/>
          <p:cNvSpPr txBox="1"/>
          <p:nvPr/>
        </p:nvSpPr>
        <p:spPr>
          <a:xfrm>
            <a:off x="4837176" y="4416552"/>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2.5</a:t>
            </a:r>
          </a:p>
        </p:txBody>
      </p:sp>
      <p:sp>
        <p:nvSpPr>
          <p:cNvPr id="41" name="TextBox 40"/>
          <p:cNvSpPr txBox="1"/>
          <p:nvPr/>
        </p:nvSpPr>
        <p:spPr>
          <a:xfrm>
            <a:off x="6391656" y="4416552"/>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2.58</a:t>
            </a:r>
          </a:p>
        </p:txBody>
      </p:sp>
      <p:sp>
        <p:nvSpPr>
          <p:cNvPr id="42" name="TextBox 41"/>
          <p:cNvSpPr txBox="1"/>
          <p:nvPr/>
        </p:nvSpPr>
        <p:spPr>
          <a:xfrm>
            <a:off x="7671816" y="4416552"/>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43" name="Connector 42"/>
          <p:cNvCxnSpPr/>
          <p:nvPr/>
        </p:nvCxnSpPr>
        <p:spPr>
          <a:xfrm>
            <a:off x="777240" y="469087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777240" y="4690872"/>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5256" y="4764024"/>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2024-W52</a:t>
            </a:r>
          </a:p>
        </p:txBody>
      </p:sp>
      <p:sp>
        <p:nvSpPr>
          <p:cNvPr id="46" name="TextBox 45"/>
          <p:cNvSpPr txBox="1"/>
          <p:nvPr/>
        </p:nvSpPr>
        <p:spPr>
          <a:xfrm>
            <a:off x="2825496" y="4764024"/>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7</a:t>
            </a:r>
          </a:p>
        </p:txBody>
      </p:sp>
      <p:sp>
        <p:nvSpPr>
          <p:cNvPr id="47" name="TextBox 46"/>
          <p:cNvSpPr txBox="1"/>
          <p:nvPr/>
        </p:nvSpPr>
        <p:spPr>
          <a:xfrm>
            <a:off x="4837176" y="4764024"/>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2.3</a:t>
            </a:r>
          </a:p>
        </p:txBody>
      </p:sp>
      <p:sp>
        <p:nvSpPr>
          <p:cNvPr id="48" name="TextBox 47"/>
          <p:cNvSpPr txBox="1"/>
          <p:nvPr/>
        </p:nvSpPr>
        <p:spPr>
          <a:xfrm>
            <a:off x="6391656" y="4764024"/>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2.82</a:t>
            </a:r>
          </a:p>
        </p:txBody>
      </p:sp>
      <p:sp>
        <p:nvSpPr>
          <p:cNvPr id="49" name="TextBox 48"/>
          <p:cNvSpPr txBox="1"/>
          <p:nvPr/>
        </p:nvSpPr>
        <p:spPr>
          <a:xfrm>
            <a:off x="7671816" y="4764024"/>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50" name="Connector 49"/>
          <p:cNvCxnSpPr/>
          <p:nvPr/>
        </p:nvCxnSpPr>
        <p:spPr>
          <a:xfrm>
            <a:off x="777240" y="503834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905256" y="5111496"/>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2025-W01</a:t>
            </a:r>
          </a:p>
        </p:txBody>
      </p:sp>
      <p:sp>
        <p:nvSpPr>
          <p:cNvPr id="52" name="TextBox 51"/>
          <p:cNvSpPr txBox="1"/>
          <p:nvPr/>
        </p:nvSpPr>
        <p:spPr>
          <a:xfrm>
            <a:off x="2825496" y="5111496"/>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a:t>
            </a:r>
          </a:p>
        </p:txBody>
      </p:sp>
      <p:sp>
        <p:nvSpPr>
          <p:cNvPr id="53" name="TextBox 52"/>
          <p:cNvSpPr txBox="1"/>
          <p:nvPr/>
        </p:nvSpPr>
        <p:spPr>
          <a:xfrm>
            <a:off x="4837176" y="5111496"/>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3.3</a:t>
            </a:r>
          </a:p>
        </p:txBody>
      </p:sp>
      <p:sp>
        <p:nvSpPr>
          <p:cNvPr id="54" name="TextBox 53"/>
          <p:cNvSpPr txBox="1"/>
          <p:nvPr/>
        </p:nvSpPr>
        <p:spPr>
          <a:xfrm>
            <a:off x="6391656" y="5111496"/>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-0.16</a:t>
            </a:r>
          </a:p>
        </p:txBody>
      </p:sp>
      <p:sp>
        <p:nvSpPr>
          <p:cNvPr id="55" name="TextBox 54"/>
          <p:cNvSpPr txBox="1"/>
          <p:nvPr/>
        </p:nvSpPr>
        <p:spPr>
          <a:xfrm>
            <a:off x="7671816" y="5111496"/>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below threshold</a:t>
            </a:r>
          </a:p>
        </p:txBody>
      </p:sp>
      <p:cxnSp>
        <p:nvCxnSpPr>
          <p:cNvPr id="56" name="Connector 55"/>
          <p:cNvCxnSpPr/>
          <p:nvPr/>
        </p:nvCxnSpPr>
        <p:spPr>
          <a:xfrm>
            <a:off x="777240" y="538581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05256" y="5458968"/>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2025-W02</a:t>
            </a:r>
          </a:p>
        </p:txBody>
      </p:sp>
      <p:sp>
        <p:nvSpPr>
          <p:cNvPr id="58" name="TextBox 57"/>
          <p:cNvSpPr txBox="1"/>
          <p:nvPr/>
        </p:nvSpPr>
        <p:spPr>
          <a:xfrm>
            <a:off x="2825496" y="5458968"/>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5</a:t>
            </a:r>
          </a:p>
        </p:txBody>
      </p:sp>
      <p:sp>
        <p:nvSpPr>
          <p:cNvPr id="59" name="TextBox 58"/>
          <p:cNvSpPr txBox="1"/>
          <p:nvPr/>
        </p:nvSpPr>
        <p:spPr>
          <a:xfrm>
            <a:off x="4837176" y="5458968"/>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3.6</a:t>
            </a:r>
          </a:p>
        </p:txBody>
      </p:sp>
      <p:sp>
        <p:nvSpPr>
          <p:cNvPr id="60" name="TextBox 59"/>
          <p:cNvSpPr txBox="1"/>
          <p:nvPr/>
        </p:nvSpPr>
        <p:spPr>
          <a:xfrm>
            <a:off x="6391656" y="5458968"/>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0.69</a:t>
            </a:r>
          </a:p>
        </p:txBody>
      </p:sp>
      <p:sp>
        <p:nvSpPr>
          <p:cNvPr id="61" name="TextBox 60"/>
          <p:cNvSpPr txBox="1"/>
          <p:nvPr/>
        </p:nvSpPr>
        <p:spPr>
          <a:xfrm>
            <a:off x="7671816" y="5458968"/>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stable</a:t>
            </a:r>
          </a:p>
        </p:txBody>
      </p:sp>
      <p:cxnSp>
        <p:nvCxnSpPr>
          <p:cNvPr id="62" name="Connector 61"/>
          <p:cNvCxnSpPr/>
          <p:nvPr/>
        </p:nvCxnSpPr>
        <p:spPr>
          <a:xfrm>
            <a:off x="777240" y="573328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77240" y="5486400"/>
            <a:ext cx="10637215" cy="822960"/>
          </a:xfrm>
          <a:prstGeom prst="rect">
            <a:avLst/>
          </a:prstGeom>
          <a:noFill/>
        </p:spPr>
        <p:txBody>
          <a:bodyPr wrap="square" lIns="0" rIns="0" tIns="0" bIns="0">
            <a:spAutoFit/>
          </a:bodyPr>
          <a:lstStyle/>
          <a:p>
            <a:pPr algn="l">
              <a:spcBef>
                <a:spcPts val="0"/>
              </a:spcBef>
              <a:spcAft>
                <a:spcPts val="600"/>
              </a:spcAft>
            </a:pPr>
            <a:r>
              <a:rPr sz="1700" b="1" i="0">
                <a:solidFill>
                  <a:srgbClr val="C2411F"/>
                </a:solidFill>
                <a:latin typeface="Segoe UI"/>
              </a:rPr>
              <a:t>Quiet, quiet, then 7 contacts against 1.5 expected, and it fires.</a:t>
            </a:r>
          </a:p>
          <a:p>
            <a:pPr algn="l">
              <a:spcBef>
                <a:spcPts val="0"/>
              </a:spcBef>
              <a:spcAft>
                <a:spcPts val="0"/>
              </a:spcAft>
            </a:pPr>
            <a:r>
              <a:rPr sz="1300" b="0" i="0">
                <a:solidFill>
                  <a:srgbClr val="6B7280"/>
                </a:solidFill>
                <a:latin typeface="Segoe UI"/>
              </a:rPr>
              <a:t>Four recent weeks against the sixteen before, Poisson z with a Jeffreys pseudo-count, minimum support of five contacts in at least two weeks. Scores are precomputed for every as-of week, so the dashboard slider replays what the system would have told you that Monday. Nothing is planted.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4 · ANSWER PLAIN-LANGUAGE QUESTIONS</a:t>
            </a:r>
          </a:p>
          <a:p>
            <a:pPr algn="l">
              <a:spcBef>
                <a:spcPts val="0"/>
              </a:spcBef>
              <a:spcAft>
                <a:spcPts val="0"/>
              </a:spcAft>
            </a:pPr>
            <a:r>
              <a:rPr sz="3300" b="1" i="0">
                <a:solidFill>
                  <a:srgbClr val="14171C"/>
                </a:solidFill>
                <a:latin typeface="Segoe UI"/>
              </a:rPr>
              <a:t>Ask in words, get counts, trends and quotes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Twelve read-only tools.  </a:t>
            </a:r>
            <a:r>
              <a:rPr sz="1700">
                <a:solidFill>
                  <a:srgbClr val="6B7280"/>
                </a:solidFill>
                <a:latin typeface="Segoe UI"/>
              </a:rPr>
              <a:t>Overview, contact reasons, theme list and detail, trend, emerging, sentiment drivers, breakdown, compare, quotes, search, and one full call. The agent chooses what to pull and submits a structured answer.</a:t>
            </a:r>
          </a:p>
          <a:p>
            <a:pPr>
              <a:spcAft>
                <a:spcPts val="1300"/>
              </a:spcAft>
            </a:pPr>
            <a:r>
              <a:rPr sz="1700" b="1">
                <a:solidFill>
                  <a:srgbClr val="14171C"/>
                </a:solidFill>
                <a:latin typeface="Segoe UI"/>
              </a:rPr>
              <a:t>Three ways to answer, one verifier.  </a:t>
            </a:r>
            <a:r>
              <a:rPr sz="1700">
                <a:solidFill>
                  <a:srgbClr val="6B7280"/>
                </a:solidFill>
                <a:latin typeface="Segoe UI"/>
              </a:rPr>
              <a:t>With an API key the agent runs live. Without one, a recorded run replays through the same channel, and an unscripted question gets a templated answer from the same tools, clearly badged. The code is the same either way.</a:t>
            </a:r>
          </a:p>
          <a:p>
            <a:pPr>
              <a:spcAft>
                <a:spcPts val="1300"/>
              </a:spcAft>
            </a:pPr>
            <a:r>
              <a:rPr sz="1700" b="1">
                <a:solidFill>
                  <a:srgbClr val="14171C"/>
                </a:solidFill>
                <a:latin typeface="Segoe UI"/>
              </a:rPr>
              <a:t>All eight questions from the briefing are recorded.  </a:t>
            </a:r>
            <a:r>
              <a:rPr sz="1700">
                <a:solidFill>
                  <a:srgbClr val="6B7280"/>
                </a:solidFill>
                <a:latin typeface="Segoe UI"/>
              </a:rPr>
              <a:t>They replay in about two seconds each, with the tool trace visible, so the demo needs no key and no network.</a:t>
            </a:r>
          </a:p>
        </p:txBody>
      </p:sp>
      <p:sp>
        <p:nvSpPr>
          <p:cNvPr id="5" name="Rectangle 4"/>
          <p:cNvSpPr/>
          <p:nvPr/>
        </p:nvSpPr>
        <p:spPr>
          <a:xfrm>
            <a:off x="777240"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8</a:t>
            </a:r>
          </a:p>
          <a:p>
            <a:pPr algn="ctr">
              <a:spcBef>
                <a:spcPts val="0"/>
              </a:spcBef>
              <a:spcAft>
                <a:spcPts val="0"/>
              </a:spcAft>
            </a:pPr>
            <a:r>
              <a:rPr sz="1150" b="0" i="0">
                <a:solidFill>
                  <a:srgbClr val="6B7280"/>
                </a:solidFill>
                <a:latin typeface="Segoe UI"/>
              </a:rPr>
              <a:t>questions recorded</a:t>
            </a:r>
          </a:p>
        </p:txBody>
      </p:sp>
      <p:sp>
        <p:nvSpPr>
          <p:cNvPr id="6" name="Rectangle 5"/>
          <p:cNvSpPr/>
          <p:nvPr/>
        </p:nvSpPr>
        <p:spPr>
          <a:xfrm>
            <a:off x="2959547"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83</a:t>
            </a:r>
          </a:p>
          <a:p>
            <a:pPr algn="ctr">
              <a:spcBef>
                <a:spcPts val="0"/>
              </a:spcBef>
              <a:spcAft>
                <a:spcPts val="0"/>
              </a:spcAft>
            </a:pPr>
            <a:r>
              <a:rPr sz="1150" b="0" i="0">
                <a:solidFill>
                  <a:srgbClr val="6B7280"/>
                </a:solidFill>
                <a:latin typeface="Segoe UI"/>
              </a:rPr>
              <a:t>claims made</a:t>
            </a:r>
          </a:p>
        </p:txBody>
      </p:sp>
      <p:sp>
        <p:nvSpPr>
          <p:cNvPr id="7" name="Rectangle 6"/>
          <p:cNvSpPr/>
          <p:nvPr/>
        </p:nvSpPr>
        <p:spPr>
          <a:xfrm>
            <a:off x="5141854"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80</a:t>
            </a:r>
          </a:p>
          <a:p>
            <a:pPr algn="ctr">
              <a:spcBef>
                <a:spcPts val="0"/>
              </a:spcBef>
              <a:spcAft>
                <a:spcPts val="0"/>
              </a:spcAft>
            </a:pPr>
            <a:r>
              <a:rPr sz="1150" b="0" i="0">
                <a:solidFill>
                  <a:srgbClr val="6B7280"/>
                </a:solidFill>
                <a:latin typeface="Segoe UI"/>
              </a:rPr>
              <a:t>claims verified</a:t>
            </a:r>
          </a:p>
        </p:txBody>
      </p:sp>
      <p:sp>
        <p:nvSpPr>
          <p:cNvPr id="8" name="Rectangle 7"/>
          <p:cNvSpPr/>
          <p:nvPr/>
        </p:nvSpPr>
        <p:spPr>
          <a:xfrm>
            <a:off x="7324161"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80</a:t>
            </a:r>
          </a:p>
          <a:p>
            <a:pPr algn="ctr">
              <a:spcBef>
                <a:spcPts val="0"/>
              </a:spcBef>
              <a:spcAft>
                <a:spcPts val="0"/>
              </a:spcAft>
            </a:pPr>
            <a:r>
              <a:rPr sz="1150" b="0" i="0">
                <a:solidFill>
                  <a:srgbClr val="6B7280"/>
                </a:solidFill>
                <a:latin typeface="Segoe UI"/>
              </a:rPr>
              <a:t>verified quotes kept</a:t>
            </a:r>
          </a:p>
        </p:txBody>
      </p:sp>
      <p:sp>
        <p:nvSpPr>
          <p:cNvPr id="9" name="Rectangle 8"/>
          <p:cNvSpPr/>
          <p:nvPr/>
        </p:nvSpPr>
        <p:spPr>
          <a:xfrm>
            <a:off x="9506468"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a:t>
            </a:r>
          </a:p>
          <a:p>
            <a:pPr algn="ctr">
              <a:spcBef>
                <a:spcPts val="0"/>
              </a:spcBef>
              <a:spcAft>
                <a:spcPts val="0"/>
              </a:spcAft>
            </a:pPr>
            <a:r>
              <a:rPr sz="1150" b="0" i="0">
                <a:solidFill>
                  <a:srgbClr val="6B7280"/>
                </a:solidFill>
                <a:latin typeface="Segoe UI"/>
              </a:rPr>
              <a:t>quotes dropped as unverified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5 · EVIDENCE AND CONFIDENCE</a:t>
            </a:r>
          </a:p>
          <a:p>
            <a:pPr algn="l">
              <a:spcBef>
                <a:spcPts val="0"/>
              </a:spcBef>
              <a:spcAft>
                <a:spcPts val="0"/>
              </a:spcAft>
            </a:pPr>
            <a:r>
              <a:rPr sz="3300" b="1" i="0">
                <a:solidFill>
                  <a:srgbClr val="14171C"/>
                </a:solidFill>
                <a:latin typeface="Segoe UI"/>
              </a:rPr>
              <a:t>The model proposes. The server decides.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600" b="1">
                <a:solidFill>
                  <a:srgbClr val="14171C"/>
                </a:solidFill>
                <a:latin typeface="Segoe UI"/>
              </a:rPr>
              <a:t>Every claim is recounted.  </a:t>
            </a:r>
            <a:r>
              <a:rPr sz="1600">
                <a:solidFill>
                  <a:srgbClr val="6B7280"/>
                </a:solidFill>
                <a:latin typeface="Segoe UI"/>
              </a:rPr>
              <a:t>The server re-queries the call ids behind a claim and counts them itself. If the model said 60 and the calls say 47, the screen says 47 and shows the correction.</a:t>
            </a:r>
          </a:p>
          <a:p>
            <a:pPr>
              <a:spcAft>
                <a:spcPts val="1300"/>
              </a:spcAft>
            </a:pPr>
            <a:r>
              <a:rPr sz="1600" b="1">
                <a:solidFill>
                  <a:srgbClr val="14171C"/>
                </a:solidFill>
                <a:latin typeface="Segoe UI"/>
              </a:rPr>
              <a:t>Every number is checked against its source.  </a:t>
            </a:r>
            <a:r>
              <a:rPr sz="1600">
                <a:solidFill>
                  <a:srgbClr val="6B7280"/>
                </a:solidFill>
                <a:latin typeface="Segoe UI"/>
              </a:rPr>
              <a:t>A figure that appears in no tool result the claim cites is flagged, not printed.</a:t>
            </a:r>
          </a:p>
          <a:p>
            <a:pPr>
              <a:spcAft>
                <a:spcPts val="1300"/>
              </a:spcAft>
            </a:pPr>
            <a:r>
              <a:rPr sz="1600" b="1">
                <a:solidFill>
                  <a:srgbClr val="14171C"/>
                </a:solidFill>
                <a:latin typeface="Segoe UI"/>
              </a:rPr>
              <a:t>Quotes must be exact.  </a:t>
            </a:r>
            <a:r>
              <a:rPr sz="1600">
                <a:solidFill>
                  <a:srgbClr val="6B7280"/>
                </a:solidFill>
                <a:latin typeface="Segoe UI"/>
              </a:rPr>
              <a:t>An evidence quote must be an exact substring of what the customer wrote. Anything else is dropped before it reaches the screen.</a:t>
            </a:r>
          </a:p>
          <a:p>
            <a:pPr>
              <a:spcAft>
                <a:spcPts val="1300"/>
              </a:spcAft>
            </a:pPr>
            <a:r>
              <a:rPr sz="1600" b="1">
                <a:solidFill>
                  <a:srgbClr val="14171C"/>
                </a:solidFill>
                <a:latin typeface="Segoe UI"/>
              </a:rPr>
              <a:t>Confidence is computed, not claimed.  </a:t>
            </a:r>
            <a:r>
              <a:rPr sz="1600">
                <a:solidFill>
                  <a:srgbClr val="6B7280"/>
                </a:solidFill>
                <a:latin typeface="Segoe UI"/>
              </a:rPr>
              <a:t>The badge comes from the recounted calls, months, products and states. The model never writes it.</a:t>
            </a:r>
          </a:p>
          <a:p>
            <a:pPr>
              <a:spcAft>
                <a:spcPts val="1300"/>
              </a:spcAft>
            </a:pPr>
            <a:r>
              <a:rPr sz="1600" b="1">
                <a:solidFill>
                  <a:srgbClr val="14171C"/>
                </a:solidFill>
                <a:latin typeface="Segoe UI"/>
              </a:rPr>
              <a:t>Nothing fails silently.  </a:t>
            </a:r>
            <a:r>
              <a:rPr sz="1600">
                <a:solidFill>
                  <a:srgbClr val="6B7280"/>
                </a:solidFill>
                <a:latin typeface="Segoe UI"/>
              </a:rPr>
              <a:t>A claim that cannot be supported is shown greyed with the server's real number beside it, never quietly deleted.</a:t>
            </a:r>
          </a:p>
        </p:txBody>
      </p:sp>
      <p:sp>
        <p:nvSpPr>
          <p:cNvPr id="5" name="TextBox 4"/>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Every number on the screen is a link to the list of calls behind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HOW IT IS BUILT</a:t>
            </a:r>
          </a:p>
          <a:p>
            <a:pPr algn="l">
              <a:spcBef>
                <a:spcPts val="0"/>
              </a:spcBef>
              <a:spcAft>
                <a:spcPts val="0"/>
              </a:spcAft>
            </a:pPr>
            <a:r>
              <a:rPr sz="3300" b="1" i="0">
                <a:solidFill>
                  <a:srgbClr val="14171C"/>
                </a:solidFill>
                <a:latin typeface="Segoe UI"/>
              </a:rPr>
              <a:t>Files are the truth. Everything else is derived.</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Files first.  </a:t>
            </a:r>
            <a:r>
              <a:rPr sz="1700">
                <a:solidFill>
                  <a:srgbClr val="6B7280"/>
                </a:solidFill>
                <a:latin typeface="Segoe UI"/>
              </a:rPr>
              <a:t>The contacts, the readings and the themes are plain JSONL. The SQLite index is derived and rebuilt from them in about four seconds, so it is never something to protect.</a:t>
            </a:r>
          </a:p>
          <a:p>
            <a:pPr>
              <a:spcAft>
                <a:spcPts val="1300"/>
              </a:spcAft>
            </a:pPr>
            <a:r>
              <a:rPr sz="1700" b="1">
                <a:solidFill>
                  <a:srgbClr val="14171C"/>
                </a:solidFill>
                <a:latin typeface="Segoe UI"/>
              </a:rPr>
              <a:t>Every model call is cached by content hash.  </a:t>
            </a:r>
            <a:r>
              <a:rPr sz="1700">
                <a:solidFill>
                  <a:srgbClr val="6B7280"/>
                </a:solidFill>
                <a:latin typeface="Segoe UI"/>
              </a:rPr>
              <a:t>Re-running a stage costs nothing, a killed run resumes where it stopped, and tomorrow's contacts cost only tomorrow's contacts.</a:t>
            </a:r>
          </a:p>
          <a:p>
            <a:pPr>
              <a:spcAft>
                <a:spcPts val="1300"/>
              </a:spcAft>
            </a:pPr>
            <a:r>
              <a:rPr sz="1700" b="1">
                <a:solidFill>
                  <a:srgbClr val="14171C"/>
                </a:solidFill>
                <a:latin typeface="Segoe UI"/>
              </a:rPr>
              <a:t>One interface over three clients.  </a:t>
            </a:r>
            <a:r>
              <a:rPr sz="1700">
                <a:solidFill>
                  <a:srgbClr val="6B7280"/>
                </a:solidFill>
                <a:latin typeface="Segoe UI"/>
              </a:rPr>
              <a:t>Live API, replayed cache, or a deterministic fake for tests. A fake-produced index is refused unless explicitly asked for, and then the interface shows a red warning.</a:t>
            </a:r>
          </a:p>
          <a:p>
            <a:pPr>
              <a:spcAft>
                <a:spcPts val="1300"/>
              </a:spcAft>
            </a:pPr>
            <a:r>
              <a:rPr sz="1700" b="1">
                <a:solidFill>
                  <a:srgbClr val="14171C"/>
                </a:solidFill>
                <a:latin typeface="Segoe UI"/>
              </a:rPr>
              <a:t>No build step in the interface.  </a:t>
            </a:r>
            <a:r>
              <a:rPr sz="1700">
                <a:solidFill>
                  <a:srgbClr val="6B7280"/>
                </a:solidFill>
                <a:latin typeface="Segoe UI"/>
              </a:rPr>
              <a:t>Vanilla ES modules and one vendored chart library. Clone, build the index, serve.</a:t>
            </a:r>
          </a:p>
        </p:txBody>
      </p:sp>
      <p:sp>
        <p:nvSpPr>
          <p:cNvPr id="5" name="Rectangle 4"/>
          <p:cNvSpPr/>
          <p:nvPr/>
        </p:nvSpPr>
        <p:spPr>
          <a:xfrm>
            <a:off x="777240"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108</a:t>
            </a:r>
          </a:p>
          <a:p>
            <a:pPr algn="ctr">
              <a:spcBef>
                <a:spcPts val="0"/>
              </a:spcBef>
              <a:spcAft>
                <a:spcPts val="0"/>
              </a:spcAft>
            </a:pPr>
            <a:r>
              <a:rPr sz="1150" b="0" i="0">
                <a:solidFill>
                  <a:srgbClr val="6B7280"/>
                </a:solidFill>
                <a:latin typeface="Segoe UI"/>
              </a:rPr>
              <a:t>tests, no network
or API key needed</a:t>
            </a:r>
          </a:p>
        </p:txBody>
      </p:sp>
      <p:sp>
        <p:nvSpPr>
          <p:cNvPr id="6" name="Rectangle 5"/>
          <p:cNvSpPr/>
          <p:nvPr/>
        </p:nvSpPr>
        <p:spPr>
          <a:xfrm>
            <a:off x="2959547"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10,103</a:t>
            </a:r>
          </a:p>
          <a:p>
            <a:pPr algn="ctr">
              <a:spcBef>
                <a:spcPts val="0"/>
              </a:spcBef>
              <a:spcAft>
                <a:spcPts val="0"/>
              </a:spcAft>
            </a:pPr>
            <a:r>
              <a:rPr sz="1150" b="0" i="0">
                <a:solidFill>
                  <a:srgbClr val="6B7280"/>
                </a:solidFill>
                <a:latin typeface="Segoe UI"/>
              </a:rPr>
              <a:t>lines of Python</a:t>
            </a:r>
          </a:p>
        </p:txBody>
      </p:sp>
      <p:sp>
        <p:nvSpPr>
          <p:cNvPr id="7" name="Rectangle 6"/>
          <p:cNvSpPr/>
          <p:nvPr/>
        </p:nvSpPr>
        <p:spPr>
          <a:xfrm>
            <a:off x="5141854"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1,044</a:t>
            </a:r>
          </a:p>
          <a:p>
            <a:pPr algn="ctr">
              <a:spcBef>
                <a:spcPts val="0"/>
              </a:spcBef>
              <a:spcAft>
                <a:spcPts val="0"/>
              </a:spcAft>
            </a:pPr>
            <a:r>
              <a:rPr sz="1150" b="0" i="0">
                <a:solidFill>
                  <a:srgbClr val="6B7280"/>
                </a:solidFill>
                <a:latin typeface="Segoe UI"/>
              </a:rPr>
              <a:t>lines of JavaScript</a:t>
            </a:r>
          </a:p>
        </p:txBody>
      </p:sp>
      <p:sp>
        <p:nvSpPr>
          <p:cNvPr id="8" name="Rectangle 7"/>
          <p:cNvSpPr/>
          <p:nvPr/>
        </p:nvSpPr>
        <p:spPr>
          <a:xfrm>
            <a:off x="7324161"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4s</a:t>
            </a:r>
          </a:p>
          <a:p>
            <a:pPr algn="ctr">
              <a:spcBef>
                <a:spcPts val="0"/>
              </a:spcBef>
              <a:spcAft>
                <a:spcPts val="0"/>
              </a:spcAft>
            </a:pPr>
            <a:r>
              <a:rPr sz="1150" b="0" i="0">
                <a:solidFill>
                  <a:srgbClr val="6B7280"/>
                </a:solidFill>
                <a:latin typeface="Segoe UI"/>
              </a:rPr>
              <a:t>full index rebuild</a:t>
            </a:r>
          </a:p>
        </p:txBody>
      </p:sp>
      <p:sp>
        <p:nvSpPr>
          <p:cNvPr id="9" name="Rectangle 8"/>
          <p:cNvSpPr/>
          <p:nvPr/>
        </p:nvSpPr>
        <p:spPr>
          <a:xfrm>
            <a:off x="9506468"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2s</a:t>
            </a:r>
          </a:p>
          <a:p>
            <a:pPr algn="ctr">
              <a:spcBef>
                <a:spcPts val="0"/>
              </a:spcBef>
              <a:spcAft>
                <a:spcPts val="0"/>
              </a:spcAft>
            </a:pPr>
            <a:r>
              <a:rPr sz="1150" b="0" i="0">
                <a:solidFill>
                  <a:srgbClr val="6B7280"/>
                </a:solidFill>
                <a:latin typeface="Segoe UI"/>
              </a:rPr>
              <a:t>to replay an answer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A CONSTRAINT WORTH SHOWING</a:t>
            </a:r>
          </a:p>
          <a:p>
            <a:pPr algn="l">
              <a:spcBef>
                <a:spcPts val="0"/>
              </a:spcBef>
              <a:spcAft>
                <a:spcPts val="0"/>
              </a:spcAft>
            </a:pPr>
            <a:r>
              <a:rPr sz="3300" b="1" i="0">
                <a:solidFill>
                  <a:srgbClr val="14171C"/>
                </a:solidFill>
                <a:latin typeface="Segoe UI"/>
              </a:rPr>
              <a:t>Built with no API key on the machine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700" b="1">
                <a:solidFill>
                  <a:srgbClr val="14171C"/>
                </a:solidFill>
                <a:latin typeface="Segoe UI"/>
              </a:rPr>
              <a:t>Every LLM stage exports work bundles.  </a:t>
            </a:r>
            <a:r>
              <a:rPr sz="1700">
                <a:solidFill>
                  <a:srgbClr val="6B7280"/>
                </a:solidFill>
                <a:latin typeface="Segoe UI"/>
              </a:rPr>
              <a:t>Each bundle carries the exact prompt, the records, and the cache identity to write. Build-time Claude agents filled them, writing the same cache files the API path writes.</a:t>
            </a:r>
          </a:p>
          <a:p>
            <a:pPr>
              <a:spcAft>
                <a:spcPts val="1300"/>
              </a:spcAft>
            </a:pPr>
            <a:r>
              <a:rPr sz="1700" b="1">
                <a:solidFill>
                  <a:srgbClr val="14171C"/>
                </a:solidFill>
                <a:latin typeface="Segoe UI"/>
              </a:rPr>
              <a:t>The pipeline does not care who did the reading.  </a:t>
            </a:r>
            <a:r>
              <a:rPr sz="1700">
                <a:solidFill>
                  <a:srgbClr val="6B7280"/>
                </a:solidFill>
                <a:latin typeface="Segoe UI"/>
              </a:rPr>
              <a:t>A field records it. Swap in a key and the same commands run unattended against the API.</a:t>
            </a:r>
          </a:p>
          <a:p>
            <a:pPr>
              <a:spcAft>
                <a:spcPts val="1300"/>
              </a:spcAft>
            </a:pPr>
            <a:r>
              <a:rPr sz="1700" b="1">
                <a:solidFill>
                  <a:srgbClr val="14171C"/>
                </a:solidFill>
                <a:latin typeface="Segoe UI"/>
              </a:rPr>
              <a:t>This is how all 4,425 contacts were read and all 5,827 statements grouped.  </a:t>
            </a:r>
            <a:r>
              <a:rPr sz="1700">
                <a:solidFill>
                  <a:srgbClr val="6B7280"/>
                </a:solidFill>
                <a:latin typeface="Segoe UI"/>
              </a:rPr>
              <a:t>It is also why the demo runs on a plane.</a:t>
            </a:r>
          </a:p>
        </p:txBody>
      </p:sp>
      <p:sp>
        <p:nvSpPr>
          <p:cNvPr id="5" name="TextBox 4"/>
          <p:cNvSpPr txBox="1"/>
          <p:nvPr/>
        </p:nvSpPr>
        <p:spPr>
          <a:xfrm>
            <a:off x="777240" y="4754880"/>
            <a:ext cx="10637215" cy="1097280"/>
          </a:xfrm>
          <a:prstGeom prst="rect">
            <a:avLst/>
          </a:prstGeom>
          <a:noFill/>
        </p:spPr>
        <p:txBody>
          <a:bodyPr wrap="square" lIns="0" rIns="0" tIns="0" bIns="0">
            <a:spAutoFit/>
          </a:bodyPr>
          <a:lstStyle/>
          <a:p>
            <a:pPr algn="l">
              <a:spcBef>
                <a:spcPts val="0"/>
              </a:spcBef>
              <a:spcAft>
                <a:spcPts val="800"/>
              </a:spcAft>
            </a:pPr>
            <a:r>
              <a:rPr sz="1800" b="1" i="0">
                <a:solidFill>
                  <a:srgbClr val="14171C"/>
                </a:solidFill>
                <a:latin typeface="Segoe UI"/>
              </a:rPr>
              <a:t>The same property makes it auditable.</a:t>
            </a:r>
          </a:p>
          <a:p>
            <a:pPr algn="l">
              <a:spcBef>
                <a:spcPts val="0"/>
              </a:spcBef>
              <a:spcAft>
                <a:spcPts val="0"/>
              </a:spcAft>
            </a:pPr>
            <a:r>
              <a:rPr sz="1500" b="0" i="0">
                <a:solidFill>
                  <a:srgbClr val="6B7280"/>
                </a:solidFill>
                <a:latin typeface="Segoe UI"/>
              </a:rPr>
              <a:t>Because every model call is a cache file keyed by its content, anyone can re-run a stage and get the identical result, or open the exact prompt behind any reading.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WHAT IS TRUE, AND WHAT IS NOT</a:t>
            </a:r>
          </a:p>
          <a:p>
            <a:pPr algn="l">
              <a:spcBef>
                <a:spcPts val="0"/>
              </a:spcBef>
              <a:spcAft>
                <a:spcPts val="0"/>
              </a:spcAft>
            </a:pPr>
            <a:r>
              <a:rPr sz="3300" b="1" i="0">
                <a:solidFill>
                  <a:srgbClr val="14171C"/>
                </a:solidFill>
                <a:latin typeface="Segoe UI"/>
              </a:rPr>
              <a:t>The findings we would rather not have to say</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600" b="1">
                <a:solidFill>
                  <a:srgbClr val="14171C"/>
                </a:solidFill>
                <a:latin typeface="Segoe UI"/>
              </a:rPr>
              <a:t>One briefing expectation does not hold here.  </a:t>
            </a:r>
            <a:r>
              <a:rPr sz="1600">
                <a:solidFill>
                  <a:srgbClr val="6B7280"/>
                </a:solidFill>
                <a:latin typeface="Segoe UI"/>
              </a:rPr>
              <a:t>The stated reason is supposed to differ often from the real driver. In this corpus it differs in about 1 contact in 55. Someone writing to a regulator leads with the grievance; someone phoning opens with what they want. The capability is built and works. On real call transcripts we expect it to matter far more.</a:t>
            </a:r>
          </a:p>
          <a:p>
            <a:pPr>
              <a:spcAft>
                <a:spcPts val="1300"/>
              </a:spcAft>
            </a:pPr>
            <a:r>
              <a:rPr sz="1600" b="1">
                <a:solidFill>
                  <a:srgbClr val="14171C"/>
                </a:solidFill>
                <a:latin typeface="Segoe UI"/>
              </a:rPr>
              <a:t>Satisfaction cannot be measured on a complaint corpus.  </a:t>
            </a:r>
            <a:r>
              <a:rPr sz="1600">
                <a:solidFill>
                  <a:srgbClr val="6B7280"/>
                </a:solidFill>
                <a:latin typeface="Segoe UI"/>
              </a:rPr>
              <a:t>Ranking positive themes returns nothing. What exists is 1199 contacts carrying a moment that went right, and the product says so on the screen rather than inventing a score.</a:t>
            </a:r>
          </a:p>
          <a:p>
            <a:pPr>
              <a:spcAft>
                <a:spcPts val="1300"/>
              </a:spcAft>
            </a:pPr>
            <a:r>
              <a:rPr sz="1600" b="1">
                <a:solidFill>
                  <a:srgbClr val="14171C"/>
                </a:solidFill>
                <a:latin typeface="Segoe UI"/>
              </a:rPr>
              <a:t>Only one theme is emerging this week.  </a:t>
            </a:r>
            <a:r>
              <a:rPr sz="1600">
                <a:solidFill>
                  <a:srgbClr val="6B7280"/>
                </a:solidFill>
                <a:latin typeface="Segoe UI"/>
              </a:rPr>
              <a:t>That is the honest state of the data. A detector that fires every week is a detector nobody reads.</a:t>
            </a:r>
          </a:p>
        </p:txBody>
      </p:sp>
      <p:sp>
        <p:nvSpPr>
          <p:cNvPr id="5" name="TextBox 4"/>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A system that cannot say “the evidence does not support that” is not worth trusting when it says anything else.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371600"/>
            <a:ext cx="9875520" cy="1097280"/>
          </a:xfrm>
          <a:prstGeom prst="rect">
            <a:avLst/>
          </a:prstGeom>
          <a:noFill/>
        </p:spPr>
        <p:txBody>
          <a:bodyPr wrap="square" lIns="0" rIns="0" tIns="0" bIns="0">
            <a:spAutoFit/>
          </a:bodyPr>
          <a:lstStyle/>
          <a:p>
            <a:pPr algn="l">
              <a:spcBef>
                <a:spcPts val="0"/>
              </a:spcBef>
              <a:spcAft>
                <a:spcPts val="1800"/>
              </a:spcAft>
            </a:pPr>
            <a:r>
              <a:rPr sz="1300" b="1" i="0">
                <a:solidFill>
                  <a:srgbClr val="C2411F"/>
                </a:solidFill>
                <a:latin typeface="Segoe UI"/>
              </a:rPr>
              <a:t>WHAT IT DELIVERS</a:t>
            </a:r>
          </a:p>
        </p:txBody>
      </p:sp>
      <p:sp>
        <p:nvSpPr>
          <p:cNvPr id="4" name="TextBox 3"/>
          <p:cNvSpPr txBox="1"/>
          <p:nvPr/>
        </p:nvSpPr>
        <p:spPr>
          <a:xfrm>
            <a:off x="777240" y="2331720"/>
            <a:ext cx="10332720" cy="960120"/>
          </a:xfrm>
          <a:prstGeom prst="rect">
            <a:avLst/>
          </a:prstGeom>
          <a:noFill/>
        </p:spPr>
        <p:txBody>
          <a:bodyPr wrap="square" lIns="0" rIns="0" tIns="0" bIns="0">
            <a:spAutoFit/>
          </a:bodyPr>
          <a:lstStyle/>
          <a:p>
            <a:pPr algn="l">
              <a:spcBef>
                <a:spcPts val="0"/>
              </a:spcBef>
              <a:spcAft>
                <a:spcPts val="400"/>
              </a:spcAft>
            </a:pPr>
            <a:r>
              <a:rPr sz="2500" b="1" i="0">
                <a:solidFill>
                  <a:srgbClr val="14171C"/>
                </a:solidFill>
                <a:latin typeface="Segoe UI"/>
              </a:rPr>
              <a:t>Minutes, not weeks.</a:t>
            </a:r>
          </a:p>
          <a:p>
            <a:pPr algn="l">
              <a:spcBef>
                <a:spcPts val="0"/>
              </a:spcBef>
              <a:spcAft>
                <a:spcPts val="0"/>
              </a:spcAft>
            </a:pPr>
            <a:r>
              <a:rPr sz="1500" b="0" i="0">
                <a:solidFill>
                  <a:srgbClr val="6B7280"/>
                </a:solidFill>
                <a:latin typeface="Segoe UI"/>
              </a:rPr>
              <a:t>5,425 contacts read into a consistent structure, and any question about them answered in seconds.</a:t>
            </a:r>
          </a:p>
        </p:txBody>
      </p:sp>
      <p:sp>
        <p:nvSpPr>
          <p:cNvPr id="5" name="TextBox 4"/>
          <p:cNvSpPr txBox="1"/>
          <p:nvPr/>
        </p:nvSpPr>
        <p:spPr>
          <a:xfrm>
            <a:off x="777240" y="3502152"/>
            <a:ext cx="10332720" cy="960120"/>
          </a:xfrm>
          <a:prstGeom prst="rect">
            <a:avLst/>
          </a:prstGeom>
          <a:noFill/>
        </p:spPr>
        <p:txBody>
          <a:bodyPr wrap="square" lIns="0" rIns="0" tIns="0" bIns="0">
            <a:spAutoFit/>
          </a:bodyPr>
          <a:lstStyle/>
          <a:p>
            <a:pPr algn="l">
              <a:spcBef>
                <a:spcPts val="0"/>
              </a:spcBef>
              <a:spcAft>
                <a:spcPts val="400"/>
              </a:spcAft>
            </a:pPr>
            <a:r>
              <a:rPr sz="2500" b="1" i="0">
                <a:solidFill>
                  <a:srgbClr val="14171C"/>
                </a:solidFill>
                <a:latin typeface="Segoe UI"/>
              </a:rPr>
              <a:t>Hear it while it is small.</a:t>
            </a:r>
          </a:p>
          <a:p>
            <a:pPr algn="l">
              <a:spcBef>
                <a:spcPts val="0"/>
              </a:spcBef>
              <a:spcAft>
                <a:spcPts val="0"/>
              </a:spcAft>
            </a:pPr>
            <a:r>
              <a:rPr sz="1500" b="0" i="0">
                <a:solidFill>
                  <a:srgbClr val="6B7280"/>
                </a:solidFill>
                <a:latin typeface="Segoe UI"/>
              </a:rPr>
              <a:t>A theme flagged at six contacts against two expected, weeks before a monthly report would show it.</a:t>
            </a:r>
          </a:p>
        </p:txBody>
      </p:sp>
      <p:sp>
        <p:nvSpPr>
          <p:cNvPr id="6" name="TextBox 5"/>
          <p:cNvSpPr txBox="1"/>
          <p:nvPr/>
        </p:nvSpPr>
        <p:spPr>
          <a:xfrm>
            <a:off x="777240" y="4672584"/>
            <a:ext cx="10332720" cy="960120"/>
          </a:xfrm>
          <a:prstGeom prst="rect">
            <a:avLst/>
          </a:prstGeom>
          <a:noFill/>
        </p:spPr>
        <p:txBody>
          <a:bodyPr wrap="square" lIns="0" rIns="0" tIns="0" bIns="0">
            <a:spAutoFit/>
          </a:bodyPr>
          <a:lstStyle/>
          <a:p>
            <a:pPr algn="l">
              <a:spcBef>
                <a:spcPts val="0"/>
              </a:spcBef>
              <a:spcAft>
                <a:spcPts val="400"/>
              </a:spcAft>
            </a:pPr>
            <a:r>
              <a:rPr sz="2500" b="1" i="0">
                <a:solidFill>
                  <a:srgbClr val="14171C"/>
                </a:solidFill>
                <a:latin typeface="Segoe UI"/>
              </a:rPr>
              <a:t>Act on causes, not labels.</a:t>
            </a:r>
          </a:p>
          <a:p>
            <a:pPr algn="l">
              <a:spcBef>
                <a:spcPts val="0"/>
              </a:spcBef>
              <a:spcAft>
                <a:spcPts val="0"/>
              </a:spcAft>
            </a:pPr>
            <a:r>
              <a:rPr sz="1500" b="0" i="0">
                <a:solidFill>
                  <a:srgbClr val="6B7280"/>
                </a:solidFill>
                <a:latin typeface="Segoe UI"/>
              </a:rPr>
              <a:t>379 people describing one fixable failure in 381 different ways, named as one work item with an owner.</a:t>
            </a:r>
          </a:p>
        </p:txBody>
      </p:sp>
      <p:sp>
        <p:nvSpPr>
          <p:cNvPr id="7" name="TextBox 6"/>
          <p:cNvSpPr txBox="1"/>
          <p:nvPr/>
        </p:nvSpPr>
        <p:spPr>
          <a:xfrm>
            <a:off x="777240" y="5943600"/>
            <a:ext cx="10637215" cy="457200"/>
          </a:xfrm>
          <a:prstGeom prst="rect">
            <a:avLst/>
          </a:prstGeom>
          <a:noFill/>
        </p:spPr>
        <p:txBody>
          <a:bodyPr wrap="square" lIns="0" rIns="0" tIns="0" bIns="0">
            <a:spAutoFit/>
          </a:bodyPr>
          <a:lstStyle/>
          <a:p>
            <a:pPr algn="l">
              <a:spcBef>
                <a:spcPts val="0"/>
              </a:spcBef>
              <a:spcAft>
                <a:spcPts val="0"/>
              </a:spcAft>
            </a:pPr>
            <a:r>
              <a:rPr sz="1600" b="1" i="0">
                <a:solidFill>
                  <a:srgbClr val="2F6F4E"/>
                </a:solidFill>
                <a:latin typeface="Segoe UI"/>
              </a:rPr>
              <a:t>And every number on the screen is a list of calls you can open and read.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