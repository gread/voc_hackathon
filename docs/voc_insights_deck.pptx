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C24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65960"/>
            <a:ext cx="9692640" cy="2743200"/>
          </a:xfrm>
          <a:prstGeom prst="rect">
            <a:avLst/>
          </a:prstGeom>
          <a:noFill/>
        </p:spPr>
        <p:txBody>
          <a:bodyPr wrap="square" lIns="0" rIns="0" tIns="0" bIns="0">
            <a:spAutoFit/>
          </a:bodyPr>
          <a:lstStyle/>
          <a:p>
            <a:pPr algn="l">
              <a:spcBef>
                <a:spcPts val="0"/>
              </a:spcBef>
              <a:spcAft>
                <a:spcPts val="1600"/>
              </a:spcAft>
            </a:pPr>
            <a:r>
              <a:rPr sz="1300" b="1" i="0">
                <a:solidFill>
                  <a:srgbClr val="C2411F"/>
                </a:solidFill>
                <a:latin typeface="Segoe UI"/>
              </a:rPr>
              <a:t>VOICE OF THE CUSTOMER INSIGHTS</a:t>
            </a:r>
          </a:p>
          <a:p>
            <a:pPr algn="l">
              <a:spcBef>
                <a:spcPts val="0"/>
              </a:spcBef>
              <a:spcAft>
                <a:spcPts val="1800"/>
              </a:spcAft>
            </a:pPr>
            <a:r>
              <a:rPr sz="4000" b="1" i="0">
                <a:solidFill>
                  <a:srgbClr val="14171C"/>
                </a:solidFill>
                <a:latin typeface="Segoe UI"/>
              </a:rPr>
              <a:t>Turning thousands of contact-centre
conversations into evidence-based insight</a:t>
            </a:r>
          </a:p>
          <a:p>
            <a:pPr algn="l">
              <a:spcBef>
                <a:spcPts val="0"/>
              </a:spcBef>
              <a:spcAft>
                <a:spcPts val="0"/>
              </a:spcAft>
            </a:pPr>
            <a:r>
              <a:rPr sz="1900" b="0" i="0">
                <a:solidFill>
                  <a:srgbClr val="6B7280"/>
                </a:solidFill>
                <a:latin typeface="Segoe UI"/>
              </a:rPr>
              <a:t>Agents do the reading. The server checks every number before you see it.</a:t>
            </a:r>
          </a:p>
        </p:txBody>
      </p:sp>
      <p:sp>
        <p:nvSpPr>
          <p:cNvPr id="4" name="TextBox 3"/>
          <p:cNvSpPr txBox="1"/>
          <p:nvPr/>
        </p:nvSpPr>
        <p:spPr>
          <a:xfrm>
            <a:off x="777240" y="6291072"/>
            <a:ext cx="10637215" cy="292608"/>
          </a:xfrm>
          <a:prstGeom prst="rect">
            <a:avLst/>
          </a:prstGeom>
          <a:noFill/>
        </p:spPr>
        <p:txBody>
          <a:bodyPr wrap="square" lIns="0" rIns="0" tIns="0" bIns="0">
            <a:spAutoFit/>
          </a:bodyPr>
          <a:lstStyle/>
          <a:p>
            <a:pPr algn="l">
              <a:spcBef>
                <a:spcPts val="0"/>
              </a:spcBef>
              <a:spcAft>
                <a:spcPts val="0"/>
              </a:spcAft>
            </a:pPr>
            <a:r>
              <a:rPr sz="1050" b="0" i="0">
                <a:solidFill>
                  <a:srgbClr val="6B7280"/>
                </a:solidFill>
                <a:latin typeface="Segoe UI"/>
              </a:rPr>
              <a:t>Working proof of concept  ·  4,425 real contacts  ·  24 months  ·  runs offline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THE PROBLEM</a:t>
            </a:r>
          </a:p>
          <a:p>
            <a:pPr algn="l">
              <a:spcBef>
                <a:spcPts val="0"/>
              </a:spcBef>
              <a:spcAft>
                <a:spcPts val="0"/>
              </a:spcAft>
            </a:pPr>
            <a:r>
              <a:rPr sz="3300" b="1" i="0">
                <a:solidFill>
                  <a:srgbClr val="14171C"/>
                </a:solidFill>
                <a:latin typeface="Segoe UI"/>
              </a:rPr>
              <a:t>Nobody reads the conversations</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2103120"/>
            <a:ext cx="10637215" cy="4114800"/>
          </a:xfrm>
          <a:prstGeom prst="rect">
            <a:avLst/>
          </a:prstGeom>
          <a:noFill/>
        </p:spPr>
        <p:txBody>
          <a:bodyPr wrap="square" lIns="0" rIns="0" tIns="0" bIns="0">
            <a:spAutoFit/>
          </a:bodyPr>
          <a:lstStyle/>
          <a:p>
            <a:pPr>
              <a:spcAft>
                <a:spcPts val="1300"/>
              </a:spcAft>
            </a:pPr>
            <a:r>
              <a:rPr sz="1700" b="1">
                <a:solidFill>
                  <a:srgbClr val="14171C"/>
                </a:solidFill>
                <a:latin typeface="Segoe UI"/>
              </a:rPr>
              <a:t>Volume beats attention.  </a:t>
            </a:r>
            <a:r>
              <a:rPr sz="1700">
                <a:solidFill>
                  <a:srgbClr val="6B7280"/>
                </a:solidFill>
                <a:latin typeface="Segoe UI"/>
              </a:rPr>
              <a:t>Thousands of calls a week. A person samples a handful, and the sample is whatever was easy to grab.</a:t>
            </a:r>
          </a:p>
          <a:p>
            <a:pPr>
              <a:spcAft>
                <a:spcPts val="1300"/>
              </a:spcAft>
            </a:pPr>
            <a:r>
              <a:rPr sz="1700" b="1">
                <a:solidFill>
                  <a:srgbClr val="14171C"/>
                </a:solidFill>
                <a:latin typeface="Segoe UI"/>
              </a:rPr>
              <a:t>Labels are not causes.  </a:t>
            </a:r>
            <a:r>
              <a:rPr sz="1700">
                <a:solidFill>
                  <a:srgbClr val="6B7280"/>
                </a:solidFill>
                <a:latin typeface="Segoe UI"/>
              </a:rPr>
              <a:t>A dropdown says "fee complaint". It never says the fee was charged although the deposit already showed as available.</a:t>
            </a:r>
          </a:p>
          <a:p>
            <a:pPr>
              <a:spcAft>
                <a:spcPts val="1300"/>
              </a:spcAft>
            </a:pPr>
            <a:r>
              <a:rPr sz="1700" b="1">
                <a:solidFill>
                  <a:srgbClr val="14171C"/>
                </a:solidFill>
                <a:latin typeface="Segoe UI"/>
              </a:rPr>
              <a:t>One problem arrives as a hundred problems.  </a:t>
            </a:r>
            <a:r>
              <a:rPr sz="1700">
                <a:solidFill>
                  <a:srgbClr val="6B7280"/>
                </a:solidFill>
                <a:latin typeface="Segoe UI"/>
              </a:rPr>
              <a:t>The same failure is described in a hundred different ways, so no keyword rule ever groups it and the volume stays invisible.</a:t>
            </a:r>
          </a:p>
          <a:p>
            <a:pPr>
              <a:spcAft>
                <a:spcPts val="1300"/>
              </a:spcAft>
            </a:pPr>
            <a:r>
              <a:rPr sz="1700" b="1">
                <a:solidFill>
                  <a:srgbClr val="14171C"/>
                </a:solidFill>
                <a:latin typeface="Segoe UI"/>
              </a:rPr>
              <a:t>By the time it is measurable, it is old.  </a:t>
            </a:r>
            <a:r>
              <a:rPr sz="1700">
                <a:solidFill>
                  <a:srgbClr val="6B7280"/>
                </a:solidFill>
                <a:latin typeface="Segoe UI"/>
              </a:rPr>
              <a:t>A theme that matters is small first. Monthly reporting finds it a quarter late.</a:t>
            </a:r>
          </a:p>
          <a:p>
            <a:pPr>
              <a:spcAft>
                <a:spcPts val="1300"/>
              </a:spcAft>
            </a:pPr>
            <a:r>
              <a:rPr sz="1700" b="1">
                <a:solidFill>
                  <a:srgbClr val="14171C"/>
                </a:solidFill>
                <a:latin typeface="Segoe UI"/>
              </a:rPr>
              <a:t>Numbers nobody can trace.  </a:t>
            </a:r>
            <a:r>
              <a:rPr sz="1700">
                <a:solidFill>
                  <a:srgbClr val="6B7280"/>
                </a:solidFill>
                <a:latin typeface="Segoe UI"/>
              </a:rPr>
              <a:t>A slide says 12%. Nobody in the room can open the calls behind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WHAT WE BUILT</a:t>
            </a:r>
          </a:p>
          <a:p>
            <a:pPr algn="l">
              <a:spcBef>
                <a:spcPts val="0"/>
              </a:spcBef>
              <a:spcAft>
                <a:spcPts val="0"/>
              </a:spcAft>
            </a:pPr>
            <a:r>
              <a:rPr sz="3300" b="1" i="0">
                <a:solidFill>
                  <a:srgbClr val="14171C"/>
                </a:solidFill>
                <a:latin typeface="Segoe UI"/>
              </a:rPr>
              <a:t>Five steps, all working on real data</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2103120"/>
            <a:ext cx="10637215" cy="4114800"/>
          </a:xfrm>
          <a:prstGeom prst="rect">
            <a:avLst/>
          </a:prstGeom>
          <a:noFill/>
        </p:spPr>
        <p:txBody>
          <a:bodyPr wrap="square" lIns="0" rIns="0" tIns="0" bIns="0">
            <a:spAutoFit/>
          </a:bodyPr>
          <a:lstStyle/>
          <a:p>
            <a:pPr>
              <a:spcAft>
                <a:spcPts val="1300"/>
              </a:spcAft>
            </a:pPr>
            <a:r>
              <a:rPr sz="1700" b="1">
                <a:solidFill>
                  <a:srgbClr val="14171C"/>
                </a:solidFill>
                <a:latin typeface="Segoe UI"/>
              </a:rPr>
              <a:t>1  Read every contact.  </a:t>
            </a:r>
            <a:r>
              <a:rPr sz="1700">
                <a:solidFill>
                  <a:srgbClr val="6B7280"/>
                </a:solidFill>
                <a:latin typeface="Segoe UI"/>
              </a:rPr>
              <a:t>Each one goes to Claude once and comes back as a fixed structure: reasons, products, topics with a sentiment each, the specific driver, and verbatim evidence.</a:t>
            </a:r>
          </a:p>
          <a:p>
            <a:pPr>
              <a:spcAft>
                <a:spcPts val="1300"/>
              </a:spcAft>
            </a:pPr>
            <a:r>
              <a:rPr sz="1700" b="1">
                <a:solidFill>
                  <a:srgbClr val="14171C"/>
                </a:solidFill>
                <a:latin typeface="Segoe UI"/>
              </a:rPr>
              <a:t>2  Connect to the collective.  </a:t>
            </a:r>
            <a:r>
              <a:rPr sz="1700">
                <a:solidFill>
                  <a:srgbClr val="6B7280"/>
                </a:solidFill>
                <a:latin typeface="Segoe UI"/>
              </a:rPr>
              <a:t>Differently-worded descriptions of the same experience are grouped into themes. One problem, one plausible cause, one team that could fix it.</a:t>
            </a:r>
          </a:p>
          <a:p>
            <a:pPr>
              <a:spcAft>
                <a:spcPts val="1300"/>
              </a:spcAft>
            </a:pPr>
            <a:r>
              <a:rPr sz="1700" b="1">
                <a:solidFill>
                  <a:srgbClr val="14171C"/>
                </a:solidFill>
                <a:latin typeface="Segoe UI"/>
              </a:rPr>
              <a:t>3  Watch the shape over time.  </a:t>
            </a:r>
            <a:r>
              <a:rPr sz="1700">
                <a:solidFill>
                  <a:srgbClr val="6B7280"/>
                </a:solidFill>
                <a:latin typeface="Segoe UI"/>
              </a:rPr>
              <a:t>Weekly counts with an emerging score, so a theme that is small but accelerating is flagged while it is still small.</a:t>
            </a:r>
          </a:p>
          <a:p>
            <a:pPr>
              <a:spcAft>
                <a:spcPts val="1300"/>
              </a:spcAft>
            </a:pPr>
            <a:r>
              <a:rPr sz="1700" b="1">
                <a:solidFill>
                  <a:srgbClr val="14171C"/>
                </a:solidFill>
                <a:latin typeface="Segoe UI"/>
              </a:rPr>
              <a:t>4  Answer plain-language questions.  </a:t>
            </a:r>
            <a:r>
              <a:rPr sz="1700">
                <a:solidFill>
                  <a:srgbClr val="6B7280"/>
                </a:solidFill>
                <a:latin typeface="Segoe UI"/>
              </a:rPr>
              <a:t>An agent picks what to pull from twelve read-only tools and submits a structured answer.</a:t>
            </a:r>
          </a:p>
          <a:p>
            <a:pPr>
              <a:spcAft>
                <a:spcPts val="1300"/>
              </a:spcAft>
            </a:pPr>
            <a:r>
              <a:rPr sz="1700" b="1">
                <a:solidFill>
                  <a:srgbClr val="14171C"/>
                </a:solidFill>
                <a:latin typeface="Segoe UI"/>
              </a:rPr>
              <a:t>5  Show evidence and confidence.  </a:t>
            </a:r>
            <a:r>
              <a:rPr sz="1700">
                <a:solidFill>
                  <a:srgbClr val="6B7280"/>
                </a:solidFill>
                <a:latin typeface="Segoe UI"/>
              </a:rPr>
              <a:t>Every claim traces to real calls. The server recounts it before it reaches the screen.</a:t>
            </a:r>
          </a:p>
        </p:txBody>
      </p:sp>
      <p:sp>
        <p:nvSpPr>
          <p:cNvPr id="5" name="TextBox 4"/>
          <p:cNvSpPr txBox="1"/>
          <p:nvPr/>
        </p:nvSpPr>
        <p:spPr>
          <a:xfrm>
            <a:off x="777240" y="6291072"/>
            <a:ext cx="10637215" cy="292608"/>
          </a:xfrm>
          <a:prstGeom prst="rect">
            <a:avLst/>
          </a:prstGeom>
          <a:noFill/>
        </p:spPr>
        <p:txBody>
          <a:bodyPr wrap="square" lIns="0" rIns="0" tIns="0" bIns="0">
            <a:spAutoFit/>
          </a:bodyPr>
          <a:lstStyle/>
          <a:p>
            <a:pPr algn="l">
              <a:spcBef>
                <a:spcPts val="0"/>
              </a:spcBef>
              <a:spcAft>
                <a:spcPts val="0"/>
              </a:spcAft>
            </a:pPr>
            <a:r>
              <a:rPr sz="1050" b="0" i="0">
                <a:solidFill>
                  <a:srgbClr val="6B7280"/>
                </a:solidFill>
                <a:latin typeface="Segoe UI"/>
              </a:rPr>
              <a:t>The briefing asked to prioritise the question-answering demo. It is the centre of the product.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THE DATA</a:t>
            </a:r>
          </a:p>
          <a:p>
            <a:pPr algn="l">
              <a:spcBef>
                <a:spcPts val="0"/>
              </a:spcBef>
              <a:spcAft>
                <a:spcPts val="0"/>
              </a:spcAft>
            </a:pPr>
            <a:r>
              <a:rPr sz="3300" b="1" i="0">
                <a:solidFill>
                  <a:srgbClr val="14171C"/>
                </a:solidFill>
                <a:latin typeface="Segoe UI"/>
              </a:rPr>
              <a:t>Real complaints, not a synthetic corpus</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2057400"/>
            <a:ext cx="10637215" cy="4160520"/>
          </a:xfrm>
          <a:prstGeom prst="rect">
            <a:avLst/>
          </a:prstGeom>
          <a:noFill/>
        </p:spPr>
        <p:txBody>
          <a:bodyPr wrap="square" lIns="0" rIns="0" tIns="0" bIns="0">
            <a:spAutoFit/>
          </a:bodyPr>
          <a:lstStyle/>
          <a:p>
            <a:pPr>
              <a:spcAft>
                <a:spcPts val="1300"/>
              </a:spcAft>
            </a:pPr>
            <a:r>
              <a:rPr sz="1700" b="1">
                <a:solidFill>
                  <a:srgbClr val="14171C"/>
                </a:solidFill>
                <a:latin typeface="Segoe UI"/>
              </a:rPr>
              <a:t>Source.  </a:t>
            </a:r>
            <a:r>
              <a:rPr sz="1700">
                <a:solidFill>
                  <a:srgbClr val="6B7280"/>
                </a:solidFill>
                <a:latin typeface="Segoe UI"/>
              </a:rPr>
              <a:t>Consumer complaint narratives about one large US bank, pulled live from the US regulator's public database. Every record was written by a real person who consented to publication.</a:t>
            </a:r>
          </a:p>
          <a:p>
            <a:pPr>
              <a:spcAft>
                <a:spcPts val="1300"/>
              </a:spcAft>
            </a:pPr>
            <a:r>
              <a:rPr sz="1700" b="1">
                <a:solidFill>
                  <a:srgbClr val="14171C"/>
                </a:solidFill>
                <a:latin typeface="Segoe UI"/>
              </a:rPr>
              <a:t>Sampling.  </a:t>
            </a:r>
            <a:r>
              <a:rPr sz="1700">
                <a:solidFill>
                  <a:srgbClr val="6B7280"/>
                </a:solidFill>
                <a:latin typeface="Segoe UI"/>
              </a:rPr>
              <a:t>A constant 25.25% of that bank's eligible narratives per month, fixed seed, hash-based. Month-to-month movement is the real shape of the intake, not an artefact of sampling.</a:t>
            </a:r>
          </a:p>
          <a:p>
            <a:pPr>
              <a:spcAft>
                <a:spcPts val="1300"/>
              </a:spcAft>
            </a:pPr>
            <a:r>
              <a:rPr sz="1700" b="1">
                <a:solidFill>
                  <a:srgbClr val="14171C"/>
                </a:solidFill>
                <a:latin typeface="Segoe UI"/>
              </a:rPr>
              <a:t>Size chosen by a gate, not a guess.  </a:t>
            </a:r>
            <a:r>
              <a:rPr sz="1700">
                <a:solidFill>
                  <a:srgbClr val="6B7280"/>
                </a:solidFill>
                <a:latin typeface="Segoe UI"/>
              </a:rPr>
              <a:t>At least 30 sampled contacts in 90% of weeks, two products and two segments with real volume, every month present. 4,000 failed the weekly gate. 4,425 passes.</a:t>
            </a:r>
          </a:p>
        </p:txBody>
      </p:sp>
      <p:sp>
        <p:nvSpPr>
          <p:cNvPr id="5" name="Rectangle 4"/>
          <p:cNvSpPr/>
          <p:nvPr/>
        </p:nvSpPr>
        <p:spPr>
          <a:xfrm>
            <a:off x="777240" y="4617720"/>
            <a:ext cx="1907987" cy="118872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4,425</a:t>
            </a:r>
          </a:p>
          <a:p>
            <a:pPr algn="ctr">
              <a:spcBef>
                <a:spcPts val="0"/>
              </a:spcBef>
              <a:spcAft>
                <a:spcPts val="0"/>
              </a:spcAft>
            </a:pPr>
            <a:r>
              <a:rPr sz="1150" b="0" i="0">
                <a:solidFill>
                  <a:srgbClr val="6B7280"/>
                </a:solidFill>
                <a:latin typeface="Segoe UI"/>
              </a:rPr>
              <a:t>contacts read</a:t>
            </a:r>
          </a:p>
        </p:txBody>
      </p:sp>
      <p:sp>
        <p:nvSpPr>
          <p:cNvPr id="6" name="Rectangle 5"/>
          <p:cNvSpPr/>
          <p:nvPr/>
        </p:nvSpPr>
        <p:spPr>
          <a:xfrm>
            <a:off x="2959547" y="4617720"/>
            <a:ext cx="1907987" cy="118872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24</a:t>
            </a:r>
          </a:p>
          <a:p>
            <a:pPr algn="ctr">
              <a:spcBef>
                <a:spcPts val="0"/>
              </a:spcBef>
              <a:spcAft>
                <a:spcPts val="0"/>
              </a:spcAft>
            </a:pPr>
            <a:r>
              <a:rPr sz="1150" b="0" i="0">
                <a:solidFill>
                  <a:srgbClr val="6B7280"/>
                </a:solidFill>
                <a:latin typeface="Segoe UI"/>
              </a:rPr>
              <a:t>months</a:t>
            </a:r>
          </a:p>
        </p:txBody>
      </p:sp>
      <p:sp>
        <p:nvSpPr>
          <p:cNvPr id="7" name="Rectangle 6"/>
          <p:cNvSpPr/>
          <p:nvPr/>
        </p:nvSpPr>
        <p:spPr>
          <a:xfrm>
            <a:off x="5141854" y="4617720"/>
            <a:ext cx="1907987" cy="118872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1</a:t>
            </a:r>
          </a:p>
          <a:p>
            <a:pPr algn="ctr">
              <a:spcBef>
                <a:spcPts val="0"/>
              </a:spcBef>
              <a:spcAft>
                <a:spcPts val="0"/>
              </a:spcAft>
            </a:pPr>
            <a:r>
              <a:rPr sz="1150" b="0" i="0">
                <a:solidFill>
                  <a:srgbClr val="6B7280"/>
                </a:solidFill>
                <a:latin typeface="Segoe UI"/>
              </a:rPr>
              <a:t>bank</a:t>
            </a:r>
          </a:p>
        </p:txBody>
      </p:sp>
      <p:sp>
        <p:nvSpPr>
          <p:cNvPr id="8" name="Rectangle 7"/>
          <p:cNvSpPr/>
          <p:nvPr/>
        </p:nvSpPr>
        <p:spPr>
          <a:xfrm>
            <a:off x="7324161" y="4617720"/>
            <a:ext cx="1907987" cy="118872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25.25%</a:t>
            </a:r>
          </a:p>
          <a:p>
            <a:pPr algn="ctr">
              <a:spcBef>
                <a:spcPts val="0"/>
              </a:spcBef>
              <a:spcAft>
                <a:spcPts val="0"/>
              </a:spcAft>
            </a:pPr>
            <a:r>
              <a:rPr sz="1150" b="0" i="0">
                <a:solidFill>
                  <a:srgbClr val="6B7280"/>
                </a:solidFill>
                <a:latin typeface="Segoe UI"/>
              </a:rPr>
              <a:t>constant sample</a:t>
            </a:r>
          </a:p>
        </p:txBody>
      </p:sp>
      <p:sp>
        <p:nvSpPr>
          <p:cNvPr id="9" name="Rectangle 8"/>
          <p:cNvSpPr/>
          <p:nvPr/>
        </p:nvSpPr>
        <p:spPr>
          <a:xfrm>
            <a:off x="9506468" y="4617720"/>
            <a:ext cx="1907987" cy="118872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0</a:t>
            </a:r>
          </a:p>
          <a:p>
            <a:pPr algn="ctr">
              <a:spcBef>
                <a:spcPts val="0"/>
              </a:spcBef>
              <a:spcAft>
                <a:spcPts val="0"/>
              </a:spcAft>
            </a:pPr>
            <a:r>
              <a:rPr sz="1150" b="0" i="0">
                <a:solidFill>
                  <a:srgbClr val="6B7280"/>
                </a:solidFill>
                <a:latin typeface="Segoe UI"/>
              </a:rPr>
              <a:t>synthetic records</a:t>
            </a:r>
          </a:p>
        </p:txBody>
      </p:sp>
      <p:sp>
        <p:nvSpPr>
          <p:cNvPr id="10" name="TextBox 9"/>
          <p:cNvSpPr txBox="1"/>
          <p:nvPr/>
        </p:nvSpPr>
        <p:spPr>
          <a:xfrm>
            <a:off x="777240" y="6291072"/>
            <a:ext cx="10637215" cy="292608"/>
          </a:xfrm>
          <a:prstGeom prst="rect">
            <a:avLst/>
          </a:prstGeom>
          <a:noFill/>
        </p:spPr>
        <p:txBody>
          <a:bodyPr wrap="square" lIns="0" rIns="0" tIns="0" bIns="0">
            <a:spAutoFit/>
          </a:bodyPr>
          <a:lstStyle/>
          <a:p>
            <a:pPr algn="l">
              <a:spcBef>
                <a:spcPts val="0"/>
              </a:spcBef>
              <a:spcAft>
                <a:spcPts val="0"/>
              </a:spcAft>
            </a:pPr>
            <a:r>
              <a:rPr sz="1050" b="0" i="0">
                <a:solidFill>
                  <a:srgbClr val="6B7280"/>
                </a:solidFill>
                <a:latin typeface="Segoe UI"/>
              </a:rPr>
              <a:t>Honest caveat, stated in the product: complaint dates are when the regulator received them, which lags the contact by days to weeks.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STEP 1 · READ EVERY CALL</a:t>
            </a:r>
          </a:p>
          <a:p>
            <a:pPr algn="l">
              <a:spcBef>
                <a:spcPts val="0"/>
              </a:spcBef>
              <a:spcAft>
                <a:spcPts val="0"/>
              </a:spcAft>
            </a:pPr>
            <a:r>
              <a:rPr sz="3300" b="1" i="0">
                <a:solidFill>
                  <a:srgbClr val="14171C"/>
                </a:solidFill>
                <a:latin typeface="Segoe UI"/>
              </a:rPr>
              <a:t>A consistent structure, not a summary</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2057400"/>
            <a:ext cx="10637215" cy="4160520"/>
          </a:xfrm>
          <a:prstGeom prst="rect">
            <a:avLst/>
          </a:prstGeom>
          <a:noFill/>
        </p:spPr>
        <p:txBody>
          <a:bodyPr wrap="square" lIns="0" rIns="0" tIns="0" bIns="0">
            <a:spAutoFit/>
          </a:bodyPr>
          <a:lstStyle/>
          <a:p>
            <a:pPr>
              <a:spcAft>
                <a:spcPts val="1300"/>
              </a:spcAft>
            </a:pPr>
            <a:r>
              <a:rPr sz="1700" b="1">
                <a:solidFill>
                  <a:srgbClr val="14171C"/>
                </a:solidFill>
                <a:latin typeface="Segoe UI"/>
              </a:rPr>
              <a:t>What comes back per contact.  </a:t>
            </a:r>
            <a:r>
              <a:rPr sz="1700">
                <a:solidFill>
                  <a:srgbClr val="6B7280"/>
                </a:solidFill>
                <a:latin typeface="Segoe UI"/>
              </a:rPr>
              <a:t>Contact reasons from a small taxonomy plus the reason in the customer's own words, products, topics each with a sentiment from -2 to +2, the specific driver of that feeling, verbatim evidence quotes with character offsets, and what the customer asked for.</a:t>
            </a:r>
          </a:p>
          <a:p>
            <a:pPr>
              <a:spcAft>
                <a:spcPts val="1300"/>
              </a:spcAft>
            </a:pPr>
            <a:r>
              <a:rPr sz="1700" b="1">
                <a:solidFill>
                  <a:srgbClr val="14171C"/>
                </a:solidFill>
                <a:latin typeface="Segoe UI"/>
              </a:rPr>
              <a:t>The form's own labels are deliberately withheld.  </a:t>
            </a:r>
            <a:r>
              <a:rPr sz="1700">
                <a:solidFill>
                  <a:srgbClr val="6B7280"/>
                </a:solidFill>
                <a:latin typeface="Segoe UI"/>
              </a:rPr>
              <a:t>The regulator's product and issue fields never reach the extractor. Feeding them in would bias the reading toward the dropdown, which is the exact failure we are trying to solve, and would destroy our only free quality measure.</a:t>
            </a:r>
          </a:p>
        </p:txBody>
      </p:sp>
      <p:sp>
        <p:nvSpPr>
          <p:cNvPr id="5" name="Rectangle 4"/>
          <p:cNvSpPr/>
          <p:nvPr/>
        </p:nvSpPr>
        <p:spPr>
          <a:xfrm>
            <a:off x="777240" y="4526280"/>
            <a:ext cx="1907987" cy="132588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99.7%</a:t>
            </a:r>
          </a:p>
          <a:p>
            <a:pPr algn="ctr">
              <a:spcBef>
                <a:spcPts val="0"/>
              </a:spcBef>
              <a:spcAft>
                <a:spcPts val="0"/>
              </a:spcAft>
            </a:pPr>
            <a:r>
              <a:rPr sz="1150" b="0" i="0">
                <a:solidFill>
                  <a:srgbClr val="6B7280"/>
                </a:solidFill>
                <a:latin typeface="Segoe UI"/>
              </a:rPr>
              <a:t>quotes verify as exact
substrings of the source</a:t>
            </a:r>
          </a:p>
        </p:txBody>
      </p:sp>
      <p:sp>
        <p:nvSpPr>
          <p:cNvPr id="6" name="Rectangle 5"/>
          <p:cNvSpPr/>
          <p:nvPr/>
        </p:nvSpPr>
        <p:spPr>
          <a:xfrm>
            <a:off x="2959547" y="4526280"/>
            <a:ext cx="1907987" cy="132588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0</a:t>
            </a:r>
          </a:p>
          <a:p>
            <a:pPr algn="ctr">
              <a:spcBef>
                <a:spcPts val="0"/>
              </a:spcBef>
              <a:spcAft>
                <a:spcPts val="0"/>
              </a:spcAft>
            </a:pPr>
            <a:r>
              <a:rPr sz="1150" b="0" i="0">
                <a:solidFill>
                  <a:srgbClr val="6B7280"/>
                </a:solidFill>
                <a:latin typeface="Segoe UI"/>
              </a:rPr>
              <a:t>validation errors
in 4,425 readings</a:t>
            </a:r>
          </a:p>
        </p:txBody>
      </p:sp>
      <p:sp>
        <p:nvSpPr>
          <p:cNvPr id="7" name="Rectangle 6"/>
          <p:cNvSpPr/>
          <p:nvPr/>
        </p:nvSpPr>
        <p:spPr>
          <a:xfrm>
            <a:off x="5141854" y="4526280"/>
            <a:ext cx="1907987" cy="132588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1.32</a:t>
            </a:r>
          </a:p>
          <a:p>
            <a:pPr algn="ctr">
              <a:spcBef>
                <a:spcPts val="0"/>
              </a:spcBef>
              <a:spcAft>
                <a:spcPts val="0"/>
              </a:spcAft>
            </a:pPr>
            <a:r>
              <a:rPr sz="1150" b="0" i="0">
                <a:solidFill>
                  <a:srgbClr val="6B7280"/>
                </a:solidFill>
                <a:latin typeface="Segoe UI"/>
              </a:rPr>
              <a:t>topics per contact</a:t>
            </a:r>
          </a:p>
        </p:txBody>
      </p:sp>
      <p:sp>
        <p:nvSpPr>
          <p:cNvPr id="8" name="Rectangle 7"/>
          <p:cNvSpPr/>
          <p:nvPr/>
        </p:nvSpPr>
        <p:spPr>
          <a:xfrm>
            <a:off x="7324161" y="4526280"/>
            <a:ext cx="1907987" cy="132588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1.3%</a:t>
            </a:r>
          </a:p>
          <a:p>
            <a:pPr algn="ctr">
              <a:spcBef>
                <a:spcPts val="0"/>
              </a:spcBef>
              <a:spcAft>
                <a:spcPts val="0"/>
              </a:spcAft>
            </a:pPr>
            <a:r>
              <a:rPr sz="1150" b="0" i="0">
                <a:solidFill>
                  <a:srgbClr val="6B7280"/>
                </a:solidFill>
                <a:latin typeface="Segoe UI"/>
              </a:rPr>
              <a:t>abstained rather
than guessed</a:t>
            </a:r>
          </a:p>
        </p:txBody>
      </p:sp>
      <p:sp>
        <p:nvSpPr>
          <p:cNvPr id="9" name="Rectangle 8"/>
          <p:cNvSpPr/>
          <p:nvPr/>
        </p:nvSpPr>
        <p:spPr>
          <a:xfrm>
            <a:off x="9506468" y="4526280"/>
            <a:ext cx="1907987" cy="132588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97.2%</a:t>
            </a:r>
          </a:p>
          <a:p>
            <a:pPr algn="ctr">
              <a:spcBef>
                <a:spcPts val="0"/>
              </a:spcBef>
              <a:spcAft>
                <a:spcPts val="0"/>
              </a:spcAft>
            </a:pPr>
            <a:r>
              <a:rPr sz="1150" b="0" i="0">
                <a:solidFill>
                  <a:srgbClr val="6B7280"/>
                </a:solidFill>
                <a:latin typeface="Segoe UI"/>
              </a:rPr>
              <a:t>negative, as a complaint
corpus should be</a:t>
            </a:r>
          </a:p>
        </p:txBody>
      </p:sp>
      <p:sp>
        <p:nvSpPr>
          <p:cNvPr id="10" name="TextBox 9"/>
          <p:cNvSpPr txBox="1"/>
          <p:nvPr/>
        </p:nvSpPr>
        <p:spPr>
          <a:xfrm>
            <a:off x="777240" y="6291072"/>
            <a:ext cx="10637215" cy="292608"/>
          </a:xfrm>
          <a:prstGeom prst="rect">
            <a:avLst/>
          </a:prstGeom>
          <a:noFill/>
        </p:spPr>
        <p:txBody>
          <a:bodyPr wrap="square" lIns="0" rIns="0" tIns="0" bIns="0">
            <a:spAutoFit/>
          </a:bodyPr>
          <a:lstStyle/>
          <a:p>
            <a:pPr algn="l">
              <a:spcBef>
                <a:spcPts val="0"/>
              </a:spcBef>
              <a:spcAft>
                <a:spcPts val="0"/>
              </a:spcAft>
            </a:pPr>
            <a:r>
              <a:rPr sz="1050" b="0" i="0">
                <a:solidFill>
                  <a:srgbClr val="6B7280"/>
                </a:solidFill>
                <a:latin typeface="Segoe UI"/>
              </a:rPr>
              <a:t>A quote that is not an exact substring never reaches the interface, a tool result, or the agent.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STEP 2 · CONNECT TO THE COLLECTIVE</a:t>
            </a:r>
          </a:p>
          <a:p>
            <a:pPr algn="l">
              <a:spcBef>
                <a:spcPts val="0"/>
              </a:spcBef>
              <a:spcAft>
                <a:spcPts val="0"/>
              </a:spcAft>
            </a:pPr>
            <a:r>
              <a:rPr sz="3300" b="1" i="0">
                <a:solidFill>
                  <a:srgbClr val="14171C"/>
                </a:solidFill>
                <a:latin typeface="Segoe UI"/>
              </a:rPr>
              <a:t>Many complaints become one problem</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2057400"/>
            <a:ext cx="10637215" cy="4160520"/>
          </a:xfrm>
          <a:prstGeom prst="rect">
            <a:avLst/>
          </a:prstGeom>
          <a:noFill/>
        </p:spPr>
        <p:txBody>
          <a:bodyPr wrap="square" lIns="0" rIns="0" tIns="0" bIns="0">
            <a:spAutoFit/>
          </a:bodyPr>
          <a:lstStyle/>
          <a:p>
            <a:pPr>
              <a:spcAft>
                <a:spcPts val="1300"/>
              </a:spcAft>
            </a:pPr>
            <a:r>
              <a:rPr sz="1700" b="1">
                <a:solidFill>
                  <a:srgbClr val="14171C"/>
                </a:solidFill>
                <a:latin typeface="Segoe UI"/>
              </a:rPr>
              <a:t>Four passes.  </a:t>
            </a:r>
            <a:r>
              <a:rPr sz="1700">
                <a:solidFill>
                  <a:srgbClr val="6B7280"/>
                </a:solidFill>
                <a:latin typeface="Segoe UI"/>
              </a:rPr>
              <a:t>Seed a registry inside each driver category, consolidate near-duplicates through an audit trail that never deletes membership, rewrite every name so it alone tells a product owner what the problem is, then re-assign every statement against the frozen registry.</a:t>
            </a:r>
          </a:p>
          <a:p>
            <a:pPr>
              <a:spcAft>
                <a:spcPts val="1300"/>
              </a:spcAft>
            </a:pPr>
            <a:r>
              <a:rPr sz="1700" b="1">
                <a:solidFill>
                  <a:srgbClr val="14171C"/>
                </a:solidFill>
                <a:latin typeface="Segoe UI"/>
              </a:rPr>
              <a:t>Measured, not asserted.  </a:t>
            </a:r>
            <a:r>
              <a:rPr sz="1700">
                <a:solidFill>
                  <a:srgbClr val="6B7280"/>
                </a:solidFill>
                <a:latin typeface="Segoe UI"/>
              </a:rPr>
              <a:t>Re-judging a 10% sample independently agreed with the original assignment 88.1% of the time. 781 statements fit nothing and were left unplaced rather than forced; they count in every total but are never ranked or flagged.</a:t>
            </a:r>
          </a:p>
        </p:txBody>
      </p:sp>
      <p:sp>
        <p:nvSpPr>
          <p:cNvPr id="5" name="Rectangle 4"/>
          <p:cNvSpPr/>
          <p:nvPr/>
        </p:nvSpPr>
        <p:spPr>
          <a:xfrm>
            <a:off x="777240" y="4480560"/>
            <a:ext cx="1907987" cy="128016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5,827</a:t>
            </a:r>
          </a:p>
          <a:p>
            <a:pPr algn="ctr">
              <a:spcBef>
                <a:spcPts val="0"/>
              </a:spcBef>
              <a:spcAft>
                <a:spcPts val="0"/>
              </a:spcAft>
            </a:pPr>
            <a:r>
              <a:rPr sz="1150" b="0" i="0">
                <a:solidFill>
                  <a:srgbClr val="6B7280"/>
                </a:solidFill>
                <a:latin typeface="Segoe UI"/>
              </a:rPr>
              <a:t>issue statements</a:t>
            </a:r>
          </a:p>
        </p:txBody>
      </p:sp>
      <p:sp>
        <p:nvSpPr>
          <p:cNvPr id="6" name="Rectangle 5"/>
          <p:cNvSpPr/>
          <p:nvPr/>
        </p:nvSpPr>
        <p:spPr>
          <a:xfrm>
            <a:off x="2959547" y="4480560"/>
            <a:ext cx="1907987" cy="128016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4</a:t>
            </a:r>
          </a:p>
          <a:p>
            <a:pPr algn="ctr">
              <a:spcBef>
                <a:spcPts val="0"/>
              </a:spcBef>
              <a:spcAft>
                <a:spcPts val="0"/>
              </a:spcAft>
            </a:pPr>
            <a:r>
              <a:rPr sz="1150" b="0" i="0">
                <a:solidFill>
                  <a:srgbClr val="6B7280"/>
                </a:solidFill>
                <a:latin typeface="Segoe UI"/>
              </a:rPr>
              <a:t>grouping passes</a:t>
            </a:r>
          </a:p>
        </p:txBody>
      </p:sp>
      <p:sp>
        <p:nvSpPr>
          <p:cNvPr id="7" name="Rectangle 6"/>
          <p:cNvSpPr/>
          <p:nvPr/>
        </p:nvSpPr>
        <p:spPr>
          <a:xfrm>
            <a:off x="5141854" y="4480560"/>
            <a:ext cx="1907987" cy="128016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128</a:t>
            </a:r>
          </a:p>
          <a:p>
            <a:pPr algn="ctr">
              <a:spcBef>
                <a:spcPts val="0"/>
              </a:spcBef>
              <a:spcAft>
                <a:spcPts val="0"/>
              </a:spcAft>
            </a:pPr>
            <a:r>
              <a:rPr sz="1150" b="0" i="0">
                <a:solidFill>
                  <a:srgbClr val="6B7280"/>
                </a:solidFill>
                <a:latin typeface="Segoe UI"/>
              </a:rPr>
              <a:t>themes</a:t>
            </a:r>
          </a:p>
        </p:txBody>
      </p:sp>
      <p:sp>
        <p:nvSpPr>
          <p:cNvPr id="8" name="Rectangle 7"/>
          <p:cNvSpPr/>
          <p:nvPr/>
        </p:nvSpPr>
        <p:spPr>
          <a:xfrm>
            <a:off x="7324161" y="4480560"/>
            <a:ext cx="1907987" cy="128016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1,478</a:t>
            </a:r>
          </a:p>
          <a:p>
            <a:pPr algn="ctr">
              <a:spcBef>
                <a:spcPts val="0"/>
              </a:spcBef>
              <a:spcAft>
                <a:spcPts val="0"/>
              </a:spcAft>
            </a:pPr>
            <a:r>
              <a:rPr sz="1150" b="0" i="0">
                <a:solidFill>
                  <a:srgbClr val="6B7280"/>
                </a:solidFill>
                <a:latin typeface="Segoe UI"/>
              </a:rPr>
              <a:t>distinct wordings</a:t>
            </a:r>
          </a:p>
        </p:txBody>
      </p:sp>
      <p:sp>
        <p:nvSpPr>
          <p:cNvPr id="9" name="Rectangle 8"/>
          <p:cNvSpPr/>
          <p:nvPr/>
        </p:nvSpPr>
        <p:spPr>
          <a:xfrm>
            <a:off x="9506468" y="4480560"/>
            <a:ext cx="1907987" cy="128016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0.881</a:t>
            </a:r>
          </a:p>
          <a:p>
            <a:pPr algn="ctr">
              <a:spcBef>
                <a:spcPts val="0"/>
              </a:spcBef>
              <a:spcAft>
                <a:spcPts val="0"/>
              </a:spcAft>
            </a:pPr>
            <a:r>
              <a:rPr sz="1150" b="0" i="0">
                <a:solidFill>
                  <a:srgbClr val="6B7280"/>
                </a:solidFill>
                <a:latin typeface="Segoe UI"/>
              </a:rPr>
              <a:t>re-judgement agreement</a:t>
            </a:r>
          </a:p>
        </p:txBody>
      </p:sp>
      <p:sp>
        <p:nvSpPr>
          <p:cNvPr id="10" name="TextBox 9"/>
          <p:cNvSpPr txBox="1"/>
          <p:nvPr/>
        </p:nvSpPr>
        <p:spPr>
          <a:xfrm>
            <a:off x="777240" y="6291072"/>
            <a:ext cx="10637215" cy="292608"/>
          </a:xfrm>
          <a:prstGeom prst="rect">
            <a:avLst/>
          </a:prstGeom>
          <a:noFill/>
        </p:spPr>
        <p:txBody>
          <a:bodyPr wrap="square" lIns="0" rIns="0" tIns="0" bIns="0">
            <a:spAutoFit/>
          </a:bodyPr>
          <a:lstStyle/>
          <a:p>
            <a:pPr algn="l">
              <a:spcBef>
                <a:spcPts val="0"/>
              </a:spcBef>
              <a:spcAft>
                <a:spcPts val="0"/>
              </a:spcAft>
            </a:pPr>
            <a:r>
              <a:rPr sz="1050" b="0" i="0">
                <a:solidFill>
                  <a:srgbClr val="6B7280"/>
                </a:solidFill>
                <a:latin typeface="Segoe UI"/>
              </a:rPr>
              <a:t>A theme is one problem, with one plausible cause, that one team could fix.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THE PAYOFF</a:t>
            </a:r>
          </a:p>
          <a:p>
            <a:pPr algn="l">
              <a:spcBef>
                <a:spcPts val="0"/>
              </a:spcBef>
              <a:spcAft>
                <a:spcPts val="0"/>
              </a:spcAft>
            </a:pPr>
            <a:r>
              <a:rPr sz="3300" b="1" i="0">
                <a:solidFill>
                  <a:srgbClr val="14171C"/>
                </a:solidFill>
                <a:latin typeface="Segoe UI"/>
              </a:rPr>
              <a:t>The same problem, in 397 different wordings</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1993392"/>
            <a:ext cx="10637215" cy="731520"/>
          </a:xfrm>
          <a:prstGeom prst="rect">
            <a:avLst/>
          </a:prstGeom>
          <a:noFill/>
        </p:spPr>
        <p:txBody>
          <a:bodyPr wrap="square" lIns="0" rIns="0" tIns="0" bIns="0">
            <a:spAutoFit/>
          </a:bodyPr>
          <a:lstStyle/>
          <a:p>
            <a:pPr algn="l">
              <a:spcBef>
                <a:spcPts val="0"/>
              </a:spcBef>
              <a:spcAft>
                <a:spcPts val="500"/>
              </a:spcAft>
            </a:pPr>
            <a:r>
              <a:rPr sz="2300" b="1" i="0">
                <a:solidFill>
                  <a:srgbClr val="14171C"/>
                </a:solidFill>
                <a:latin typeface="Segoe UI"/>
              </a:rPr>
              <a:t>Fraud dispute denied without reviewing the evidence</a:t>
            </a:r>
          </a:p>
          <a:p>
            <a:pPr algn="l">
              <a:spcBef>
                <a:spcPts val="0"/>
              </a:spcBef>
              <a:spcAft>
                <a:spcPts val="0"/>
              </a:spcAft>
            </a:pPr>
            <a:r>
              <a:rPr sz="1400" b="0" i="0">
                <a:solidFill>
                  <a:srgbClr val="6B7280"/>
                </a:solidFill>
                <a:latin typeface="Segoe UI"/>
              </a:rPr>
              <a:t>394 contacts  ·  397 distinct wordings  ·  6 products  ·  41 states  ·  8.9% of everything that came in</a:t>
            </a:r>
          </a:p>
        </p:txBody>
      </p:sp>
      <p:sp>
        <p:nvSpPr>
          <p:cNvPr id="5" name="Rectangle 4"/>
          <p:cNvSpPr/>
          <p:nvPr/>
        </p:nvSpPr>
        <p:spPr>
          <a:xfrm>
            <a:off x="777240" y="2944368"/>
            <a:ext cx="10637215" cy="713232"/>
          </a:xfrm>
          <a:prstGeom prst="rect">
            <a:avLst/>
          </a:prstGeom>
          <a:solidFill>
            <a:srgbClr val="FFFFFD"/>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spcBef>
                <a:spcPts val="0"/>
              </a:spcBef>
              <a:spcAft>
                <a:spcPts val="0"/>
              </a:spcAft>
            </a:pPr>
            <a:r>
              <a:rPr sz="1350" b="0" i="1">
                <a:solidFill>
                  <a:srgbClr val="14171C"/>
                </a:solidFill>
                <a:latin typeface="Segoe UI"/>
              </a:rPr>
              <a:t>“The bank told the customer that reviewing the ATM and drive-thru cameras that could confirm the deposit would require a lawyer and a court order.”</a:t>
            </a:r>
          </a:p>
        </p:txBody>
      </p:sp>
      <p:sp>
        <p:nvSpPr>
          <p:cNvPr id="6" name="Rectangle 5"/>
          <p:cNvSpPr/>
          <p:nvPr/>
        </p:nvSpPr>
        <p:spPr>
          <a:xfrm>
            <a:off x="777240" y="2944368"/>
            <a:ext cx="50292" cy="713232"/>
          </a:xfrm>
          <a:prstGeom prst="rect">
            <a:avLst/>
          </a:prstGeom>
          <a:solidFill>
            <a:srgbClr val="C24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3767328"/>
            <a:ext cx="10637215" cy="713232"/>
          </a:xfrm>
          <a:prstGeom prst="rect">
            <a:avLst/>
          </a:prstGeom>
          <a:solidFill>
            <a:srgbClr val="FFFFFD"/>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spcBef>
                <a:spcPts val="0"/>
              </a:spcBef>
              <a:spcAft>
                <a:spcPts val="0"/>
              </a:spcAft>
            </a:pPr>
            <a:r>
              <a:rPr sz="1350" b="0" i="1">
                <a:solidFill>
                  <a:srgbClr val="14171C"/>
                </a:solidFill>
                <a:latin typeface="Segoe UI"/>
              </a:rPr>
              <a:t>“$650.00 in unauthorized transactions were denied twice within about 48 hours each, based solely on a mistaken lost-card date entered in the app, without contacting the customer or the merchant.”</a:t>
            </a:r>
          </a:p>
        </p:txBody>
      </p:sp>
      <p:sp>
        <p:nvSpPr>
          <p:cNvPr id="8" name="Rectangle 7"/>
          <p:cNvSpPr/>
          <p:nvPr/>
        </p:nvSpPr>
        <p:spPr>
          <a:xfrm>
            <a:off x="777240" y="3767328"/>
            <a:ext cx="50292" cy="713232"/>
          </a:xfrm>
          <a:prstGeom prst="rect">
            <a:avLst/>
          </a:prstGeom>
          <a:solidFill>
            <a:srgbClr val="C24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590288"/>
            <a:ext cx="10637215" cy="713232"/>
          </a:xfrm>
          <a:prstGeom prst="rect">
            <a:avLst/>
          </a:prstGeom>
          <a:solidFill>
            <a:srgbClr val="FFFFFD"/>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spcBef>
                <a:spcPts val="0"/>
              </a:spcBef>
              <a:spcAft>
                <a:spcPts val="0"/>
              </a:spcAft>
            </a:pPr>
            <a:r>
              <a:rPr sz="1350" b="0" i="1">
                <a:solidFill>
                  <a:srgbClr val="14171C"/>
                </a:solidFill>
                <a:latin typeface="Segoe UI"/>
              </a:rPr>
              <a:t>“The claim's document upload process was unavailable until after the weekend, and by the time it became accessible the claim had already been closed.”</a:t>
            </a:r>
          </a:p>
        </p:txBody>
      </p:sp>
      <p:sp>
        <p:nvSpPr>
          <p:cNvPr id="10" name="Rectangle 9"/>
          <p:cNvSpPr/>
          <p:nvPr/>
        </p:nvSpPr>
        <p:spPr>
          <a:xfrm>
            <a:off x="777240" y="4590288"/>
            <a:ext cx="50292" cy="713232"/>
          </a:xfrm>
          <a:prstGeom prst="rect">
            <a:avLst/>
          </a:prstGeom>
          <a:solidFill>
            <a:srgbClr val="C24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532120"/>
            <a:ext cx="10637215" cy="640080"/>
          </a:xfrm>
          <a:prstGeom prst="rect">
            <a:avLst/>
          </a:prstGeom>
          <a:noFill/>
        </p:spPr>
        <p:txBody>
          <a:bodyPr wrap="square" lIns="0" rIns="0" tIns="0" bIns="0">
            <a:spAutoFit/>
          </a:bodyPr>
          <a:lstStyle/>
          <a:p>
            <a:pPr algn="l">
              <a:spcBef>
                <a:spcPts val="0"/>
              </a:spcBef>
              <a:spcAft>
                <a:spcPts val="0"/>
              </a:spcAft>
            </a:pPr>
            <a:r>
              <a:rPr sz="1500" b="1" i="0">
                <a:solidFill>
                  <a:srgbClr val="C2411F"/>
                </a:solidFill>
                <a:latin typeface="Segoe UI"/>
              </a:rPr>
              <a:t>Three real contacts. One cause. No shared phrase, so no keyword rule, tag list or canned disposition ever finds them together.</a:t>
            </a:r>
          </a:p>
        </p:txBody>
      </p:sp>
      <p:sp>
        <p:nvSpPr>
          <p:cNvPr id="12" name="TextBox 11"/>
          <p:cNvSpPr txBox="1"/>
          <p:nvPr/>
        </p:nvSpPr>
        <p:spPr>
          <a:xfrm>
            <a:off x="777240" y="6291072"/>
            <a:ext cx="10637215" cy="292608"/>
          </a:xfrm>
          <a:prstGeom prst="rect">
            <a:avLst/>
          </a:prstGeom>
          <a:noFill/>
        </p:spPr>
        <p:txBody>
          <a:bodyPr wrap="square" lIns="0" rIns="0" tIns="0" bIns="0">
            <a:spAutoFit/>
          </a:bodyPr>
          <a:lstStyle/>
          <a:p>
            <a:pPr algn="l">
              <a:spcBef>
                <a:spcPts val="0"/>
              </a:spcBef>
              <a:spcAft>
                <a:spcPts val="0"/>
              </a:spcAft>
            </a:pPr>
            <a:r>
              <a:rPr sz="1050" b="0" i="0">
                <a:solidFill>
                  <a:srgbClr val="6B7280"/>
                </a:solidFill>
                <a:latin typeface="Segoe UI"/>
              </a:rPr>
              <a:t>The ratio holds down the whole top ten: 397 wordings over 394 contacts at the top, 99 over 97 at the tenth.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WHAT THE READING FOUND</a:t>
            </a:r>
          </a:p>
          <a:p>
            <a:pPr algn="l">
              <a:spcBef>
                <a:spcPts val="0"/>
              </a:spcBef>
              <a:spcAft>
                <a:spcPts val="0"/>
              </a:spcAft>
            </a:pPr>
            <a:r>
              <a:rPr sz="3300" b="1" i="0">
                <a:solidFill>
                  <a:srgbClr val="14171C"/>
                </a:solidFill>
                <a:latin typeface="Segoe UI"/>
              </a:rPr>
              <a:t>Causes a team could act on, not tags</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777240" y="2148840"/>
            <a:ext cx="10607040" cy="347472"/>
          </a:xfrm>
          <a:prstGeom prst="rect">
            <a:avLst/>
          </a:prstGeom>
          <a:solidFill>
            <a:srgbClr val="EC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5256" y="2212848"/>
            <a:ext cx="6400800" cy="347472"/>
          </a:xfrm>
          <a:prstGeom prst="rect">
            <a:avLst/>
          </a:prstGeom>
          <a:noFill/>
        </p:spPr>
        <p:txBody>
          <a:bodyPr wrap="square" lIns="0" rIns="0" tIns="0" bIns="0">
            <a:spAutoFit/>
          </a:bodyPr>
          <a:lstStyle/>
          <a:p>
            <a:pPr algn="l">
              <a:spcBef>
                <a:spcPts val="0"/>
              </a:spcBef>
              <a:spcAft>
                <a:spcPts val="0"/>
              </a:spcAft>
            </a:pPr>
            <a:r>
              <a:rPr sz="1100" b="1" i="0">
                <a:solidFill>
                  <a:srgbClr val="6B7280"/>
                </a:solidFill>
                <a:latin typeface="Segoe UI"/>
              </a:rPr>
              <a:t>Theme</a:t>
            </a:r>
          </a:p>
        </p:txBody>
      </p:sp>
      <p:sp>
        <p:nvSpPr>
          <p:cNvPr id="6" name="TextBox 5"/>
          <p:cNvSpPr txBox="1"/>
          <p:nvPr/>
        </p:nvSpPr>
        <p:spPr>
          <a:xfrm>
            <a:off x="7488936" y="2212848"/>
            <a:ext cx="1188720" cy="347472"/>
          </a:xfrm>
          <a:prstGeom prst="rect">
            <a:avLst/>
          </a:prstGeom>
          <a:noFill/>
        </p:spPr>
        <p:txBody>
          <a:bodyPr wrap="square" lIns="0" rIns="0" tIns="0" bIns="0">
            <a:spAutoFit/>
          </a:bodyPr>
          <a:lstStyle/>
          <a:p>
            <a:pPr algn="l">
              <a:spcBef>
                <a:spcPts val="0"/>
              </a:spcBef>
              <a:spcAft>
                <a:spcPts val="0"/>
              </a:spcAft>
            </a:pPr>
            <a:r>
              <a:rPr sz="1100" b="1" i="0">
                <a:solidFill>
                  <a:srgbClr val="6B7280"/>
                </a:solidFill>
                <a:latin typeface="Segoe UI"/>
              </a:rPr>
              <a:t>Contacts</a:t>
            </a:r>
          </a:p>
        </p:txBody>
      </p:sp>
      <p:sp>
        <p:nvSpPr>
          <p:cNvPr id="7" name="TextBox 6"/>
          <p:cNvSpPr txBox="1"/>
          <p:nvPr/>
        </p:nvSpPr>
        <p:spPr>
          <a:xfrm>
            <a:off x="8860536" y="2212848"/>
            <a:ext cx="1188720" cy="347472"/>
          </a:xfrm>
          <a:prstGeom prst="rect">
            <a:avLst/>
          </a:prstGeom>
          <a:noFill/>
        </p:spPr>
        <p:txBody>
          <a:bodyPr wrap="square" lIns="0" rIns="0" tIns="0" bIns="0">
            <a:spAutoFit/>
          </a:bodyPr>
          <a:lstStyle/>
          <a:p>
            <a:pPr algn="l">
              <a:spcBef>
                <a:spcPts val="0"/>
              </a:spcBef>
              <a:spcAft>
                <a:spcPts val="0"/>
              </a:spcAft>
            </a:pPr>
            <a:r>
              <a:rPr sz="1100" b="1" i="0">
                <a:solidFill>
                  <a:srgbClr val="6B7280"/>
                </a:solidFill>
                <a:latin typeface="Segoe UI"/>
              </a:rPr>
              <a:t>Wordings</a:t>
            </a:r>
          </a:p>
        </p:txBody>
      </p:sp>
      <p:sp>
        <p:nvSpPr>
          <p:cNvPr id="8" name="TextBox 7"/>
          <p:cNvSpPr txBox="1"/>
          <p:nvPr/>
        </p:nvSpPr>
        <p:spPr>
          <a:xfrm>
            <a:off x="10232136" y="2212848"/>
            <a:ext cx="1097280" cy="347472"/>
          </a:xfrm>
          <a:prstGeom prst="rect">
            <a:avLst/>
          </a:prstGeom>
          <a:noFill/>
        </p:spPr>
        <p:txBody>
          <a:bodyPr wrap="square" lIns="0" rIns="0" tIns="0" bIns="0">
            <a:spAutoFit/>
          </a:bodyPr>
          <a:lstStyle/>
          <a:p>
            <a:pPr algn="l">
              <a:spcBef>
                <a:spcPts val="0"/>
              </a:spcBef>
              <a:spcAft>
                <a:spcPts val="0"/>
              </a:spcAft>
            </a:pPr>
            <a:r>
              <a:rPr sz="1100" b="1" i="0">
                <a:solidFill>
                  <a:srgbClr val="6B7280"/>
                </a:solidFill>
                <a:latin typeface="Segoe UI"/>
              </a:rPr>
              <a:t>Products</a:t>
            </a:r>
          </a:p>
        </p:txBody>
      </p:sp>
      <p:sp>
        <p:nvSpPr>
          <p:cNvPr id="9" name="Rectangle 8"/>
          <p:cNvSpPr/>
          <p:nvPr/>
        </p:nvSpPr>
        <p:spPr>
          <a:xfrm>
            <a:off x="777240" y="2496312"/>
            <a:ext cx="10607040" cy="347472"/>
          </a:xfrm>
          <a:prstGeom prst="rect">
            <a:avLst/>
          </a:prstGeom>
          <a:solidFill>
            <a:srgbClr val="FB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569464"/>
            <a:ext cx="6400800" cy="347472"/>
          </a:xfrm>
          <a:prstGeom prst="rect">
            <a:avLst/>
          </a:prstGeom>
          <a:noFill/>
        </p:spPr>
        <p:txBody>
          <a:bodyPr wrap="square" lIns="0" rIns="0" tIns="0" bIns="0">
            <a:spAutoFit/>
          </a:bodyPr>
          <a:lstStyle/>
          <a:p>
            <a:pPr algn="l">
              <a:spcBef>
                <a:spcPts val="0"/>
              </a:spcBef>
              <a:spcAft>
                <a:spcPts val="0"/>
              </a:spcAft>
            </a:pPr>
            <a:r>
              <a:rPr sz="1300" b="1" i="0">
                <a:solidFill>
                  <a:srgbClr val="C2411F"/>
                </a:solidFill>
                <a:latin typeface="Segoe UI"/>
              </a:rPr>
              <a:t>Fraud dispute denied without reviewing the evidence</a:t>
            </a:r>
          </a:p>
        </p:txBody>
      </p:sp>
      <p:sp>
        <p:nvSpPr>
          <p:cNvPr id="11" name="TextBox 10"/>
          <p:cNvSpPr txBox="1"/>
          <p:nvPr/>
        </p:nvSpPr>
        <p:spPr>
          <a:xfrm>
            <a:off x="7488936" y="2569464"/>
            <a:ext cx="118872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394</a:t>
            </a:r>
          </a:p>
        </p:txBody>
      </p:sp>
      <p:sp>
        <p:nvSpPr>
          <p:cNvPr id="12" name="TextBox 11"/>
          <p:cNvSpPr txBox="1"/>
          <p:nvPr/>
        </p:nvSpPr>
        <p:spPr>
          <a:xfrm>
            <a:off x="8860536" y="2569464"/>
            <a:ext cx="118872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397</a:t>
            </a:r>
          </a:p>
        </p:txBody>
      </p:sp>
      <p:sp>
        <p:nvSpPr>
          <p:cNvPr id="13" name="TextBox 12"/>
          <p:cNvSpPr txBox="1"/>
          <p:nvPr/>
        </p:nvSpPr>
        <p:spPr>
          <a:xfrm>
            <a:off x="10232136" y="2569464"/>
            <a:ext cx="109728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6</a:t>
            </a:r>
          </a:p>
        </p:txBody>
      </p:sp>
      <p:cxnSp>
        <p:nvCxnSpPr>
          <p:cNvPr id="14" name="Connector 13"/>
          <p:cNvCxnSpPr/>
          <p:nvPr/>
        </p:nvCxnSpPr>
        <p:spPr>
          <a:xfrm>
            <a:off x="777240" y="2843784"/>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05256" y="2916936"/>
            <a:ext cx="6400800" cy="347472"/>
          </a:xfrm>
          <a:prstGeom prst="rect">
            <a:avLst/>
          </a:prstGeom>
          <a:noFill/>
        </p:spPr>
        <p:txBody>
          <a:bodyPr wrap="square" lIns="0" rIns="0" tIns="0" bIns="0">
            <a:spAutoFit/>
          </a:bodyPr>
          <a:lstStyle/>
          <a:p>
            <a:pPr algn="l">
              <a:spcBef>
                <a:spcPts val="0"/>
              </a:spcBef>
              <a:spcAft>
                <a:spcPts val="0"/>
              </a:spcAft>
            </a:pPr>
            <a:r>
              <a:rPr sz="1300" b="0" i="0">
                <a:solidFill>
                  <a:srgbClr val="14171C"/>
                </a:solidFill>
                <a:latin typeface="Segoe UI"/>
              </a:rPr>
              <a:t>Account closed and the bank will not say why</a:t>
            </a:r>
          </a:p>
        </p:txBody>
      </p:sp>
      <p:sp>
        <p:nvSpPr>
          <p:cNvPr id="16" name="TextBox 15"/>
          <p:cNvSpPr txBox="1"/>
          <p:nvPr/>
        </p:nvSpPr>
        <p:spPr>
          <a:xfrm>
            <a:off x="7488936" y="2916936"/>
            <a:ext cx="118872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314</a:t>
            </a:r>
          </a:p>
        </p:txBody>
      </p:sp>
      <p:sp>
        <p:nvSpPr>
          <p:cNvPr id="17" name="TextBox 16"/>
          <p:cNvSpPr txBox="1"/>
          <p:nvPr/>
        </p:nvSpPr>
        <p:spPr>
          <a:xfrm>
            <a:off x="8860536" y="2916936"/>
            <a:ext cx="118872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320</a:t>
            </a:r>
          </a:p>
        </p:txBody>
      </p:sp>
      <p:sp>
        <p:nvSpPr>
          <p:cNvPr id="18" name="TextBox 17"/>
          <p:cNvSpPr txBox="1"/>
          <p:nvPr/>
        </p:nvSpPr>
        <p:spPr>
          <a:xfrm>
            <a:off x="10232136" y="2916936"/>
            <a:ext cx="109728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4</a:t>
            </a:r>
          </a:p>
        </p:txBody>
      </p:sp>
      <p:cxnSp>
        <p:nvCxnSpPr>
          <p:cNvPr id="19" name="Connector 18"/>
          <p:cNvCxnSpPr/>
          <p:nvPr/>
        </p:nvCxnSpPr>
        <p:spPr>
          <a:xfrm>
            <a:off x="777240" y="3191256"/>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05256" y="3264408"/>
            <a:ext cx="6400800" cy="347472"/>
          </a:xfrm>
          <a:prstGeom prst="rect">
            <a:avLst/>
          </a:prstGeom>
          <a:noFill/>
        </p:spPr>
        <p:txBody>
          <a:bodyPr wrap="square" lIns="0" rIns="0" tIns="0" bIns="0">
            <a:spAutoFit/>
          </a:bodyPr>
          <a:lstStyle/>
          <a:p>
            <a:pPr algn="l">
              <a:spcBef>
                <a:spcPts val="0"/>
              </a:spcBef>
              <a:spcAft>
                <a:spcPts val="0"/>
              </a:spcAft>
            </a:pPr>
            <a:r>
              <a:rPr sz="1300" b="0" i="0">
                <a:solidFill>
                  <a:srgbClr val="14171C"/>
                </a:solidFill>
                <a:latin typeface="Segoe UI"/>
              </a:rPr>
              <a:t>Processing mistake stays uncorrected after being reported</a:t>
            </a:r>
          </a:p>
        </p:txBody>
      </p:sp>
      <p:sp>
        <p:nvSpPr>
          <p:cNvPr id="21" name="TextBox 20"/>
          <p:cNvSpPr txBox="1"/>
          <p:nvPr/>
        </p:nvSpPr>
        <p:spPr>
          <a:xfrm>
            <a:off x="7488936" y="3264408"/>
            <a:ext cx="118872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226</a:t>
            </a:r>
          </a:p>
        </p:txBody>
      </p:sp>
      <p:sp>
        <p:nvSpPr>
          <p:cNvPr id="22" name="TextBox 21"/>
          <p:cNvSpPr txBox="1"/>
          <p:nvPr/>
        </p:nvSpPr>
        <p:spPr>
          <a:xfrm>
            <a:off x="8860536" y="3264408"/>
            <a:ext cx="118872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235</a:t>
            </a:r>
          </a:p>
        </p:txBody>
      </p:sp>
      <p:sp>
        <p:nvSpPr>
          <p:cNvPr id="23" name="TextBox 22"/>
          <p:cNvSpPr txBox="1"/>
          <p:nvPr/>
        </p:nvSpPr>
        <p:spPr>
          <a:xfrm>
            <a:off x="10232136" y="3264408"/>
            <a:ext cx="109728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7</a:t>
            </a:r>
          </a:p>
        </p:txBody>
      </p:sp>
      <p:cxnSp>
        <p:nvCxnSpPr>
          <p:cNvPr id="24" name="Connector 23"/>
          <p:cNvCxnSpPr/>
          <p:nvPr/>
        </p:nvCxnSpPr>
        <p:spPr>
          <a:xfrm>
            <a:off x="777240" y="3538728"/>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05256" y="3611880"/>
            <a:ext cx="6400800" cy="347472"/>
          </a:xfrm>
          <a:prstGeom prst="rect">
            <a:avLst/>
          </a:prstGeom>
          <a:noFill/>
        </p:spPr>
        <p:txBody>
          <a:bodyPr wrap="square" lIns="0" rIns="0" tIns="0" bIns="0">
            <a:spAutoFit/>
          </a:bodyPr>
          <a:lstStyle/>
          <a:p>
            <a:pPr algn="l">
              <a:spcBef>
                <a:spcPts val="0"/>
              </a:spcBef>
              <a:spcAft>
                <a:spcPts val="0"/>
              </a:spcAft>
            </a:pPr>
            <a:r>
              <a:rPr sz="1300" b="0" i="0">
                <a:solidFill>
                  <a:srgbClr val="14171C"/>
                </a:solidFill>
                <a:latin typeface="Segoe UI"/>
              </a:rPr>
              <a:t>Scam tricks the customer into sending the money</a:t>
            </a:r>
          </a:p>
        </p:txBody>
      </p:sp>
      <p:sp>
        <p:nvSpPr>
          <p:cNvPr id="26" name="TextBox 25"/>
          <p:cNvSpPr txBox="1"/>
          <p:nvPr/>
        </p:nvSpPr>
        <p:spPr>
          <a:xfrm>
            <a:off x="7488936" y="3611880"/>
            <a:ext cx="118872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214</a:t>
            </a:r>
          </a:p>
        </p:txBody>
      </p:sp>
      <p:sp>
        <p:nvSpPr>
          <p:cNvPr id="27" name="TextBox 26"/>
          <p:cNvSpPr txBox="1"/>
          <p:nvPr/>
        </p:nvSpPr>
        <p:spPr>
          <a:xfrm>
            <a:off x="8860536" y="3611880"/>
            <a:ext cx="118872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219</a:t>
            </a:r>
          </a:p>
        </p:txBody>
      </p:sp>
      <p:sp>
        <p:nvSpPr>
          <p:cNvPr id="28" name="TextBox 27"/>
          <p:cNvSpPr txBox="1"/>
          <p:nvPr/>
        </p:nvSpPr>
        <p:spPr>
          <a:xfrm>
            <a:off x="10232136" y="3611880"/>
            <a:ext cx="109728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5</a:t>
            </a:r>
          </a:p>
        </p:txBody>
      </p:sp>
      <p:cxnSp>
        <p:nvCxnSpPr>
          <p:cNvPr id="29" name="Connector 28"/>
          <p:cNvCxnSpPr/>
          <p:nvPr/>
        </p:nvCxnSpPr>
        <p:spPr>
          <a:xfrm>
            <a:off x="777240" y="3886200"/>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05256" y="3959352"/>
            <a:ext cx="6400800" cy="347472"/>
          </a:xfrm>
          <a:prstGeom prst="rect">
            <a:avLst/>
          </a:prstGeom>
          <a:noFill/>
        </p:spPr>
        <p:txBody>
          <a:bodyPr wrap="square" lIns="0" rIns="0" tIns="0" bIns="0">
            <a:spAutoFit/>
          </a:bodyPr>
          <a:lstStyle/>
          <a:p>
            <a:pPr algn="l">
              <a:spcBef>
                <a:spcPts val="0"/>
              </a:spcBef>
              <a:spcAft>
                <a:spcPts val="0"/>
              </a:spcAft>
            </a:pPr>
            <a:r>
              <a:rPr sz="1300" b="0" i="0">
                <a:solidFill>
                  <a:srgbClr val="14171C"/>
                </a:solidFill>
                <a:latin typeface="Segoe UI"/>
              </a:rPr>
              <a:t>Red flags and evidence of fraud are not acted on</a:t>
            </a:r>
          </a:p>
        </p:txBody>
      </p:sp>
      <p:sp>
        <p:nvSpPr>
          <p:cNvPr id="31" name="TextBox 30"/>
          <p:cNvSpPr txBox="1"/>
          <p:nvPr/>
        </p:nvSpPr>
        <p:spPr>
          <a:xfrm>
            <a:off x="7488936" y="3959352"/>
            <a:ext cx="118872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203</a:t>
            </a:r>
          </a:p>
        </p:txBody>
      </p:sp>
      <p:sp>
        <p:nvSpPr>
          <p:cNvPr id="32" name="TextBox 31"/>
          <p:cNvSpPr txBox="1"/>
          <p:nvPr/>
        </p:nvSpPr>
        <p:spPr>
          <a:xfrm>
            <a:off x="8860536" y="3959352"/>
            <a:ext cx="118872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205</a:t>
            </a:r>
          </a:p>
        </p:txBody>
      </p:sp>
      <p:sp>
        <p:nvSpPr>
          <p:cNvPr id="33" name="TextBox 32"/>
          <p:cNvSpPr txBox="1"/>
          <p:nvPr/>
        </p:nvSpPr>
        <p:spPr>
          <a:xfrm>
            <a:off x="10232136" y="3959352"/>
            <a:ext cx="109728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5</a:t>
            </a:r>
          </a:p>
        </p:txBody>
      </p:sp>
      <p:cxnSp>
        <p:nvCxnSpPr>
          <p:cNvPr id="34" name="Connector 33"/>
          <p:cNvCxnSpPr/>
          <p:nvPr/>
        </p:nvCxnSpPr>
        <p:spPr>
          <a:xfrm>
            <a:off x="777240" y="4233672"/>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77240" y="4572000"/>
            <a:ext cx="10637215" cy="1463040"/>
          </a:xfrm>
          <a:prstGeom prst="rect">
            <a:avLst/>
          </a:prstGeom>
          <a:noFill/>
        </p:spPr>
        <p:txBody>
          <a:bodyPr wrap="square" lIns="0" rIns="0" tIns="0" bIns="0">
            <a:spAutoFit/>
          </a:bodyPr>
          <a:lstStyle/>
          <a:p>
            <a:pPr algn="l">
              <a:spcBef>
                <a:spcPts val="0"/>
              </a:spcBef>
              <a:spcAft>
                <a:spcPts val="1000"/>
              </a:spcAft>
            </a:pPr>
            <a:r>
              <a:rPr sz="1900" b="1" i="0">
                <a:solidFill>
                  <a:srgbClr val="14171C"/>
                </a:solidFill>
                <a:latin typeface="Segoe UI"/>
              </a:rPr>
              <a:t>None of these exist as an option on a complaint form.</a:t>
            </a:r>
          </a:p>
          <a:p>
            <a:pPr algn="l">
              <a:spcBef>
                <a:spcPts val="0"/>
              </a:spcBef>
              <a:spcAft>
                <a:spcPts val="0"/>
              </a:spcAft>
            </a:pPr>
            <a:r>
              <a:rPr sz="1500" b="0" i="0">
                <a:solidFill>
                  <a:srgbClr val="6B7280"/>
                </a:solidFill>
                <a:latin typeface="Segoe UI"/>
              </a:rPr>
              <a:t>They read like work items because they name a mechanism: investigators closing cases on a narrow automated check instead of pulling the evidence; a back-office risk process the front line cannot see into; a reported error with no correction loop behind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STEP 3 · WATCH THE SHAPE OVER TIME</a:t>
            </a:r>
          </a:p>
          <a:p>
            <a:pPr algn="l">
              <a:spcBef>
                <a:spcPts val="0"/>
              </a:spcBef>
              <a:spcAft>
                <a:spcPts val="0"/>
              </a:spcAft>
            </a:pPr>
            <a:r>
              <a:rPr sz="3300" b="1" i="0">
                <a:solidFill>
                  <a:srgbClr val="14171C"/>
                </a:solidFill>
                <a:latin typeface="Segoe UI"/>
              </a:rPr>
              <a:t>Hear it while it is still small</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2011680"/>
            <a:ext cx="10637215" cy="731520"/>
          </a:xfrm>
          <a:prstGeom prst="rect">
            <a:avLst/>
          </a:prstGeom>
          <a:noFill/>
        </p:spPr>
        <p:txBody>
          <a:bodyPr wrap="square" lIns="0" rIns="0" tIns="0" bIns="0">
            <a:spAutoFit/>
          </a:bodyPr>
          <a:lstStyle/>
          <a:p>
            <a:pPr algn="l">
              <a:spcBef>
                <a:spcPts val="0"/>
              </a:spcBef>
              <a:spcAft>
                <a:spcPts val="0"/>
              </a:spcAft>
            </a:pPr>
            <a:r>
              <a:rPr sz="1500" b="0" i="0">
                <a:solidFill>
                  <a:srgbClr val="6B7280"/>
                </a:solidFill>
                <a:latin typeface="Segoe UI"/>
              </a:rPr>
              <a:t>Replaying one real theme week by week: “Claim investigation runs past its deadline with no status”</a:t>
            </a:r>
          </a:p>
        </p:txBody>
      </p:sp>
      <p:sp>
        <p:nvSpPr>
          <p:cNvPr id="5" name="Rectangle 4"/>
          <p:cNvSpPr/>
          <p:nvPr/>
        </p:nvSpPr>
        <p:spPr>
          <a:xfrm>
            <a:off x="777240" y="2606040"/>
            <a:ext cx="10607040" cy="347472"/>
          </a:xfrm>
          <a:prstGeom prst="rect">
            <a:avLst/>
          </a:prstGeom>
          <a:solidFill>
            <a:srgbClr val="EC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5256" y="2670048"/>
            <a:ext cx="1737360" cy="347472"/>
          </a:xfrm>
          <a:prstGeom prst="rect">
            <a:avLst/>
          </a:prstGeom>
          <a:noFill/>
        </p:spPr>
        <p:txBody>
          <a:bodyPr wrap="square" lIns="0" rIns="0" tIns="0" bIns="0">
            <a:spAutoFit/>
          </a:bodyPr>
          <a:lstStyle/>
          <a:p>
            <a:pPr algn="l">
              <a:spcBef>
                <a:spcPts val="0"/>
              </a:spcBef>
              <a:spcAft>
                <a:spcPts val="0"/>
              </a:spcAft>
            </a:pPr>
            <a:r>
              <a:rPr sz="1100" b="1" i="0">
                <a:solidFill>
                  <a:srgbClr val="6B7280"/>
                </a:solidFill>
                <a:latin typeface="Segoe UI"/>
              </a:rPr>
              <a:t>As-of week</a:t>
            </a:r>
          </a:p>
        </p:txBody>
      </p:sp>
      <p:sp>
        <p:nvSpPr>
          <p:cNvPr id="7" name="TextBox 6"/>
          <p:cNvSpPr txBox="1"/>
          <p:nvPr/>
        </p:nvSpPr>
        <p:spPr>
          <a:xfrm>
            <a:off x="2825496" y="2670048"/>
            <a:ext cx="1828800" cy="347472"/>
          </a:xfrm>
          <a:prstGeom prst="rect">
            <a:avLst/>
          </a:prstGeom>
          <a:noFill/>
        </p:spPr>
        <p:txBody>
          <a:bodyPr wrap="square" lIns="0" rIns="0" tIns="0" bIns="0">
            <a:spAutoFit/>
          </a:bodyPr>
          <a:lstStyle/>
          <a:p>
            <a:pPr algn="l">
              <a:spcBef>
                <a:spcPts val="0"/>
              </a:spcBef>
              <a:spcAft>
                <a:spcPts val="0"/>
              </a:spcAft>
            </a:pPr>
            <a:r>
              <a:rPr sz="1100" b="1" i="0">
                <a:solidFill>
                  <a:srgbClr val="6B7280"/>
                </a:solidFill>
                <a:latin typeface="Segoe UI"/>
              </a:rPr>
              <a:t>Recent 4 weeks</a:t>
            </a:r>
          </a:p>
        </p:txBody>
      </p:sp>
      <p:sp>
        <p:nvSpPr>
          <p:cNvPr id="8" name="TextBox 7"/>
          <p:cNvSpPr txBox="1"/>
          <p:nvPr/>
        </p:nvSpPr>
        <p:spPr>
          <a:xfrm>
            <a:off x="4837176" y="2670048"/>
            <a:ext cx="1371600" cy="347472"/>
          </a:xfrm>
          <a:prstGeom prst="rect">
            <a:avLst/>
          </a:prstGeom>
          <a:noFill/>
        </p:spPr>
        <p:txBody>
          <a:bodyPr wrap="square" lIns="0" rIns="0" tIns="0" bIns="0">
            <a:spAutoFit/>
          </a:bodyPr>
          <a:lstStyle/>
          <a:p>
            <a:pPr algn="l">
              <a:spcBef>
                <a:spcPts val="0"/>
              </a:spcBef>
              <a:spcAft>
                <a:spcPts val="0"/>
              </a:spcAft>
            </a:pPr>
            <a:r>
              <a:rPr sz="1100" b="1" i="0">
                <a:solidFill>
                  <a:srgbClr val="6B7280"/>
                </a:solidFill>
                <a:latin typeface="Segoe UI"/>
              </a:rPr>
              <a:t>Expected</a:t>
            </a:r>
          </a:p>
        </p:txBody>
      </p:sp>
      <p:sp>
        <p:nvSpPr>
          <p:cNvPr id="9" name="TextBox 8"/>
          <p:cNvSpPr txBox="1"/>
          <p:nvPr/>
        </p:nvSpPr>
        <p:spPr>
          <a:xfrm>
            <a:off x="6391656" y="2670048"/>
            <a:ext cx="1097280" cy="347472"/>
          </a:xfrm>
          <a:prstGeom prst="rect">
            <a:avLst/>
          </a:prstGeom>
          <a:noFill/>
        </p:spPr>
        <p:txBody>
          <a:bodyPr wrap="square" lIns="0" rIns="0" tIns="0" bIns="0">
            <a:spAutoFit/>
          </a:bodyPr>
          <a:lstStyle/>
          <a:p>
            <a:pPr algn="l">
              <a:spcBef>
                <a:spcPts val="0"/>
              </a:spcBef>
              <a:spcAft>
                <a:spcPts val="0"/>
              </a:spcAft>
            </a:pPr>
            <a:r>
              <a:rPr sz="1100" b="1" i="0">
                <a:solidFill>
                  <a:srgbClr val="6B7280"/>
                </a:solidFill>
                <a:latin typeface="Segoe UI"/>
              </a:rPr>
              <a:t>z</a:t>
            </a:r>
          </a:p>
        </p:txBody>
      </p:sp>
      <p:sp>
        <p:nvSpPr>
          <p:cNvPr id="10" name="TextBox 9"/>
          <p:cNvSpPr txBox="1"/>
          <p:nvPr/>
        </p:nvSpPr>
        <p:spPr>
          <a:xfrm>
            <a:off x="7671816" y="2670048"/>
            <a:ext cx="3657600" cy="347472"/>
          </a:xfrm>
          <a:prstGeom prst="rect">
            <a:avLst/>
          </a:prstGeom>
          <a:noFill/>
        </p:spPr>
        <p:txBody>
          <a:bodyPr wrap="square" lIns="0" rIns="0" tIns="0" bIns="0">
            <a:spAutoFit/>
          </a:bodyPr>
          <a:lstStyle/>
          <a:p>
            <a:pPr algn="l">
              <a:spcBef>
                <a:spcPts val="0"/>
              </a:spcBef>
              <a:spcAft>
                <a:spcPts val="0"/>
              </a:spcAft>
            </a:pPr>
            <a:r>
              <a:rPr sz="1100" b="1" i="0">
                <a:solidFill>
                  <a:srgbClr val="6B7280"/>
                </a:solidFill>
                <a:latin typeface="Segoe UI"/>
              </a:rPr>
              <a:t>Verdict</a:t>
            </a:r>
          </a:p>
        </p:txBody>
      </p:sp>
      <p:sp>
        <p:nvSpPr>
          <p:cNvPr id="11" name="TextBox 10"/>
          <p:cNvSpPr txBox="1"/>
          <p:nvPr/>
        </p:nvSpPr>
        <p:spPr>
          <a:xfrm>
            <a:off x="905256" y="3026664"/>
            <a:ext cx="1737360" cy="347472"/>
          </a:xfrm>
          <a:prstGeom prst="rect">
            <a:avLst/>
          </a:prstGeom>
          <a:noFill/>
        </p:spPr>
        <p:txBody>
          <a:bodyPr wrap="square" lIns="0" rIns="0" tIns="0" bIns="0">
            <a:spAutoFit/>
          </a:bodyPr>
          <a:lstStyle/>
          <a:p>
            <a:pPr algn="l">
              <a:spcBef>
                <a:spcPts val="0"/>
              </a:spcBef>
              <a:spcAft>
                <a:spcPts val="0"/>
              </a:spcAft>
            </a:pPr>
            <a:r>
              <a:rPr sz="1300" b="0" i="0">
                <a:solidFill>
                  <a:srgbClr val="14171C"/>
                </a:solidFill>
                <a:latin typeface="Segoe UI"/>
              </a:rPr>
              <a:t>2025-W38</a:t>
            </a:r>
          </a:p>
        </p:txBody>
      </p:sp>
      <p:sp>
        <p:nvSpPr>
          <p:cNvPr id="12" name="TextBox 11"/>
          <p:cNvSpPr txBox="1"/>
          <p:nvPr/>
        </p:nvSpPr>
        <p:spPr>
          <a:xfrm>
            <a:off x="2825496" y="3026664"/>
            <a:ext cx="182880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1</a:t>
            </a:r>
          </a:p>
        </p:txBody>
      </p:sp>
      <p:sp>
        <p:nvSpPr>
          <p:cNvPr id="13" name="TextBox 12"/>
          <p:cNvSpPr txBox="1"/>
          <p:nvPr/>
        </p:nvSpPr>
        <p:spPr>
          <a:xfrm>
            <a:off x="4837176" y="3026664"/>
            <a:ext cx="137160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3.2</a:t>
            </a:r>
          </a:p>
        </p:txBody>
      </p:sp>
      <p:sp>
        <p:nvSpPr>
          <p:cNvPr id="14" name="TextBox 13"/>
          <p:cNvSpPr txBox="1"/>
          <p:nvPr/>
        </p:nvSpPr>
        <p:spPr>
          <a:xfrm>
            <a:off x="6391656" y="3026664"/>
            <a:ext cx="109728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-1.14</a:t>
            </a:r>
          </a:p>
        </p:txBody>
      </p:sp>
      <p:sp>
        <p:nvSpPr>
          <p:cNvPr id="15" name="TextBox 14"/>
          <p:cNvSpPr txBox="1"/>
          <p:nvPr/>
        </p:nvSpPr>
        <p:spPr>
          <a:xfrm>
            <a:off x="7671816" y="3026664"/>
            <a:ext cx="365760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below threshold</a:t>
            </a:r>
          </a:p>
        </p:txBody>
      </p:sp>
      <p:cxnSp>
        <p:nvCxnSpPr>
          <p:cNvPr id="16" name="Connector 15"/>
          <p:cNvCxnSpPr/>
          <p:nvPr/>
        </p:nvCxnSpPr>
        <p:spPr>
          <a:xfrm>
            <a:off x="777240" y="3300984"/>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05256" y="3374136"/>
            <a:ext cx="1737360" cy="347472"/>
          </a:xfrm>
          <a:prstGeom prst="rect">
            <a:avLst/>
          </a:prstGeom>
          <a:noFill/>
        </p:spPr>
        <p:txBody>
          <a:bodyPr wrap="square" lIns="0" rIns="0" tIns="0" bIns="0">
            <a:spAutoFit/>
          </a:bodyPr>
          <a:lstStyle/>
          <a:p>
            <a:pPr algn="l">
              <a:spcBef>
                <a:spcPts val="0"/>
              </a:spcBef>
              <a:spcAft>
                <a:spcPts val="0"/>
              </a:spcAft>
            </a:pPr>
            <a:r>
              <a:rPr sz="1300" b="0" i="0">
                <a:solidFill>
                  <a:srgbClr val="14171C"/>
                </a:solidFill>
                <a:latin typeface="Segoe UI"/>
              </a:rPr>
              <a:t>2025-W39</a:t>
            </a:r>
          </a:p>
        </p:txBody>
      </p:sp>
      <p:sp>
        <p:nvSpPr>
          <p:cNvPr id="18" name="TextBox 17"/>
          <p:cNvSpPr txBox="1"/>
          <p:nvPr/>
        </p:nvSpPr>
        <p:spPr>
          <a:xfrm>
            <a:off x="2825496" y="3374136"/>
            <a:ext cx="182880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3</a:t>
            </a:r>
          </a:p>
        </p:txBody>
      </p:sp>
      <p:sp>
        <p:nvSpPr>
          <p:cNvPr id="19" name="TextBox 18"/>
          <p:cNvSpPr txBox="1"/>
          <p:nvPr/>
        </p:nvSpPr>
        <p:spPr>
          <a:xfrm>
            <a:off x="4837176" y="3374136"/>
            <a:ext cx="137160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2.9</a:t>
            </a:r>
          </a:p>
        </p:txBody>
      </p:sp>
      <p:sp>
        <p:nvSpPr>
          <p:cNvPr id="20" name="TextBox 19"/>
          <p:cNvSpPr txBox="1"/>
          <p:nvPr/>
        </p:nvSpPr>
        <p:spPr>
          <a:xfrm>
            <a:off x="6391656" y="3374136"/>
            <a:ext cx="109728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0.04</a:t>
            </a:r>
          </a:p>
        </p:txBody>
      </p:sp>
      <p:sp>
        <p:nvSpPr>
          <p:cNvPr id="21" name="TextBox 20"/>
          <p:cNvSpPr txBox="1"/>
          <p:nvPr/>
        </p:nvSpPr>
        <p:spPr>
          <a:xfrm>
            <a:off x="7671816" y="3374136"/>
            <a:ext cx="365760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below threshold</a:t>
            </a:r>
          </a:p>
        </p:txBody>
      </p:sp>
      <p:cxnSp>
        <p:nvCxnSpPr>
          <p:cNvPr id="22" name="Connector 21"/>
          <p:cNvCxnSpPr/>
          <p:nvPr/>
        </p:nvCxnSpPr>
        <p:spPr>
          <a:xfrm>
            <a:off x="777240" y="3648456"/>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777240" y="3648456"/>
            <a:ext cx="10607040" cy="347472"/>
          </a:xfrm>
          <a:prstGeom prst="rect">
            <a:avLst/>
          </a:prstGeom>
          <a:solidFill>
            <a:srgbClr val="FB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3721608"/>
            <a:ext cx="1737360" cy="347472"/>
          </a:xfrm>
          <a:prstGeom prst="rect">
            <a:avLst/>
          </a:prstGeom>
          <a:noFill/>
        </p:spPr>
        <p:txBody>
          <a:bodyPr wrap="square" lIns="0" rIns="0" tIns="0" bIns="0">
            <a:spAutoFit/>
          </a:bodyPr>
          <a:lstStyle/>
          <a:p>
            <a:pPr algn="l">
              <a:spcBef>
                <a:spcPts val="0"/>
              </a:spcBef>
              <a:spcAft>
                <a:spcPts val="0"/>
              </a:spcAft>
            </a:pPr>
            <a:r>
              <a:rPr sz="1300" b="1" i="0">
                <a:solidFill>
                  <a:srgbClr val="C2411F"/>
                </a:solidFill>
                <a:latin typeface="Segoe UI"/>
              </a:rPr>
              <a:t>2025-W40</a:t>
            </a:r>
          </a:p>
        </p:txBody>
      </p:sp>
      <p:sp>
        <p:nvSpPr>
          <p:cNvPr id="25" name="TextBox 24"/>
          <p:cNvSpPr txBox="1"/>
          <p:nvPr/>
        </p:nvSpPr>
        <p:spPr>
          <a:xfrm>
            <a:off x="2825496" y="3721608"/>
            <a:ext cx="182880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6</a:t>
            </a:r>
          </a:p>
        </p:txBody>
      </p:sp>
      <p:sp>
        <p:nvSpPr>
          <p:cNvPr id="26" name="TextBox 25"/>
          <p:cNvSpPr txBox="1"/>
          <p:nvPr/>
        </p:nvSpPr>
        <p:spPr>
          <a:xfrm>
            <a:off x="4837176" y="3721608"/>
            <a:ext cx="137160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1.9</a:t>
            </a:r>
          </a:p>
        </p:txBody>
      </p:sp>
      <p:sp>
        <p:nvSpPr>
          <p:cNvPr id="27" name="TextBox 26"/>
          <p:cNvSpPr txBox="1"/>
          <p:nvPr/>
        </p:nvSpPr>
        <p:spPr>
          <a:xfrm>
            <a:off x="6391656" y="3721608"/>
            <a:ext cx="109728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2.63</a:t>
            </a:r>
          </a:p>
        </p:txBody>
      </p:sp>
      <p:sp>
        <p:nvSpPr>
          <p:cNvPr id="28" name="TextBox 27"/>
          <p:cNvSpPr txBox="1"/>
          <p:nvPr/>
        </p:nvSpPr>
        <p:spPr>
          <a:xfrm>
            <a:off x="7671816" y="3721608"/>
            <a:ext cx="365760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emerging</a:t>
            </a:r>
          </a:p>
        </p:txBody>
      </p:sp>
      <p:cxnSp>
        <p:nvCxnSpPr>
          <p:cNvPr id="29" name="Connector 28"/>
          <p:cNvCxnSpPr/>
          <p:nvPr/>
        </p:nvCxnSpPr>
        <p:spPr>
          <a:xfrm>
            <a:off x="777240" y="3995928"/>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777240" y="3995928"/>
            <a:ext cx="10607040" cy="347472"/>
          </a:xfrm>
          <a:prstGeom prst="rect">
            <a:avLst/>
          </a:prstGeom>
          <a:solidFill>
            <a:srgbClr val="FB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5256" y="4069080"/>
            <a:ext cx="1737360" cy="347472"/>
          </a:xfrm>
          <a:prstGeom prst="rect">
            <a:avLst/>
          </a:prstGeom>
          <a:noFill/>
        </p:spPr>
        <p:txBody>
          <a:bodyPr wrap="square" lIns="0" rIns="0" tIns="0" bIns="0">
            <a:spAutoFit/>
          </a:bodyPr>
          <a:lstStyle/>
          <a:p>
            <a:pPr algn="l">
              <a:spcBef>
                <a:spcPts val="0"/>
              </a:spcBef>
              <a:spcAft>
                <a:spcPts val="0"/>
              </a:spcAft>
            </a:pPr>
            <a:r>
              <a:rPr sz="1300" b="1" i="0">
                <a:solidFill>
                  <a:srgbClr val="C2411F"/>
                </a:solidFill>
                <a:latin typeface="Segoe UI"/>
              </a:rPr>
              <a:t>2025-W41</a:t>
            </a:r>
          </a:p>
        </p:txBody>
      </p:sp>
      <p:sp>
        <p:nvSpPr>
          <p:cNvPr id="32" name="TextBox 31"/>
          <p:cNvSpPr txBox="1"/>
          <p:nvPr/>
        </p:nvSpPr>
        <p:spPr>
          <a:xfrm>
            <a:off x="2825496" y="4069080"/>
            <a:ext cx="182880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8</a:t>
            </a:r>
          </a:p>
        </p:txBody>
      </p:sp>
      <p:sp>
        <p:nvSpPr>
          <p:cNvPr id="33" name="TextBox 32"/>
          <p:cNvSpPr txBox="1"/>
          <p:nvPr/>
        </p:nvSpPr>
        <p:spPr>
          <a:xfrm>
            <a:off x="4837176" y="4069080"/>
            <a:ext cx="137160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1.8</a:t>
            </a:r>
          </a:p>
        </p:txBody>
      </p:sp>
      <p:sp>
        <p:nvSpPr>
          <p:cNvPr id="34" name="TextBox 33"/>
          <p:cNvSpPr txBox="1"/>
          <p:nvPr/>
        </p:nvSpPr>
        <p:spPr>
          <a:xfrm>
            <a:off x="6391656" y="4069080"/>
            <a:ext cx="109728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4.16</a:t>
            </a:r>
          </a:p>
        </p:txBody>
      </p:sp>
      <p:sp>
        <p:nvSpPr>
          <p:cNvPr id="35" name="TextBox 34"/>
          <p:cNvSpPr txBox="1"/>
          <p:nvPr/>
        </p:nvSpPr>
        <p:spPr>
          <a:xfrm>
            <a:off x="7671816" y="4069080"/>
            <a:ext cx="365760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emerging</a:t>
            </a:r>
          </a:p>
        </p:txBody>
      </p:sp>
      <p:cxnSp>
        <p:nvCxnSpPr>
          <p:cNvPr id="36" name="Connector 35"/>
          <p:cNvCxnSpPr/>
          <p:nvPr/>
        </p:nvCxnSpPr>
        <p:spPr>
          <a:xfrm>
            <a:off x="777240" y="4343400"/>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777240" y="4343400"/>
            <a:ext cx="10607040" cy="347472"/>
          </a:xfrm>
          <a:prstGeom prst="rect">
            <a:avLst/>
          </a:prstGeom>
          <a:solidFill>
            <a:srgbClr val="FB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416552"/>
            <a:ext cx="1737360" cy="347472"/>
          </a:xfrm>
          <a:prstGeom prst="rect">
            <a:avLst/>
          </a:prstGeom>
          <a:noFill/>
        </p:spPr>
        <p:txBody>
          <a:bodyPr wrap="square" lIns="0" rIns="0" tIns="0" bIns="0">
            <a:spAutoFit/>
          </a:bodyPr>
          <a:lstStyle/>
          <a:p>
            <a:pPr algn="l">
              <a:spcBef>
                <a:spcPts val="0"/>
              </a:spcBef>
              <a:spcAft>
                <a:spcPts val="0"/>
              </a:spcAft>
            </a:pPr>
            <a:r>
              <a:rPr sz="1300" b="1" i="0">
                <a:solidFill>
                  <a:srgbClr val="C2411F"/>
                </a:solidFill>
                <a:latin typeface="Segoe UI"/>
              </a:rPr>
              <a:t>2025-W42</a:t>
            </a:r>
          </a:p>
        </p:txBody>
      </p:sp>
      <p:sp>
        <p:nvSpPr>
          <p:cNvPr id="39" name="TextBox 38"/>
          <p:cNvSpPr txBox="1"/>
          <p:nvPr/>
        </p:nvSpPr>
        <p:spPr>
          <a:xfrm>
            <a:off x="2825496" y="4416552"/>
            <a:ext cx="182880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9</a:t>
            </a:r>
          </a:p>
        </p:txBody>
      </p:sp>
      <p:sp>
        <p:nvSpPr>
          <p:cNvPr id="40" name="TextBox 39"/>
          <p:cNvSpPr txBox="1"/>
          <p:nvPr/>
        </p:nvSpPr>
        <p:spPr>
          <a:xfrm>
            <a:off x="4837176" y="4416552"/>
            <a:ext cx="137160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2.1</a:t>
            </a:r>
          </a:p>
        </p:txBody>
      </p:sp>
      <p:sp>
        <p:nvSpPr>
          <p:cNvPr id="41" name="TextBox 40"/>
          <p:cNvSpPr txBox="1"/>
          <p:nvPr/>
        </p:nvSpPr>
        <p:spPr>
          <a:xfrm>
            <a:off x="6391656" y="4416552"/>
            <a:ext cx="109728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4.33</a:t>
            </a:r>
          </a:p>
        </p:txBody>
      </p:sp>
      <p:sp>
        <p:nvSpPr>
          <p:cNvPr id="42" name="TextBox 41"/>
          <p:cNvSpPr txBox="1"/>
          <p:nvPr/>
        </p:nvSpPr>
        <p:spPr>
          <a:xfrm>
            <a:off x="7671816" y="4416552"/>
            <a:ext cx="365760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growing</a:t>
            </a:r>
          </a:p>
        </p:txBody>
      </p:sp>
      <p:cxnSp>
        <p:nvCxnSpPr>
          <p:cNvPr id="43" name="Connector 42"/>
          <p:cNvCxnSpPr/>
          <p:nvPr/>
        </p:nvCxnSpPr>
        <p:spPr>
          <a:xfrm>
            <a:off x="777240" y="4690872"/>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777240" y="4690872"/>
            <a:ext cx="10607040" cy="347472"/>
          </a:xfrm>
          <a:prstGeom prst="rect">
            <a:avLst/>
          </a:prstGeom>
          <a:solidFill>
            <a:srgbClr val="FB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05256" y="4764024"/>
            <a:ext cx="1737360" cy="347472"/>
          </a:xfrm>
          <a:prstGeom prst="rect">
            <a:avLst/>
          </a:prstGeom>
          <a:noFill/>
        </p:spPr>
        <p:txBody>
          <a:bodyPr wrap="square" lIns="0" rIns="0" tIns="0" bIns="0">
            <a:spAutoFit/>
          </a:bodyPr>
          <a:lstStyle/>
          <a:p>
            <a:pPr algn="l">
              <a:spcBef>
                <a:spcPts val="0"/>
              </a:spcBef>
              <a:spcAft>
                <a:spcPts val="0"/>
              </a:spcAft>
            </a:pPr>
            <a:r>
              <a:rPr sz="1300" b="1" i="0">
                <a:solidFill>
                  <a:srgbClr val="C2411F"/>
                </a:solidFill>
                <a:latin typeface="Segoe UI"/>
              </a:rPr>
              <a:t>2025-W43</a:t>
            </a:r>
          </a:p>
        </p:txBody>
      </p:sp>
      <p:sp>
        <p:nvSpPr>
          <p:cNvPr id="46" name="TextBox 45"/>
          <p:cNvSpPr txBox="1"/>
          <p:nvPr/>
        </p:nvSpPr>
        <p:spPr>
          <a:xfrm>
            <a:off x="2825496" y="4764024"/>
            <a:ext cx="182880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7</a:t>
            </a:r>
          </a:p>
        </p:txBody>
      </p:sp>
      <p:sp>
        <p:nvSpPr>
          <p:cNvPr id="47" name="TextBox 46"/>
          <p:cNvSpPr txBox="1"/>
          <p:nvPr/>
        </p:nvSpPr>
        <p:spPr>
          <a:xfrm>
            <a:off x="4837176" y="4764024"/>
            <a:ext cx="137160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2.1</a:t>
            </a:r>
          </a:p>
        </p:txBody>
      </p:sp>
      <p:sp>
        <p:nvSpPr>
          <p:cNvPr id="48" name="TextBox 47"/>
          <p:cNvSpPr txBox="1"/>
          <p:nvPr/>
        </p:nvSpPr>
        <p:spPr>
          <a:xfrm>
            <a:off x="6391656" y="4764024"/>
            <a:ext cx="109728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3.01</a:t>
            </a:r>
          </a:p>
        </p:txBody>
      </p:sp>
      <p:sp>
        <p:nvSpPr>
          <p:cNvPr id="49" name="TextBox 48"/>
          <p:cNvSpPr txBox="1"/>
          <p:nvPr/>
        </p:nvSpPr>
        <p:spPr>
          <a:xfrm>
            <a:off x="7671816" y="4764024"/>
            <a:ext cx="365760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emerging</a:t>
            </a:r>
          </a:p>
        </p:txBody>
      </p:sp>
      <p:cxnSp>
        <p:nvCxnSpPr>
          <p:cNvPr id="50" name="Connector 49"/>
          <p:cNvCxnSpPr/>
          <p:nvPr/>
        </p:nvCxnSpPr>
        <p:spPr>
          <a:xfrm>
            <a:off x="777240" y="5038344"/>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777240" y="5038344"/>
            <a:ext cx="10607040" cy="347472"/>
          </a:xfrm>
          <a:prstGeom prst="rect">
            <a:avLst/>
          </a:prstGeom>
          <a:solidFill>
            <a:srgbClr val="FB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05256" y="5111496"/>
            <a:ext cx="1737360" cy="347472"/>
          </a:xfrm>
          <a:prstGeom prst="rect">
            <a:avLst/>
          </a:prstGeom>
          <a:noFill/>
        </p:spPr>
        <p:txBody>
          <a:bodyPr wrap="square" lIns="0" rIns="0" tIns="0" bIns="0">
            <a:spAutoFit/>
          </a:bodyPr>
          <a:lstStyle/>
          <a:p>
            <a:pPr algn="l">
              <a:spcBef>
                <a:spcPts val="0"/>
              </a:spcBef>
              <a:spcAft>
                <a:spcPts val="0"/>
              </a:spcAft>
            </a:pPr>
            <a:r>
              <a:rPr sz="1300" b="1" i="0">
                <a:solidFill>
                  <a:srgbClr val="C2411F"/>
                </a:solidFill>
                <a:latin typeface="Segoe UI"/>
              </a:rPr>
              <a:t>2025-W44</a:t>
            </a:r>
          </a:p>
        </p:txBody>
      </p:sp>
      <p:sp>
        <p:nvSpPr>
          <p:cNvPr id="53" name="TextBox 52"/>
          <p:cNvSpPr txBox="1"/>
          <p:nvPr/>
        </p:nvSpPr>
        <p:spPr>
          <a:xfrm>
            <a:off x="2825496" y="5111496"/>
            <a:ext cx="182880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8</a:t>
            </a:r>
          </a:p>
        </p:txBody>
      </p:sp>
      <p:sp>
        <p:nvSpPr>
          <p:cNvPr id="54" name="TextBox 53"/>
          <p:cNvSpPr txBox="1"/>
          <p:nvPr/>
        </p:nvSpPr>
        <p:spPr>
          <a:xfrm>
            <a:off x="4837176" y="5111496"/>
            <a:ext cx="137160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2.6</a:t>
            </a:r>
          </a:p>
        </p:txBody>
      </p:sp>
      <p:sp>
        <p:nvSpPr>
          <p:cNvPr id="55" name="TextBox 54"/>
          <p:cNvSpPr txBox="1"/>
          <p:nvPr/>
        </p:nvSpPr>
        <p:spPr>
          <a:xfrm>
            <a:off x="6391656" y="5111496"/>
            <a:ext cx="109728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3.08</a:t>
            </a:r>
          </a:p>
        </p:txBody>
      </p:sp>
      <p:sp>
        <p:nvSpPr>
          <p:cNvPr id="56" name="TextBox 55"/>
          <p:cNvSpPr txBox="1"/>
          <p:nvPr/>
        </p:nvSpPr>
        <p:spPr>
          <a:xfrm>
            <a:off x="7671816" y="5111496"/>
            <a:ext cx="365760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emerging</a:t>
            </a:r>
          </a:p>
        </p:txBody>
      </p:sp>
      <p:cxnSp>
        <p:nvCxnSpPr>
          <p:cNvPr id="57" name="Connector 56"/>
          <p:cNvCxnSpPr/>
          <p:nvPr/>
        </p:nvCxnSpPr>
        <p:spPr>
          <a:xfrm>
            <a:off x="777240" y="5385816"/>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905256" y="5458968"/>
            <a:ext cx="1737360" cy="347472"/>
          </a:xfrm>
          <a:prstGeom prst="rect">
            <a:avLst/>
          </a:prstGeom>
          <a:noFill/>
        </p:spPr>
        <p:txBody>
          <a:bodyPr wrap="square" lIns="0" rIns="0" tIns="0" bIns="0">
            <a:spAutoFit/>
          </a:bodyPr>
          <a:lstStyle/>
          <a:p>
            <a:pPr algn="l">
              <a:spcBef>
                <a:spcPts val="0"/>
              </a:spcBef>
              <a:spcAft>
                <a:spcPts val="0"/>
              </a:spcAft>
            </a:pPr>
            <a:r>
              <a:rPr sz="1300" b="0" i="0">
                <a:solidFill>
                  <a:srgbClr val="14171C"/>
                </a:solidFill>
                <a:latin typeface="Segoe UI"/>
              </a:rPr>
              <a:t>2025-W45</a:t>
            </a:r>
          </a:p>
        </p:txBody>
      </p:sp>
      <p:sp>
        <p:nvSpPr>
          <p:cNvPr id="59" name="TextBox 58"/>
          <p:cNvSpPr txBox="1"/>
          <p:nvPr/>
        </p:nvSpPr>
        <p:spPr>
          <a:xfrm>
            <a:off x="2825496" y="5458968"/>
            <a:ext cx="182880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7</a:t>
            </a:r>
          </a:p>
        </p:txBody>
      </p:sp>
      <p:sp>
        <p:nvSpPr>
          <p:cNvPr id="60" name="TextBox 59"/>
          <p:cNvSpPr txBox="1"/>
          <p:nvPr/>
        </p:nvSpPr>
        <p:spPr>
          <a:xfrm>
            <a:off x="4837176" y="5458968"/>
            <a:ext cx="137160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3.3</a:t>
            </a:r>
          </a:p>
        </p:txBody>
      </p:sp>
      <p:sp>
        <p:nvSpPr>
          <p:cNvPr id="61" name="TextBox 60"/>
          <p:cNvSpPr txBox="1"/>
          <p:nvPr/>
        </p:nvSpPr>
        <p:spPr>
          <a:xfrm>
            <a:off x="6391656" y="5458968"/>
            <a:ext cx="109728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1.86</a:t>
            </a:r>
          </a:p>
        </p:txBody>
      </p:sp>
      <p:sp>
        <p:nvSpPr>
          <p:cNvPr id="62" name="TextBox 61"/>
          <p:cNvSpPr txBox="1"/>
          <p:nvPr/>
        </p:nvSpPr>
        <p:spPr>
          <a:xfrm>
            <a:off x="7671816" y="5458968"/>
            <a:ext cx="365760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stable</a:t>
            </a:r>
          </a:p>
        </p:txBody>
      </p:sp>
      <p:cxnSp>
        <p:nvCxnSpPr>
          <p:cNvPr id="63" name="Connector 62"/>
          <p:cNvCxnSpPr/>
          <p:nvPr/>
        </p:nvCxnSpPr>
        <p:spPr>
          <a:xfrm>
            <a:off x="777240" y="5733288"/>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777240" y="5486400"/>
            <a:ext cx="10637215" cy="822960"/>
          </a:xfrm>
          <a:prstGeom prst="rect">
            <a:avLst/>
          </a:prstGeom>
          <a:noFill/>
        </p:spPr>
        <p:txBody>
          <a:bodyPr wrap="square" lIns="0" rIns="0" tIns="0" bIns="0">
            <a:spAutoFit/>
          </a:bodyPr>
          <a:lstStyle/>
          <a:p>
            <a:pPr algn="l">
              <a:spcBef>
                <a:spcPts val="0"/>
              </a:spcBef>
              <a:spcAft>
                <a:spcPts val="600"/>
              </a:spcAft>
            </a:pPr>
            <a:r>
              <a:rPr sz="1700" b="1" i="0">
                <a:solidFill>
                  <a:srgbClr val="C2411F"/>
                </a:solidFill>
                <a:latin typeface="Segoe UI"/>
              </a:rPr>
              <a:t>Quiet, quiet, then six contacts against two expected, and it fires.</a:t>
            </a:r>
          </a:p>
          <a:p>
            <a:pPr algn="l">
              <a:spcBef>
                <a:spcPts val="0"/>
              </a:spcBef>
              <a:spcAft>
                <a:spcPts val="0"/>
              </a:spcAft>
            </a:pPr>
            <a:r>
              <a:rPr sz="1300" b="0" i="0">
                <a:solidFill>
                  <a:srgbClr val="6B7280"/>
                </a:solidFill>
                <a:latin typeface="Segoe UI"/>
              </a:rPr>
              <a:t>Four recent weeks against the sixteen before, Poisson z with a Jeffreys pseudo-count, minimum support of five contacts in at least two weeks. Scores are precomputed for every as-of week, so the dashboard slider replays what the system would have told you that Monday. Nothing is planted.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STEP 4 · ANSWER PLAIN-LANGUAGE QUESTIONS</a:t>
            </a:r>
          </a:p>
          <a:p>
            <a:pPr algn="l">
              <a:spcBef>
                <a:spcPts val="0"/>
              </a:spcBef>
              <a:spcAft>
                <a:spcPts val="0"/>
              </a:spcAft>
            </a:pPr>
            <a:r>
              <a:rPr sz="3300" b="1" i="0">
                <a:solidFill>
                  <a:srgbClr val="14171C"/>
                </a:solidFill>
                <a:latin typeface="Segoe UI"/>
              </a:rPr>
              <a:t>Ask in words, get counts, trends and quotes</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2057400"/>
            <a:ext cx="10637215" cy="4160520"/>
          </a:xfrm>
          <a:prstGeom prst="rect">
            <a:avLst/>
          </a:prstGeom>
          <a:noFill/>
        </p:spPr>
        <p:txBody>
          <a:bodyPr wrap="square" lIns="0" rIns="0" tIns="0" bIns="0">
            <a:spAutoFit/>
          </a:bodyPr>
          <a:lstStyle/>
          <a:p>
            <a:pPr>
              <a:spcAft>
                <a:spcPts val="1300"/>
              </a:spcAft>
            </a:pPr>
            <a:r>
              <a:rPr sz="1700" b="1">
                <a:solidFill>
                  <a:srgbClr val="14171C"/>
                </a:solidFill>
                <a:latin typeface="Segoe UI"/>
              </a:rPr>
              <a:t>Twelve read-only tools.  </a:t>
            </a:r>
            <a:r>
              <a:rPr sz="1700">
                <a:solidFill>
                  <a:srgbClr val="6B7280"/>
                </a:solidFill>
                <a:latin typeface="Segoe UI"/>
              </a:rPr>
              <a:t>Overview, contact reasons, theme list and detail, trend, emerging, sentiment drivers, breakdown, compare, quotes, search, and one full call. The agent chooses what to pull and submits a structured answer.</a:t>
            </a:r>
          </a:p>
          <a:p>
            <a:pPr>
              <a:spcAft>
                <a:spcPts val="1300"/>
              </a:spcAft>
            </a:pPr>
            <a:r>
              <a:rPr sz="1700" b="1">
                <a:solidFill>
                  <a:srgbClr val="14171C"/>
                </a:solidFill>
                <a:latin typeface="Segoe UI"/>
              </a:rPr>
              <a:t>Three ways to answer, one verifier.  </a:t>
            </a:r>
            <a:r>
              <a:rPr sz="1700">
                <a:solidFill>
                  <a:srgbClr val="6B7280"/>
                </a:solidFill>
                <a:latin typeface="Segoe UI"/>
              </a:rPr>
              <a:t>With an API key the agent runs live. Without one, a recorded run replays through the same channel, and an unscripted question gets a templated answer from the same tools, clearly badged. The code is the same either way.</a:t>
            </a:r>
          </a:p>
          <a:p>
            <a:pPr>
              <a:spcAft>
                <a:spcPts val="1300"/>
              </a:spcAft>
            </a:pPr>
            <a:r>
              <a:rPr sz="1700" b="1">
                <a:solidFill>
                  <a:srgbClr val="14171C"/>
                </a:solidFill>
                <a:latin typeface="Segoe UI"/>
              </a:rPr>
              <a:t>All eight questions from the briefing are recorded.  </a:t>
            </a:r>
            <a:r>
              <a:rPr sz="1700">
                <a:solidFill>
                  <a:srgbClr val="6B7280"/>
                </a:solidFill>
                <a:latin typeface="Segoe UI"/>
              </a:rPr>
              <a:t>They replay in about two seconds each, with the tool trace visible, so the demo needs no key and no network.</a:t>
            </a:r>
          </a:p>
        </p:txBody>
      </p:sp>
      <p:sp>
        <p:nvSpPr>
          <p:cNvPr id="5" name="Rectangle 4"/>
          <p:cNvSpPr/>
          <p:nvPr/>
        </p:nvSpPr>
        <p:spPr>
          <a:xfrm>
            <a:off x="777240" y="4617720"/>
            <a:ext cx="1907987" cy="123444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8</a:t>
            </a:r>
          </a:p>
          <a:p>
            <a:pPr algn="ctr">
              <a:spcBef>
                <a:spcPts val="0"/>
              </a:spcBef>
              <a:spcAft>
                <a:spcPts val="0"/>
              </a:spcAft>
            </a:pPr>
            <a:r>
              <a:rPr sz="1150" b="0" i="0">
                <a:solidFill>
                  <a:srgbClr val="6B7280"/>
                </a:solidFill>
                <a:latin typeface="Segoe UI"/>
              </a:rPr>
              <a:t>questions recorded</a:t>
            </a:r>
          </a:p>
        </p:txBody>
      </p:sp>
      <p:sp>
        <p:nvSpPr>
          <p:cNvPr id="6" name="Rectangle 5"/>
          <p:cNvSpPr/>
          <p:nvPr/>
        </p:nvSpPr>
        <p:spPr>
          <a:xfrm>
            <a:off x="2959547" y="4617720"/>
            <a:ext cx="1907987" cy="123444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35</a:t>
            </a:r>
          </a:p>
          <a:p>
            <a:pPr algn="ctr">
              <a:spcBef>
                <a:spcPts val="0"/>
              </a:spcBef>
              <a:spcAft>
                <a:spcPts val="0"/>
              </a:spcAft>
            </a:pPr>
            <a:r>
              <a:rPr sz="1150" b="0" i="0">
                <a:solidFill>
                  <a:srgbClr val="6B7280"/>
                </a:solidFill>
                <a:latin typeface="Segoe UI"/>
              </a:rPr>
              <a:t>claims made</a:t>
            </a:r>
          </a:p>
        </p:txBody>
      </p:sp>
      <p:sp>
        <p:nvSpPr>
          <p:cNvPr id="7" name="Rectangle 6"/>
          <p:cNvSpPr/>
          <p:nvPr/>
        </p:nvSpPr>
        <p:spPr>
          <a:xfrm>
            <a:off x="5141854" y="4617720"/>
            <a:ext cx="1907987" cy="123444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35</a:t>
            </a:r>
          </a:p>
          <a:p>
            <a:pPr algn="ctr">
              <a:spcBef>
                <a:spcPts val="0"/>
              </a:spcBef>
              <a:spcAft>
                <a:spcPts val="0"/>
              </a:spcAft>
            </a:pPr>
            <a:r>
              <a:rPr sz="1150" b="0" i="0">
                <a:solidFill>
                  <a:srgbClr val="6B7280"/>
                </a:solidFill>
                <a:latin typeface="Segoe UI"/>
              </a:rPr>
              <a:t>claims verified</a:t>
            </a:r>
          </a:p>
        </p:txBody>
      </p:sp>
      <p:sp>
        <p:nvSpPr>
          <p:cNvPr id="8" name="Rectangle 7"/>
          <p:cNvSpPr/>
          <p:nvPr/>
        </p:nvSpPr>
        <p:spPr>
          <a:xfrm>
            <a:off x="7324161" y="4617720"/>
            <a:ext cx="1907987" cy="123444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40</a:t>
            </a:r>
          </a:p>
          <a:p>
            <a:pPr algn="ctr">
              <a:spcBef>
                <a:spcPts val="0"/>
              </a:spcBef>
              <a:spcAft>
                <a:spcPts val="0"/>
              </a:spcAft>
            </a:pPr>
            <a:r>
              <a:rPr sz="1150" b="0" i="0">
                <a:solidFill>
                  <a:srgbClr val="6B7280"/>
                </a:solidFill>
                <a:latin typeface="Segoe UI"/>
              </a:rPr>
              <a:t>verified quotes kept</a:t>
            </a:r>
          </a:p>
        </p:txBody>
      </p:sp>
      <p:sp>
        <p:nvSpPr>
          <p:cNvPr id="9" name="Rectangle 8"/>
          <p:cNvSpPr/>
          <p:nvPr/>
        </p:nvSpPr>
        <p:spPr>
          <a:xfrm>
            <a:off x="9506468" y="4617720"/>
            <a:ext cx="1907987" cy="123444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0</a:t>
            </a:r>
          </a:p>
          <a:p>
            <a:pPr algn="ctr">
              <a:spcBef>
                <a:spcPts val="0"/>
              </a:spcBef>
              <a:spcAft>
                <a:spcPts val="0"/>
              </a:spcAft>
            </a:pPr>
            <a:r>
              <a:rPr sz="1150" b="0" i="0">
                <a:solidFill>
                  <a:srgbClr val="6B7280"/>
                </a:solidFill>
                <a:latin typeface="Segoe UI"/>
              </a:rPr>
              <a:t>quotes dropped as unverified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STEP 5 · EVIDENCE AND CONFIDENCE</a:t>
            </a:r>
          </a:p>
          <a:p>
            <a:pPr algn="l">
              <a:spcBef>
                <a:spcPts val="0"/>
              </a:spcBef>
              <a:spcAft>
                <a:spcPts val="0"/>
              </a:spcAft>
            </a:pPr>
            <a:r>
              <a:rPr sz="3300" b="1" i="0">
                <a:solidFill>
                  <a:srgbClr val="14171C"/>
                </a:solidFill>
                <a:latin typeface="Segoe UI"/>
              </a:rPr>
              <a:t>The model proposes. The server decides.</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2057400"/>
            <a:ext cx="10637215" cy="4160520"/>
          </a:xfrm>
          <a:prstGeom prst="rect">
            <a:avLst/>
          </a:prstGeom>
          <a:noFill/>
        </p:spPr>
        <p:txBody>
          <a:bodyPr wrap="square" lIns="0" rIns="0" tIns="0" bIns="0">
            <a:spAutoFit/>
          </a:bodyPr>
          <a:lstStyle/>
          <a:p>
            <a:pPr>
              <a:spcAft>
                <a:spcPts val="1300"/>
              </a:spcAft>
            </a:pPr>
            <a:r>
              <a:rPr sz="1600" b="1">
                <a:solidFill>
                  <a:srgbClr val="14171C"/>
                </a:solidFill>
                <a:latin typeface="Segoe UI"/>
              </a:rPr>
              <a:t>Every claim is recounted.  </a:t>
            </a:r>
            <a:r>
              <a:rPr sz="1600">
                <a:solidFill>
                  <a:srgbClr val="6B7280"/>
                </a:solidFill>
                <a:latin typeface="Segoe UI"/>
              </a:rPr>
              <a:t>The server re-queries the call ids behind a claim and counts them itself. If the model said 60 and the calls say 47, the screen says 47 and shows the correction.</a:t>
            </a:r>
          </a:p>
          <a:p>
            <a:pPr>
              <a:spcAft>
                <a:spcPts val="1300"/>
              </a:spcAft>
            </a:pPr>
            <a:r>
              <a:rPr sz="1600" b="1">
                <a:solidFill>
                  <a:srgbClr val="14171C"/>
                </a:solidFill>
                <a:latin typeface="Segoe UI"/>
              </a:rPr>
              <a:t>Every number is checked against its source.  </a:t>
            </a:r>
            <a:r>
              <a:rPr sz="1600">
                <a:solidFill>
                  <a:srgbClr val="6B7280"/>
                </a:solidFill>
                <a:latin typeface="Segoe UI"/>
              </a:rPr>
              <a:t>A figure that appears in no tool result the claim cites is flagged, not printed.</a:t>
            </a:r>
          </a:p>
          <a:p>
            <a:pPr>
              <a:spcAft>
                <a:spcPts val="1300"/>
              </a:spcAft>
            </a:pPr>
            <a:r>
              <a:rPr sz="1600" b="1">
                <a:solidFill>
                  <a:srgbClr val="14171C"/>
                </a:solidFill>
                <a:latin typeface="Segoe UI"/>
              </a:rPr>
              <a:t>Quotes must be exact.  </a:t>
            </a:r>
            <a:r>
              <a:rPr sz="1600">
                <a:solidFill>
                  <a:srgbClr val="6B7280"/>
                </a:solidFill>
                <a:latin typeface="Segoe UI"/>
              </a:rPr>
              <a:t>An evidence quote must be an exact substring of what the customer wrote. Anything else is dropped before it reaches the screen.</a:t>
            </a:r>
          </a:p>
          <a:p>
            <a:pPr>
              <a:spcAft>
                <a:spcPts val="1300"/>
              </a:spcAft>
            </a:pPr>
            <a:r>
              <a:rPr sz="1600" b="1">
                <a:solidFill>
                  <a:srgbClr val="14171C"/>
                </a:solidFill>
                <a:latin typeface="Segoe UI"/>
              </a:rPr>
              <a:t>Confidence is computed, not claimed.  </a:t>
            </a:r>
            <a:r>
              <a:rPr sz="1600">
                <a:solidFill>
                  <a:srgbClr val="6B7280"/>
                </a:solidFill>
                <a:latin typeface="Segoe UI"/>
              </a:rPr>
              <a:t>The badge comes from the recounted calls, months, products and states. The model never writes it.</a:t>
            </a:r>
          </a:p>
          <a:p>
            <a:pPr>
              <a:spcAft>
                <a:spcPts val="1300"/>
              </a:spcAft>
            </a:pPr>
            <a:r>
              <a:rPr sz="1600" b="1">
                <a:solidFill>
                  <a:srgbClr val="14171C"/>
                </a:solidFill>
                <a:latin typeface="Segoe UI"/>
              </a:rPr>
              <a:t>Nothing fails silently.  </a:t>
            </a:r>
            <a:r>
              <a:rPr sz="1600">
                <a:solidFill>
                  <a:srgbClr val="6B7280"/>
                </a:solidFill>
                <a:latin typeface="Segoe UI"/>
              </a:rPr>
              <a:t>A claim that cannot be supported is shown greyed with the server's real number beside it, never quietly deleted.</a:t>
            </a:r>
          </a:p>
        </p:txBody>
      </p:sp>
      <p:sp>
        <p:nvSpPr>
          <p:cNvPr id="5" name="TextBox 4"/>
          <p:cNvSpPr txBox="1"/>
          <p:nvPr/>
        </p:nvSpPr>
        <p:spPr>
          <a:xfrm>
            <a:off x="777240" y="6291072"/>
            <a:ext cx="10637215" cy="292608"/>
          </a:xfrm>
          <a:prstGeom prst="rect">
            <a:avLst/>
          </a:prstGeom>
          <a:noFill/>
        </p:spPr>
        <p:txBody>
          <a:bodyPr wrap="square" lIns="0" rIns="0" tIns="0" bIns="0">
            <a:spAutoFit/>
          </a:bodyPr>
          <a:lstStyle/>
          <a:p>
            <a:pPr algn="l">
              <a:spcBef>
                <a:spcPts val="0"/>
              </a:spcBef>
              <a:spcAft>
                <a:spcPts val="0"/>
              </a:spcAft>
            </a:pPr>
            <a:r>
              <a:rPr sz="1050" b="0" i="0">
                <a:solidFill>
                  <a:srgbClr val="6B7280"/>
                </a:solidFill>
                <a:latin typeface="Segoe UI"/>
              </a:rPr>
              <a:t>Every number on the screen is a link to the list of calls behind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HOW IT IS BUILT</a:t>
            </a:r>
          </a:p>
          <a:p>
            <a:pPr algn="l">
              <a:spcBef>
                <a:spcPts val="0"/>
              </a:spcBef>
              <a:spcAft>
                <a:spcPts val="0"/>
              </a:spcAft>
            </a:pPr>
            <a:r>
              <a:rPr sz="3300" b="1" i="0">
                <a:solidFill>
                  <a:srgbClr val="14171C"/>
                </a:solidFill>
                <a:latin typeface="Segoe UI"/>
              </a:rPr>
              <a:t>Files are the truth. Everything else is derived.</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2057400"/>
            <a:ext cx="10637215" cy="4160520"/>
          </a:xfrm>
          <a:prstGeom prst="rect">
            <a:avLst/>
          </a:prstGeom>
          <a:noFill/>
        </p:spPr>
        <p:txBody>
          <a:bodyPr wrap="square" lIns="0" rIns="0" tIns="0" bIns="0">
            <a:spAutoFit/>
          </a:bodyPr>
          <a:lstStyle/>
          <a:p>
            <a:pPr>
              <a:spcAft>
                <a:spcPts val="1300"/>
              </a:spcAft>
            </a:pPr>
            <a:r>
              <a:rPr sz="1700" b="1">
                <a:solidFill>
                  <a:srgbClr val="14171C"/>
                </a:solidFill>
                <a:latin typeface="Segoe UI"/>
              </a:rPr>
              <a:t>Files first.  </a:t>
            </a:r>
            <a:r>
              <a:rPr sz="1700">
                <a:solidFill>
                  <a:srgbClr val="6B7280"/>
                </a:solidFill>
                <a:latin typeface="Segoe UI"/>
              </a:rPr>
              <a:t>The contacts, the readings and the themes are plain JSONL. The SQLite index is derived and rebuilt from them in about four seconds, so it is never something to protect.</a:t>
            </a:r>
          </a:p>
          <a:p>
            <a:pPr>
              <a:spcAft>
                <a:spcPts val="1300"/>
              </a:spcAft>
            </a:pPr>
            <a:r>
              <a:rPr sz="1700" b="1">
                <a:solidFill>
                  <a:srgbClr val="14171C"/>
                </a:solidFill>
                <a:latin typeface="Segoe UI"/>
              </a:rPr>
              <a:t>Every model call is cached by content hash.  </a:t>
            </a:r>
            <a:r>
              <a:rPr sz="1700">
                <a:solidFill>
                  <a:srgbClr val="6B7280"/>
                </a:solidFill>
                <a:latin typeface="Segoe UI"/>
              </a:rPr>
              <a:t>Re-running a stage costs nothing, a killed run resumes where it stopped, and tomorrow's contacts cost only tomorrow's contacts.</a:t>
            </a:r>
          </a:p>
          <a:p>
            <a:pPr>
              <a:spcAft>
                <a:spcPts val="1300"/>
              </a:spcAft>
            </a:pPr>
            <a:r>
              <a:rPr sz="1700" b="1">
                <a:solidFill>
                  <a:srgbClr val="14171C"/>
                </a:solidFill>
                <a:latin typeface="Segoe UI"/>
              </a:rPr>
              <a:t>One interface over three clients.  </a:t>
            </a:r>
            <a:r>
              <a:rPr sz="1700">
                <a:solidFill>
                  <a:srgbClr val="6B7280"/>
                </a:solidFill>
                <a:latin typeface="Segoe UI"/>
              </a:rPr>
              <a:t>Live API, replayed cache, or a deterministic fake for tests. A fake-produced index is refused unless explicitly asked for, and then the interface shows a red warning.</a:t>
            </a:r>
          </a:p>
          <a:p>
            <a:pPr>
              <a:spcAft>
                <a:spcPts val="1300"/>
              </a:spcAft>
            </a:pPr>
            <a:r>
              <a:rPr sz="1700" b="1">
                <a:solidFill>
                  <a:srgbClr val="14171C"/>
                </a:solidFill>
                <a:latin typeface="Segoe UI"/>
              </a:rPr>
              <a:t>No build step in the interface.  </a:t>
            </a:r>
            <a:r>
              <a:rPr sz="1700">
                <a:solidFill>
                  <a:srgbClr val="6B7280"/>
                </a:solidFill>
                <a:latin typeface="Segoe UI"/>
              </a:rPr>
              <a:t>Vanilla ES modules and one vendored chart library. Clone, build the index, serve.</a:t>
            </a:r>
          </a:p>
        </p:txBody>
      </p:sp>
      <p:sp>
        <p:nvSpPr>
          <p:cNvPr id="5" name="Rectangle 4"/>
          <p:cNvSpPr/>
          <p:nvPr/>
        </p:nvSpPr>
        <p:spPr>
          <a:xfrm>
            <a:off x="777240" y="4617720"/>
            <a:ext cx="1907987" cy="123444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108</a:t>
            </a:r>
          </a:p>
          <a:p>
            <a:pPr algn="ctr">
              <a:spcBef>
                <a:spcPts val="0"/>
              </a:spcBef>
              <a:spcAft>
                <a:spcPts val="0"/>
              </a:spcAft>
            </a:pPr>
            <a:r>
              <a:rPr sz="1150" b="0" i="0">
                <a:solidFill>
                  <a:srgbClr val="6B7280"/>
                </a:solidFill>
                <a:latin typeface="Segoe UI"/>
              </a:rPr>
              <a:t>tests, no network
or API key needed</a:t>
            </a:r>
          </a:p>
        </p:txBody>
      </p:sp>
      <p:sp>
        <p:nvSpPr>
          <p:cNvPr id="6" name="Rectangle 5"/>
          <p:cNvSpPr/>
          <p:nvPr/>
        </p:nvSpPr>
        <p:spPr>
          <a:xfrm>
            <a:off x="2959547" y="4617720"/>
            <a:ext cx="1907987" cy="123444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9,707</a:t>
            </a:r>
          </a:p>
          <a:p>
            <a:pPr algn="ctr">
              <a:spcBef>
                <a:spcPts val="0"/>
              </a:spcBef>
              <a:spcAft>
                <a:spcPts val="0"/>
              </a:spcAft>
            </a:pPr>
            <a:r>
              <a:rPr sz="1150" b="0" i="0">
                <a:solidFill>
                  <a:srgbClr val="6B7280"/>
                </a:solidFill>
                <a:latin typeface="Segoe UI"/>
              </a:rPr>
              <a:t>lines of Python</a:t>
            </a:r>
          </a:p>
        </p:txBody>
      </p:sp>
      <p:sp>
        <p:nvSpPr>
          <p:cNvPr id="7" name="Rectangle 6"/>
          <p:cNvSpPr/>
          <p:nvPr/>
        </p:nvSpPr>
        <p:spPr>
          <a:xfrm>
            <a:off x="5141854" y="4617720"/>
            <a:ext cx="1907987" cy="123444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1,044</a:t>
            </a:r>
          </a:p>
          <a:p>
            <a:pPr algn="ctr">
              <a:spcBef>
                <a:spcPts val="0"/>
              </a:spcBef>
              <a:spcAft>
                <a:spcPts val="0"/>
              </a:spcAft>
            </a:pPr>
            <a:r>
              <a:rPr sz="1150" b="0" i="0">
                <a:solidFill>
                  <a:srgbClr val="6B7280"/>
                </a:solidFill>
                <a:latin typeface="Segoe UI"/>
              </a:rPr>
              <a:t>lines of JavaScript</a:t>
            </a:r>
          </a:p>
        </p:txBody>
      </p:sp>
      <p:sp>
        <p:nvSpPr>
          <p:cNvPr id="8" name="Rectangle 7"/>
          <p:cNvSpPr/>
          <p:nvPr/>
        </p:nvSpPr>
        <p:spPr>
          <a:xfrm>
            <a:off x="7324161" y="4617720"/>
            <a:ext cx="1907987" cy="123444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4s</a:t>
            </a:r>
          </a:p>
          <a:p>
            <a:pPr algn="ctr">
              <a:spcBef>
                <a:spcPts val="0"/>
              </a:spcBef>
              <a:spcAft>
                <a:spcPts val="0"/>
              </a:spcAft>
            </a:pPr>
            <a:r>
              <a:rPr sz="1150" b="0" i="0">
                <a:solidFill>
                  <a:srgbClr val="6B7280"/>
                </a:solidFill>
                <a:latin typeface="Segoe UI"/>
              </a:rPr>
              <a:t>full index rebuild</a:t>
            </a:r>
          </a:p>
        </p:txBody>
      </p:sp>
      <p:sp>
        <p:nvSpPr>
          <p:cNvPr id="9" name="Rectangle 8"/>
          <p:cNvSpPr/>
          <p:nvPr/>
        </p:nvSpPr>
        <p:spPr>
          <a:xfrm>
            <a:off x="9506468" y="4617720"/>
            <a:ext cx="1907987" cy="123444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2s</a:t>
            </a:r>
          </a:p>
          <a:p>
            <a:pPr algn="ctr">
              <a:spcBef>
                <a:spcPts val="0"/>
              </a:spcBef>
              <a:spcAft>
                <a:spcPts val="0"/>
              </a:spcAft>
            </a:pPr>
            <a:r>
              <a:rPr sz="1150" b="0" i="0">
                <a:solidFill>
                  <a:srgbClr val="6B7280"/>
                </a:solidFill>
                <a:latin typeface="Segoe UI"/>
              </a:rPr>
              <a:t>to replay an answer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A CONSTRAINT WORTH SHOWING</a:t>
            </a:r>
          </a:p>
          <a:p>
            <a:pPr algn="l">
              <a:spcBef>
                <a:spcPts val="0"/>
              </a:spcBef>
              <a:spcAft>
                <a:spcPts val="0"/>
              </a:spcAft>
            </a:pPr>
            <a:r>
              <a:rPr sz="3300" b="1" i="0">
                <a:solidFill>
                  <a:srgbClr val="14171C"/>
                </a:solidFill>
                <a:latin typeface="Segoe UI"/>
              </a:rPr>
              <a:t>Built with no API key on the machine</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2103120"/>
            <a:ext cx="10637215" cy="4114800"/>
          </a:xfrm>
          <a:prstGeom prst="rect">
            <a:avLst/>
          </a:prstGeom>
          <a:noFill/>
        </p:spPr>
        <p:txBody>
          <a:bodyPr wrap="square" lIns="0" rIns="0" tIns="0" bIns="0">
            <a:spAutoFit/>
          </a:bodyPr>
          <a:lstStyle/>
          <a:p>
            <a:pPr>
              <a:spcAft>
                <a:spcPts val="1300"/>
              </a:spcAft>
            </a:pPr>
            <a:r>
              <a:rPr sz="1700" b="1">
                <a:solidFill>
                  <a:srgbClr val="14171C"/>
                </a:solidFill>
                <a:latin typeface="Segoe UI"/>
              </a:rPr>
              <a:t>Every LLM stage exports work bundles.  </a:t>
            </a:r>
            <a:r>
              <a:rPr sz="1700">
                <a:solidFill>
                  <a:srgbClr val="6B7280"/>
                </a:solidFill>
                <a:latin typeface="Segoe UI"/>
              </a:rPr>
              <a:t>Each bundle carries the exact prompt, the records, and the cache identity to write. Build-time Claude agents filled them, writing the same cache files the API path writes.</a:t>
            </a:r>
          </a:p>
          <a:p>
            <a:pPr>
              <a:spcAft>
                <a:spcPts val="1300"/>
              </a:spcAft>
            </a:pPr>
            <a:r>
              <a:rPr sz="1700" b="1">
                <a:solidFill>
                  <a:srgbClr val="14171C"/>
                </a:solidFill>
                <a:latin typeface="Segoe UI"/>
              </a:rPr>
              <a:t>The pipeline does not care who did the reading.  </a:t>
            </a:r>
            <a:r>
              <a:rPr sz="1700">
                <a:solidFill>
                  <a:srgbClr val="6B7280"/>
                </a:solidFill>
                <a:latin typeface="Segoe UI"/>
              </a:rPr>
              <a:t>A field records it. Swap in a key and the same commands run unattended against the API.</a:t>
            </a:r>
          </a:p>
          <a:p>
            <a:pPr>
              <a:spcAft>
                <a:spcPts val="1300"/>
              </a:spcAft>
            </a:pPr>
            <a:r>
              <a:rPr sz="1700" b="1">
                <a:solidFill>
                  <a:srgbClr val="14171C"/>
                </a:solidFill>
                <a:latin typeface="Segoe UI"/>
              </a:rPr>
              <a:t>This is how all 4,425 contacts were read and all 5,827 statements grouped.  </a:t>
            </a:r>
            <a:r>
              <a:rPr sz="1700">
                <a:solidFill>
                  <a:srgbClr val="6B7280"/>
                </a:solidFill>
                <a:latin typeface="Segoe UI"/>
              </a:rPr>
              <a:t>It is also why the demo runs on a plane.</a:t>
            </a:r>
          </a:p>
        </p:txBody>
      </p:sp>
      <p:sp>
        <p:nvSpPr>
          <p:cNvPr id="5" name="TextBox 4"/>
          <p:cNvSpPr txBox="1"/>
          <p:nvPr/>
        </p:nvSpPr>
        <p:spPr>
          <a:xfrm>
            <a:off x="777240" y="4754880"/>
            <a:ext cx="10637215" cy="1097280"/>
          </a:xfrm>
          <a:prstGeom prst="rect">
            <a:avLst/>
          </a:prstGeom>
          <a:noFill/>
        </p:spPr>
        <p:txBody>
          <a:bodyPr wrap="square" lIns="0" rIns="0" tIns="0" bIns="0">
            <a:spAutoFit/>
          </a:bodyPr>
          <a:lstStyle/>
          <a:p>
            <a:pPr algn="l">
              <a:spcBef>
                <a:spcPts val="0"/>
              </a:spcBef>
              <a:spcAft>
                <a:spcPts val="800"/>
              </a:spcAft>
            </a:pPr>
            <a:r>
              <a:rPr sz="1800" b="1" i="0">
                <a:solidFill>
                  <a:srgbClr val="14171C"/>
                </a:solidFill>
                <a:latin typeface="Segoe UI"/>
              </a:rPr>
              <a:t>The same property makes it auditable.</a:t>
            </a:r>
          </a:p>
          <a:p>
            <a:pPr algn="l">
              <a:spcBef>
                <a:spcPts val="0"/>
              </a:spcBef>
              <a:spcAft>
                <a:spcPts val="0"/>
              </a:spcAft>
            </a:pPr>
            <a:r>
              <a:rPr sz="1500" b="0" i="0">
                <a:solidFill>
                  <a:srgbClr val="6B7280"/>
                </a:solidFill>
                <a:latin typeface="Segoe UI"/>
              </a:rPr>
              <a:t>Because every model call is a cache file keyed by its content, anyone can re-run a stage and get the identical result, or open the exact prompt behind any reading.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WHAT IS TRUE, AND WHAT IS NOT</a:t>
            </a:r>
          </a:p>
          <a:p>
            <a:pPr algn="l">
              <a:spcBef>
                <a:spcPts val="0"/>
              </a:spcBef>
              <a:spcAft>
                <a:spcPts val="0"/>
              </a:spcAft>
            </a:pPr>
            <a:r>
              <a:rPr sz="3300" b="1" i="0">
                <a:solidFill>
                  <a:srgbClr val="14171C"/>
                </a:solidFill>
                <a:latin typeface="Segoe UI"/>
              </a:rPr>
              <a:t>The findings we would rather not have to say</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2103120"/>
            <a:ext cx="10637215" cy="4114800"/>
          </a:xfrm>
          <a:prstGeom prst="rect">
            <a:avLst/>
          </a:prstGeom>
          <a:noFill/>
        </p:spPr>
        <p:txBody>
          <a:bodyPr wrap="square" lIns="0" rIns="0" tIns="0" bIns="0">
            <a:spAutoFit/>
          </a:bodyPr>
          <a:lstStyle/>
          <a:p>
            <a:pPr>
              <a:spcAft>
                <a:spcPts val="1300"/>
              </a:spcAft>
            </a:pPr>
            <a:r>
              <a:rPr sz="1600" b="1">
                <a:solidFill>
                  <a:srgbClr val="14171C"/>
                </a:solidFill>
                <a:latin typeface="Segoe UI"/>
              </a:rPr>
              <a:t>One briefing expectation does not hold here.  </a:t>
            </a:r>
            <a:r>
              <a:rPr sz="1600">
                <a:solidFill>
                  <a:srgbClr val="6B7280"/>
                </a:solidFill>
                <a:latin typeface="Segoe UI"/>
              </a:rPr>
              <a:t>The stated reason is supposed to differ often from the real driver. In this corpus it differs in about 1 contact in 80. Someone writing to a regulator leads with the grievance; someone phoning opens with what they want. The capability is built and works. On real call transcripts we expect it to matter far more.</a:t>
            </a:r>
          </a:p>
          <a:p>
            <a:pPr>
              <a:spcAft>
                <a:spcPts val="1300"/>
              </a:spcAft>
            </a:pPr>
            <a:r>
              <a:rPr sz="1600" b="1">
                <a:solidFill>
                  <a:srgbClr val="14171C"/>
                </a:solidFill>
                <a:latin typeface="Segoe UI"/>
              </a:rPr>
              <a:t>Satisfaction cannot be measured on a complaint corpus.  </a:t>
            </a:r>
            <a:r>
              <a:rPr sz="1600">
                <a:solidFill>
                  <a:srgbClr val="6B7280"/>
                </a:solidFill>
                <a:latin typeface="Segoe UI"/>
              </a:rPr>
              <a:t>Ranking positive themes returns nothing. What exists is 421 contacts carrying a moment that went right, and the product says so on the screen rather than inventing a score.</a:t>
            </a:r>
          </a:p>
          <a:p>
            <a:pPr>
              <a:spcAft>
                <a:spcPts val="1300"/>
              </a:spcAft>
            </a:pPr>
            <a:r>
              <a:rPr sz="1600" b="1">
                <a:solidFill>
                  <a:srgbClr val="14171C"/>
                </a:solidFill>
                <a:latin typeface="Segoe UI"/>
              </a:rPr>
              <a:t>Only one theme is emerging this week.  </a:t>
            </a:r>
            <a:r>
              <a:rPr sz="1600">
                <a:solidFill>
                  <a:srgbClr val="6B7280"/>
                </a:solidFill>
                <a:latin typeface="Segoe UI"/>
              </a:rPr>
              <a:t>That is the honest state of the data. A detector that fires every week is a detector nobody reads.</a:t>
            </a:r>
          </a:p>
        </p:txBody>
      </p:sp>
      <p:sp>
        <p:nvSpPr>
          <p:cNvPr id="5" name="TextBox 4"/>
          <p:cNvSpPr txBox="1"/>
          <p:nvPr/>
        </p:nvSpPr>
        <p:spPr>
          <a:xfrm>
            <a:off x="777240" y="6291072"/>
            <a:ext cx="10637215" cy="292608"/>
          </a:xfrm>
          <a:prstGeom prst="rect">
            <a:avLst/>
          </a:prstGeom>
          <a:noFill/>
        </p:spPr>
        <p:txBody>
          <a:bodyPr wrap="square" lIns="0" rIns="0" tIns="0" bIns="0">
            <a:spAutoFit/>
          </a:bodyPr>
          <a:lstStyle/>
          <a:p>
            <a:pPr algn="l">
              <a:spcBef>
                <a:spcPts val="0"/>
              </a:spcBef>
              <a:spcAft>
                <a:spcPts val="0"/>
              </a:spcAft>
            </a:pPr>
            <a:r>
              <a:rPr sz="1050" b="0" i="0">
                <a:solidFill>
                  <a:srgbClr val="6B7280"/>
                </a:solidFill>
                <a:latin typeface="Segoe UI"/>
              </a:rPr>
              <a:t>A system that cannot say “the evidence does not support that” is not worth trusting when it says anything else.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C24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371600"/>
            <a:ext cx="9875520" cy="1097280"/>
          </a:xfrm>
          <a:prstGeom prst="rect">
            <a:avLst/>
          </a:prstGeom>
          <a:noFill/>
        </p:spPr>
        <p:txBody>
          <a:bodyPr wrap="square" lIns="0" rIns="0" tIns="0" bIns="0">
            <a:spAutoFit/>
          </a:bodyPr>
          <a:lstStyle/>
          <a:p>
            <a:pPr algn="l">
              <a:spcBef>
                <a:spcPts val="0"/>
              </a:spcBef>
              <a:spcAft>
                <a:spcPts val="1800"/>
              </a:spcAft>
            </a:pPr>
            <a:r>
              <a:rPr sz="1300" b="1" i="0">
                <a:solidFill>
                  <a:srgbClr val="C2411F"/>
                </a:solidFill>
                <a:latin typeface="Segoe UI"/>
              </a:rPr>
              <a:t>WHAT IT DELIVERS</a:t>
            </a:r>
          </a:p>
        </p:txBody>
      </p:sp>
      <p:sp>
        <p:nvSpPr>
          <p:cNvPr id="4" name="TextBox 3"/>
          <p:cNvSpPr txBox="1"/>
          <p:nvPr/>
        </p:nvSpPr>
        <p:spPr>
          <a:xfrm>
            <a:off x="777240" y="2331720"/>
            <a:ext cx="10332720" cy="960120"/>
          </a:xfrm>
          <a:prstGeom prst="rect">
            <a:avLst/>
          </a:prstGeom>
          <a:noFill/>
        </p:spPr>
        <p:txBody>
          <a:bodyPr wrap="square" lIns="0" rIns="0" tIns="0" bIns="0">
            <a:spAutoFit/>
          </a:bodyPr>
          <a:lstStyle/>
          <a:p>
            <a:pPr algn="l">
              <a:spcBef>
                <a:spcPts val="0"/>
              </a:spcBef>
              <a:spcAft>
                <a:spcPts val="400"/>
              </a:spcAft>
            </a:pPr>
            <a:r>
              <a:rPr sz="2500" b="1" i="0">
                <a:solidFill>
                  <a:srgbClr val="14171C"/>
                </a:solidFill>
                <a:latin typeface="Segoe UI"/>
              </a:rPr>
              <a:t>Minutes, not weeks.</a:t>
            </a:r>
          </a:p>
          <a:p>
            <a:pPr algn="l">
              <a:spcBef>
                <a:spcPts val="0"/>
              </a:spcBef>
              <a:spcAft>
                <a:spcPts val="0"/>
              </a:spcAft>
            </a:pPr>
            <a:r>
              <a:rPr sz="1500" b="0" i="0">
                <a:solidFill>
                  <a:srgbClr val="6B7280"/>
                </a:solidFill>
                <a:latin typeface="Segoe UI"/>
              </a:rPr>
              <a:t>4,425 contacts read into a consistent structure, and any question about them answered in seconds.</a:t>
            </a:r>
          </a:p>
        </p:txBody>
      </p:sp>
      <p:sp>
        <p:nvSpPr>
          <p:cNvPr id="5" name="TextBox 4"/>
          <p:cNvSpPr txBox="1"/>
          <p:nvPr/>
        </p:nvSpPr>
        <p:spPr>
          <a:xfrm>
            <a:off x="777240" y="3502152"/>
            <a:ext cx="10332720" cy="960120"/>
          </a:xfrm>
          <a:prstGeom prst="rect">
            <a:avLst/>
          </a:prstGeom>
          <a:noFill/>
        </p:spPr>
        <p:txBody>
          <a:bodyPr wrap="square" lIns="0" rIns="0" tIns="0" bIns="0">
            <a:spAutoFit/>
          </a:bodyPr>
          <a:lstStyle/>
          <a:p>
            <a:pPr algn="l">
              <a:spcBef>
                <a:spcPts val="0"/>
              </a:spcBef>
              <a:spcAft>
                <a:spcPts val="400"/>
              </a:spcAft>
            </a:pPr>
            <a:r>
              <a:rPr sz="2500" b="1" i="0">
                <a:solidFill>
                  <a:srgbClr val="14171C"/>
                </a:solidFill>
                <a:latin typeface="Segoe UI"/>
              </a:rPr>
              <a:t>Hear it while it is small.</a:t>
            </a:r>
          </a:p>
          <a:p>
            <a:pPr algn="l">
              <a:spcBef>
                <a:spcPts val="0"/>
              </a:spcBef>
              <a:spcAft>
                <a:spcPts val="0"/>
              </a:spcAft>
            </a:pPr>
            <a:r>
              <a:rPr sz="1500" b="0" i="0">
                <a:solidFill>
                  <a:srgbClr val="6B7280"/>
                </a:solidFill>
                <a:latin typeface="Segoe UI"/>
              </a:rPr>
              <a:t>A theme flagged at six contacts against two expected, weeks before a monthly report would show it.</a:t>
            </a:r>
          </a:p>
        </p:txBody>
      </p:sp>
      <p:sp>
        <p:nvSpPr>
          <p:cNvPr id="6" name="TextBox 5"/>
          <p:cNvSpPr txBox="1"/>
          <p:nvPr/>
        </p:nvSpPr>
        <p:spPr>
          <a:xfrm>
            <a:off x="777240" y="4672584"/>
            <a:ext cx="10332720" cy="960120"/>
          </a:xfrm>
          <a:prstGeom prst="rect">
            <a:avLst/>
          </a:prstGeom>
          <a:noFill/>
        </p:spPr>
        <p:txBody>
          <a:bodyPr wrap="square" lIns="0" rIns="0" tIns="0" bIns="0">
            <a:spAutoFit/>
          </a:bodyPr>
          <a:lstStyle/>
          <a:p>
            <a:pPr algn="l">
              <a:spcBef>
                <a:spcPts val="0"/>
              </a:spcBef>
              <a:spcAft>
                <a:spcPts val="400"/>
              </a:spcAft>
            </a:pPr>
            <a:r>
              <a:rPr sz="2500" b="1" i="0">
                <a:solidFill>
                  <a:srgbClr val="14171C"/>
                </a:solidFill>
                <a:latin typeface="Segoe UI"/>
              </a:rPr>
              <a:t>Act on causes, not labels.</a:t>
            </a:r>
          </a:p>
          <a:p>
            <a:pPr algn="l">
              <a:spcBef>
                <a:spcPts val="0"/>
              </a:spcBef>
              <a:spcAft>
                <a:spcPts val="0"/>
              </a:spcAft>
            </a:pPr>
            <a:r>
              <a:rPr sz="1500" b="0" i="0">
                <a:solidFill>
                  <a:srgbClr val="6B7280"/>
                </a:solidFill>
                <a:latin typeface="Segoe UI"/>
              </a:rPr>
              <a:t>394 people describing one fixable failure in 397 different ways, named as one work item with an owner.</a:t>
            </a:r>
          </a:p>
        </p:txBody>
      </p:sp>
      <p:sp>
        <p:nvSpPr>
          <p:cNvPr id="7" name="TextBox 6"/>
          <p:cNvSpPr txBox="1"/>
          <p:nvPr/>
        </p:nvSpPr>
        <p:spPr>
          <a:xfrm>
            <a:off x="777240" y="5943600"/>
            <a:ext cx="10637215" cy="457200"/>
          </a:xfrm>
          <a:prstGeom prst="rect">
            <a:avLst/>
          </a:prstGeom>
          <a:noFill/>
        </p:spPr>
        <p:txBody>
          <a:bodyPr wrap="square" lIns="0" rIns="0" tIns="0" bIns="0">
            <a:spAutoFit/>
          </a:bodyPr>
          <a:lstStyle/>
          <a:p>
            <a:pPr algn="l">
              <a:spcBef>
                <a:spcPts val="0"/>
              </a:spcBef>
              <a:spcAft>
                <a:spcPts val="0"/>
              </a:spcAft>
            </a:pPr>
            <a:r>
              <a:rPr sz="1600" b="1" i="0">
                <a:solidFill>
                  <a:srgbClr val="2F6F4E"/>
                </a:solidFill>
                <a:latin typeface="Segoe UI"/>
              </a:rPr>
              <a:t>And every number on the screen is a list of calls you can open and read.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