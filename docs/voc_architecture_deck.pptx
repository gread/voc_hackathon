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2103120"/>
            <a:ext cx="9692640" cy="2743200"/>
          </a:xfrm>
          <a:prstGeom prst="rect">
            <a:avLst/>
          </a:prstGeom>
          <a:noFill/>
        </p:spPr>
        <p:txBody>
          <a:bodyPr wrap="square" lIns="0" rIns="0" tIns="0" bIns="0">
            <a:spAutoFit/>
          </a:bodyPr>
          <a:lstStyle/>
          <a:p>
            <a:pPr algn="l">
              <a:spcBef>
                <a:spcPts val="0"/>
              </a:spcBef>
              <a:spcAft>
                <a:spcPts val="1600"/>
              </a:spcAft>
            </a:pPr>
            <a:r>
              <a:rPr sz="1300" b="1" i="0">
                <a:solidFill>
                  <a:srgbClr val="C2411F"/>
                </a:solidFill>
                <a:latin typeface="Segoe UI"/>
              </a:rPr>
              <a:t>ARCHITECTURE</a:t>
            </a:r>
          </a:p>
          <a:p>
            <a:pPr algn="l">
              <a:spcBef>
                <a:spcPts val="0"/>
              </a:spcBef>
              <a:spcAft>
                <a:spcPts val="1800"/>
              </a:spcAft>
            </a:pPr>
            <a:r>
              <a:rPr sz="4000" b="1" i="0">
                <a:solidFill>
                  <a:srgbClr val="14171C"/>
                </a:solidFill>
                <a:latin typeface="Segoe UI"/>
              </a:rPr>
              <a:t>How the system is put together</a:t>
            </a:r>
          </a:p>
          <a:p>
            <a:pPr algn="l">
              <a:spcBef>
                <a:spcPts val="0"/>
              </a:spcBef>
              <a:spcAft>
                <a:spcPts val="0"/>
              </a:spcAft>
            </a:pPr>
            <a:r>
              <a:rPr sz="1800" b="0" i="0">
                <a:solidFill>
                  <a:srgbClr val="6B7280"/>
                </a:solidFill>
                <a:latin typeface="Segoe UI"/>
              </a:rPr>
              <a:t>Files are the truth. The index is derived. Every model call is cached by its content, so the whole pipeline runs offline and re-runs for free.</a:t>
            </a:r>
          </a:p>
        </p:txBody>
      </p:sp>
      <p:sp>
        <p:nvSpPr>
          <p:cNvPr id="4" name="TextBox 3"/>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11,016 lines across 11 modules  ·  14 test files  ·  no build step, no external services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THE SHAPE OF IT</a:t>
            </a:r>
          </a:p>
          <a:p>
            <a:pPr algn="l">
              <a:spcBef>
                <a:spcPts val="0"/>
              </a:spcBef>
              <a:spcAft>
                <a:spcPts val="0"/>
              </a:spcAft>
            </a:pPr>
            <a:r>
              <a:rPr sz="3300" b="1" i="0">
                <a:solidFill>
                  <a:srgbClr val="14171C"/>
                </a:solidFill>
                <a:latin typeface="Segoe UI"/>
              </a:rPr>
              <a:t>Three layers, one direction of travel</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777240" y="2011680"/>
            <a:ext cx="10637215" cy="1234440"/>
          </a:xfrm>
          <a:prstGeom prst="rect">
            <a:avLst/>
          </a:prstGeom>
          <a:solidFill>
            <a:srgbClr val="F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86968" y="2066544"/>
            <a:ext cx="2743200" cy="274320"/>
          </a:xfrm>
          <a:prstGeom prst="rect">
            <a:avLst/>
          </a:prstGeom>
          <a:noFill/>
        </p:spPr>
        <p:txBody>
          <a:bodyPr wrap="square" lIns="0" rIns="0" tIns="0" bIns="0">
            <a:spAutoFit/>
          </a:bodyPr>
          <a:lstStyle/>
          <a:p>
            <a:pPr algn="l">
              <a:spcBef>
                <a:spcPts val="0"/>
              </a:spcBef>
              <a:spcAft>
                <a:spcPts val="0"/>
              </a:spcAft>
            </a:pPr>
            <a:r>
              <a:rPr sz="950" b="1" i="0">
                <a:solidFill>
                  <a:srgbClr val="6B7280"/>
                </a:solidFill>
                <a:latin typeface="Segoe UI"/>
              </a:rPr>
              <a:t>SOURCE OF TRUTH  ·  PLAIN FILES, VERSIONED</a:t>
            </a:r>
          </a:p>
        </p:txBody>
      </p:sp>
      <p:sp>
        <p:nvSpPr>
          <p:cNvPr id="6" name="Rectangle 5"/>
          <p:cNvSpPr/>
          <p:nvPr/>
        </p:nvSpPr>
        <p:spPr>
          <a:xfrm>
            <a:off x="914400" y="2331720"/>
            <a:ext cx="1926275" cy="82296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data/calls.jsonl</a:t>
            </a:r>
          </a:p>
          <a:p>
            <a:pPr algn="l">
              <a:spcBef>
                <a:spcPts val="0"/>
              </a:spcBef>
              <a:spcAft>
                <a:spcPts val="200"/>
              </a:spcAft>
            </a:pPr>
            <a:r>
              <a:rPr sz="950" b="0" i="0">
                <a:solidFill>
                  <a:srgbClr val="6B7280"/>
                </a:solidFill>
                <a:latin typeface="Segoe UI"/>
              </a:rPr>
              <a:t>4,425 contacts</a:t>
            </a:r>
          </a:p>
          <a:p>
            <a:pPr algn="l">
              <a:spcBef>
                <a:spcPts val="0"/>
              </a:spcBef>
              <a:spcAft>
                <a:spcPts val="200"/>
              </a:spcAft>
            </a:pPr>
            <a:r>
              <a:rPr sz="950" b="0" i="0">
                <a:solidFill>
                  <a:srgbClr val="6B7280"/>
                </a:solidFill>
                <a:latin typeface="Segoe UI"/>
              </a:rPr>
              <a:t>the corpus</a:t>
            </a:r>
          </a:p>
        </p:txBody>
      </p:sp>
      <p:sp>
        <p:nvSpPr>
          <p:cNvPr id="7" name="Rectangle 6"/>
          <p:cNvSpPr/>
          <p:nvPr/>
        </p:nvSpPr>
        <p:spPr>
          <a:xfrm>
            <a:off x="3023555" y="2331720"/>
            <a:ext cx="1926275" cy="82296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data/extractions.jsonl</a:t>
            </a:r>
          </a:p>
          <a:p>
            <a:pPr algn="l">
              <a:spcBef>
                <a:spcPts val="0"/>
              </a:spcBef>
              <a:spcAft>
                <a:spcPts val="200"/>
              </a:spcAft>
            </a:pPr>
            <a:r>
              <a:rPr sz="950" b="0" i="0">
                <a:solidFill>
                  <a:srgbClr val="6B7280"/>
                </a:solidFill>
                <a:latin typeface="Segoe UI"/>
              </a:rPr>
              <a:t>one reading per</a:t>
            </a:r>
          </a:p>
          <a:p>
            <a:pPr algn="l">
              <a:spcBef>
                <a:spcPts val="0"/>
              </a:spcBef>
              <a:spcAft>
                <a:spcPts val="200"/>
              </a:spcAft>
            </a:pPr>
            <a:r>
              <a:rPr sz="950" b="0" i="0">
                <a:solidFill>
                  <a:srgbClr val="6B7280"/>
                </a:solidFill>
                <a:latin typeface="Segoe UI"/>
              </a:rPr>
              <a:t>contact</a:t>
            </a:r>
          </a:p>
        </p:txBody>
      </p:sp>
      <p:sp>
        <p:nvSpPr>
          <p:cNvPr id="8" name="Rectangle 7"/>
          <p:cNvSpPr/>
          <p:nvPr/>
        </p:nvSpPr>
        <p:spPr>
          <a:xfrm>
            <a:off x="5132710" y="2331720"/>
            <a:ext cx="1926275" cy="82296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data/themes/</a:t>
            </a:r>
          </a:p>
          <a:p>
            <a:pPr algn="l">
              <a:spcBef>
                <a:spcPts val="0"/>
              </a:spcBef>
              <a:spcAft>
                <a:spcPts val="200"/>
              </a:spcAft>
            </a:pPr>
            <a:r>
              <a:rPr sz="950" b="0" i="0">
                <a:solidFill>
                  <a:srgbClr val="6B7280"/>
                </a:solidFill>
                <a:latin typeface="Segoe UI"/>
              </a:rPr>
              <a:t>registry, members,</a:t>
            </a:r>
          </a:p>
          <a:p>
            <a:pPr algn="l">
              <a:spcBef>
                <a:spcPts val="0"/>
              </a:spcBef>
              <a:spcAft>
                <a:spcPts val="200"/>
              </a:spcAft>
            </a:pPr>
            <a:r>
              <a:rPr sz="950" b="0" i="0">
                <a:solidFill>
                  <a:srgbClr val="6B7280"/>
                </a:solidFill>
                <a:latin typeface="Segoe UI"/>
              </a:rPr>
              <a:t>merge history</a:t>
            </a:r>
          </a:p>
        </p:txBody>
      </p:sp>
      <p:sp>
        <p:nvSpPr>
          <p:cNvPr id="9" name="Rectangle 8"/>
          <p:cNvSpPr/>
          <p:nvPr/>
        </p:nvSpPr>
        <p:spPr>
          <a:xfrm>
            <a:off x="7241865" y="2331720"/>
            <a:ext cx="1926275" cy="82296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data/answers/</a:t>
            </a:r>
          </a:p>
          <a:p>
            <a:pPr algn="l">
              <a:spcBef>
                <a:spcPts val="0"/>
              </a:spcBef>
              <a:spcAft>
                <a:spcPts val="200"/>
              </a:spcAft>
            </a:pPr>
            <a:r>
              <a:rPr sz="950" b="0" i="0">
                <a:solidFill>
                  <a:srgbClr val="6B7280"/>
                </a:solidFill>
                <a:latin typeface="Segoe UI"/>
              </a:rPr>
              <a:t>recorded Q&amp;A runs</a:t>
            </a:r>
          </a:p>
        </p:txBody>
      </p:sp>
      <p:sp>
        <p:nvSpPr>
          <p:cNvPr id="10" name="Rectangle 9"/>
          <p:cNvSpPr/>
          <p:nvPr/>
        </p:nvSpPr>
        <p:spPr>
          <a:xfrm>
            <a:off x="9351020" y="2331720"/>
            <a:ext cx="1926275" cy="82296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data/cache/</a:t>
            </a:r>
          </a:p>
          <a:p>
            <a:pPr algn="l">
              <a:spcBef>
                <a:spcPts val="0"/>
              </a:spcBef>
              <a:spcAft>
                <a:spcPts val="200"/>
              </a:spcAft>
            </a:pPr>
            <a:r>
              <a:rPr sz="950" b="0" i="0">
                <a:solidFill>
                  <a:srgbClr val="6B7280"/>
                </a:solidFill>
                <a:latin typeface="Segoe UI"/>
              </a:rPr>
              <a:t>every model call,</a:t>
            </a:r>
          </a:p>
          <a:p>
            <a:pPr algn="l">
              <a:spcBef>
                <a:spcPts val="0"/>
              </a:spcBef>
              <a:spcAft>
                <a:spcPts val="200"/>
              </a:spcAft>
            </a:pPr>
            <a:r>
              <a:rPr sz="950" b="0" i="0">
                <a:solidFill>
                  <a:srgbClr val="6B7280"/>
                </a:solidFill>
                <a:latin typeface="Segoe UI"/>
              </a:rPr>
              <a:t>keyed by content</a:t>
            </a:r>
          </a:p>
        </p:txBody>
      </p:sp>
      <p:sp>
        <p:nvSpPr>
          <p:cNvPr id="11" name="Rectangle 10"/>
          <p:cNvSpPr/>
          <p:nvPr/>
        </p:nvSpPr>
        <p:spPr>
          <a:xfrm>
            <a:off x="777240" y="3520440"/>
            <a:ext cx="10637215" cy="1051560"/>
          </a:xfrm>
          <a:prstGeom prst="rect">
            <a:avLst/>
          </a:prstGeom>
          <a:solidFill>
            <a:srgbClr val="F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86968" y="3575304"/>
            <a:ext cx="2743200" cy="274320"/>
          </a:xfrm>
          <a:prstGeom prst="rect">
            <a:avLst/>
          </a:prstGeom>
          <a:noFill/>
        </p:spPr>
        <p:txBody>
          <a:bodyPr wrap="square" lIns="0" rIns="0" tIns="0" bIns="0">
            <a:spAutoFit/>
          </a:bodyPr>
          <a:lstStyle/>
          <a:p>
            <a:pPr algn="l">
              <a:spcBef>
                <a:spcPts val="0"/>
              </a:spcBef>
              <a:spcAft>
                <a:spcPts val="0"/>
              </a:spcAft>
            </a:pPr>
            <a:r>
              <a:rPr sz="950" b="1" i="0">
                <a:solidFill>
                  <a:srgbClr val="6B7280"/>
                </a:solidFill>
                <a:latin typeface="Segoe UI"/>
              </a:rPr>
              <a:t>DERIVED  ·  REBUILT IN SECONDS</a:t>
            </a:r>
          </a:p>
        </p:txBody>
      </p:sp>
      <p:sp>
        <p:nvSpPr>
          <p:cNvPr id="13" name="Rectangle 12"/>
          <p:cNvSpPr/>
          <p:nvPr/>
        </p:nvSpPr>
        <p:spPr>
          <a:xfrm>
            <a:off x="914400" y="3840480"/>
            <a:ext cx="10362895" cy="594360"/>
          </a:xfrm>
          <a:prstGeom prst="rect">
            <a:avLst/>
          </a:prstGeom>
          <a:solidFill>
            <a:srgbClr val="FFFFFD"/>
          </a:solidFill>
          <a:ln w="12700">
            <a:solidFill>
              <a:srgbClr val="C2411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data/voc.sqlite</a:t>
            </a:r>
          </a:p>
          <a:p>
            <a:pPr algn="l">
              <a:spcBef>
                <a:spcPts val="0"/>
              </a:spcBef>
              <a:spcAft>
                <a:spcPts val="200"/>
              </a:spcAft>
            </a:pPr>
            <a:r>
              <a:rPr sz="950" b="0" i="0">
                <a:solidFill>
                  <a:srgbClr val="6B7280"/>
                </a:solidFill>
                <a:latin typeface="Segoe UI"/>
              </a:rPr>
              <a:t>21 tables, materialised trends and emerging scores for every as-of week  ·  `voc build-db` recreates it from the files above</a:t>
            </a:r>
          </a:p>
        </p:txBody>
      </p:sp>
      <p:sp>
        <p:nvSpPr>
          <p:cNvPr id="14" name="Rectangle 13"/>
          <p:cNvSpPr/>
          <p:nvPr/>
        </p:nvSpPr>
        <p:spPr>
          <a:xfrm>
            <a:off x="777240" y="4800600"/>
            <a:ext cx="10637215" cy="1463040"/>
          </a:xfrm>
          <a:prstGeom prst="rect">
            <a:avLst/>
          </a:prstGeom>
          <a:solidFill>
            <a:srgbClr val="F4F3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86968" y="4855464"/>
            <a:ext cx="2743200" cy="274320"/>
          </a:xfrm>
          <a:prstGeom prst="rect">
            <a:avLst/>
          </a:prstGeom>
          <a:noFill/>
        </p:spPr>
        <p:txBody>
          <a:bodyPr wrap="square" lIns="0" rIns="0" tIns="0" bIns="0">
            <a:spAutoFit/>
          </a:bodyPr>
          <a:lstStyle/>
          <a:p>
            <a:pPr algn="l">
              <a:spcBef>
                <a:spcPts val="0"/>
              </a:spcBef>
              <a:spcAft>
                <a:spcPts val="0"/>
              </a:spcAft>
            </a:pPr>
            <a:r>
              <a:rPr sz="950" b="1" i="0">
                <a:solidFill>
                  <a:srgbClr val="6B7280"/>
                </a:solidFill>
                <a:latin typeface="Segoe UI"/>
              </a:rPr>
              <a:t>SERVING  ·  ONE PROCESS</a:t>
            </a:r>
          </a:p>
        </p:txBody>
      </p:sp>
      <p:sp>
        <p:nvSpPr>
          <p:cNvPr id="16" name="Rectangle 15"/>
          <p:cNvSpPr/>
          <p:nvPr/>
        </p:nvSpPr>
        <p:spPr>
          <a:xfrm>
            <a:off x="914400" y="5120640"/>
            <a:ext cx="1926275" cy="91440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FastAPI</a:t>
            </a:r>
          </a:p>
          <a:p>
            <a:pPr algn="l">
              <a:spcBef>
                <a:spcPts val="0"/>
              </a:spcBef>
              <a:spcAft>
                <a:spcPts val="200"/>
              </a:spcAft>
            </a:pPr>
            <a:r>
              <a:rPr sz="950" b="0" i="0">
                <a:solidFill>
                  <a:srgbClr val="6B7280"/>
                </a:solidFill>
                <a:latin typeface="Segoe UI"/>
              </a:rPr>
              <a:t>read endpoints</a:t>
            </a:r>
          </a:p>
          <a:p>
            <a:pPr algn="l">
              <a:spcBef>
                <a:spcPts val="0"/>
              </a:spcBef>
              <a:spcAft>
                <a:spcPts val="200"/>
              </a:spcAft>
            </a:pPr>
            <a:r>
              <a:rPr sz="950" b="0" i="0">
                <a:solidFill>
                  <a:srgbClr val="6B7280"/>
                </a:solidFill>
                <a:latin typeface="Segoe UI"/>
              </a:rPr>
              <a:t>+ SSE event stream</a:t>
            </a:r>
          </a:p>
        </p:txBody>
      </p:sp>
      <p:sp>
        <p:nvSpPr>
          <p:cNvPr id="17" name="Rectangle 16"/>
          <p:cNvSpPr/>
          <p:nvPr/>
        </p:nvSpPr>
        <p:spPr>
          <a:xfrm>
            <a:off x="3023555" y="5120640"/>
            <a:ext cx="1926275" cy="91440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Tools</a:t>
            </a:r>
          </a:p>
          <a:p>
            <a:pPr algn="l">
              <a:spcBef>
                <a:spcPts val="0"/>
              </a:spcBef>
              <a:spcAft>
                <a:spcPts val="200"/>
              </a:spcAft>
            </a:pPr>
            <a:r>
              <a:rPr sz="950" b="0" i="0">
                <a:solidFill>
                  <a:srgbClr val="6B7280"/>
                </a:solidFill>
                <a:latin typeface="Segoe UI"/>
              </a:rPr>
              <a:t>12 read-only</a:t>
            </a:r>
          </a:p>
          <a:p>
            <a:pPr algn="l">
              <a:spcBef>
                <a:spcPts val="0"/>
              </a:spcBef>
              <a:spcAft>
                <a:spcPts val="200"/>
              </a:spcAft>
            </a:pPr>
            <a:r>
              <a:rPr sz="950" b="0" i="0">
                <a:solidFill>
                  <a:srgbClr val="6B7280"/>
                </a:solidFill>
                <a:latin typeface="Segoe UI"/>
              </a:rPr>
              <a:t>SQL tools</a:t>
            </a:r>
          </a:p>
        </p:txBody>
      </p:sp>
      <p:sp>
        <p:nvSpPr>
          <p:cNvPr id="18" name="Rectangle 17"/>
          <p:cNvSpPr/>
          <p:nvPr/>
        </p:nvSpPr>
        <p:spPr>
          <a:xfrm>
            <a:off x="5132710" y="5120640"/>
            <a:ext cx="1926275" cy="91440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Agent</a:t>
            </a:r>
          </a:p>
          <a:p>
            <a:pPr algn="l">
              <a:spcBef>
                <a:spcPts val="0"/>
              </a:spcBef>
              <a:spcAft>
                <a:spcPts val="200"/>
              </a:spcAft>
            </a:pPr>
            <a:r>
              <a:rPr sz="950" b="0" i="0">
                <a:solidFill>
                  <a:srgbClr val="6B7280"/>
                </a:solidFill>
                <a:latin typeface="Segoe UI"/>
              </a:rPr>
              <a:t>manual tool loop</a:t>
            </a:r>
          </a:p>
          <a:p>
            <a:pPr algn="l">
              <a:spcBef>
                <a:spcPts val="0"/>
              </a:spcBef>
              <a:spcAft>
                <a:spcPts val="200"/>
              </a:spcAft>
            </a:pPr>
            <a:r>
              <a:rPr sz="950" b="0" i="0">
                <a:solidFill>
                  <a:srgbClr val="6B7280"/>
                </a:solidFill>
                <a:latin typeface="Segoe UI"/>
              </a:rPr>
              <a:t>live or replayed</a:t>
            </a:r>
          </a:p>
        </p:txBody>
      </p:sp>
      <p:sp>
        <p:nvSpPr>
          <p:cNvPr id="19" name="Rectangle 18"/>
          <p:cNvSpPr/>
          <p:nvPr/>
        </p:nvSpPr>
        <p:spPr>
          <a:xfrm>
            <a:off x="7241865" y="5120640"/>
            <a:ext cx="1926275" cy="91440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Verifier</a:t>
            </a:r>
          </a:p>
          <a:p>
            <a:pPr algn="l">
              <a:spcBef>
                <a:spcPts val="0"/>
              </a:spcBef>
              <a:spcAft>
                <a:spcPts val="200"/>
              </a:spcAft>
            </a:pPr>
            <a:r>
              <a:rPr sz="950" b="0" i="0">
                <a:solidFill>
                  <a:srgbClr val="6B7280"/>
                </a:solidFill>
                <a:latin typeface="Segoe UI"/>
              </a:rPr>
              <a:t>recounts every</a:t>
            </a:r>
          </a:p>
          <a:p>
            <a:pPr algn="l">
              <a:spcBef>
                <a:spcPts val="0"/>
              </a:spcBef>
              <a:spcAft>
                <a:spcPts val="200"/>
              </a:spcAft>
            </a:pPr>
            <a:r>
              <a:rPr sz="950" b="0" i="0">
                <a:solidFill>
                  <a:srgbClr val="6B7280"/>
                </a:solidFill>
                <a:latin typeface="Segoe UI"/>
              </a:rPr>
              <a:t>claim server-side</a:t>
            </a:r>
          </a:p>
        </p:txBody>
      </p:sp>
      <p:sp>
        <p:nvSpPr>
          <p:cNvPr id="20" name="Rectangle 19"/>
          <p:cNvSpPr/>
          <p:nvPr/>
        </p:nvSpPr>
        <p:spPr>
          <a:xfrm>
            <a:off x="9351020" y="5120640"/>
            <a:ext cx="1926275" cy="91440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150" b="1" i="0">
                <a:solidFill>
                  <a:srgbClr val="14171C"/>
                </a:solidFill>
                <a:latin typeface="Segoe UI"/>
              </a:rPr>
              <a:t>Dashboard</a:t>
            </a:r>
          </a:p>
          <a:p>
            <a:pPr algn="l">
              <a:spcBef>
                <a:spcPts val="0"/>
              </a:spcBef>
              <a:spcAft>
                <a:spcPts val="200"/>
              </a:spcAft>
            </a:pPr>
            <a:r>
              <a:rPr sz="950" b="0" i="0">
                <a:solidFill>
                  <a:srgbClr val="6B7280"/>
                </a:solidFill>
                <a:latin typeface="Segoe UI"/>
              </a:rPr>
              <a:t>ES modules,</a:t>
            </a:r>
          </a:p>
          <a:p>
            <a:pPr algn="l">
              <a:spcBef>
                <a:spcPts val="0"/>
              </a:spcBef>
              <a:spcAft>
                <a:spcPts val="200"/>
              </a:spcAft>
            </a:pPr>
            <a:r>
              <a:rPr sz="950" b="0" i="0">
                <a:solidFill>
                  <a:srgbClr val="6B7280"/>
                </a:solidFill>
                <a:latin typeface="Segoe UI"/>
              </a:rPr>
              <a:t>no build step</a:t>
            </a:r>
          </a:p>
        </p:txBody>
      </p:sp>
      <p:sp>
        <p:nvSpPr>
          <p:cNvPr id="21" name="TextBox 20"/>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Nothing flows upward: the index never becomes a source, and the interface never writes the corpus.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THE PIPELINE</a:t>
            </a:r>
          </a:p>
          <a:p>
            <a:pPr algn="l">
              <a:spcBef>
                <a:spcPts val="0"/>
              </a:spcBef>
              <a:spcAft>
                <a:spcPts val="0"/>
              </a:spcAft>
            </a:pPr>
            <a:r>
              <a:rPr sz="3300" b="1" i="0">
                <a:solidFill>
                  <a:srgbClr val="14171C"/>
                </a:solidFill>
                <a:latin typeface="Segoe UI"/>
              </a:rPr>
              <a:t>Twelve commands, every one resumable</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777240" y="2103120"/>
            <a:ext cx="10607040" cy="347472"/>
          </a:xfrm>
          <a:prstGeom prst="rect">
            <a:avLst/>
          </a:prstGeom>
          <a:solidFill>
            <a:srgbClr val="E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 y="2167128"/>
            <a:ext cx="246888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Command</a:t>
            </a:r>
          </a:p>
        </p:txBody>
      </p:sp>
      <p:sp>
        <p:nvSpPr>
          <p:cNvPr id="6" name="TextBox 5"/>
          <p:cNvSpPr txBox="1"/>
          <p:nvPr/>
        </p:nvSpPr>
        <p:spPr>
          <a:xfrm>
            <a:off x="3557016" y="2167128"/>
            <a:ext cx="548640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What it does</a:t>
            </a:r>
          </a:p>
        </p:txBody>
      </p:sp>
      <p:sp>
        <p:nvSpPr>
          <p:cNvPr id="7" name="TextBox 6"/>
          <p:cNvSpPr txBox="1"/>
          <p:nvPr/>
        </p:nvSpPr>
        <p:spPr>
          <a:xfrm>
            <a:off x="9226296" y="2167128"/>
            <a:ext cx="210312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Output</a:t>
            </a:r>
          </a:p>
        </p:txBody>
      </p:sp>
      <p:sp>
        <p:nvSpPr>
          <p:cNvPr id="8" name="TextBox 7"/>
          <p:cNvSpPr txBox="1"/>
          <p:nvPr/>
        </p:nvSpPr>
        <p:spPr>
          <a:xfrm>
            <a:off x="905256" y="2523744"/>
            <a:ext cx="246888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voc ingest pull</a:t>
            </a:r>
          </a:p>
        </p:txBody>
      </p:sp>
      <p:sp>
        <p:nvSpPr>
          <p:cNvPr id="9" name="TextBox 8"/>
          <p:cNvSpPr txBox="1"/>
          <p:nvPr/>
        </p:nvSpPr>
        <p:spPr>
          <a:xfrm>
            <a:off x="3557016" y="2523744"/>
            <a:ext cx="54864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regulator API, month by month, cached on disk</a:t>
            </a:r>
          </a:p>
        </p:txBody>
      </p:sp>
      <p:sp>
        <p:nvSpPr>
          <p:cNvPr id="10" name="TextBox 9"/>
          <p:cNvSpPr txBox="1"/>
          <p:nvPr/>
        </p:nvSpPr>
        <p:spPr>
          <a:xfrm>
            <a:off x="9226296" y="2523744"/>
            <a:ext cx="21031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-&gt; data/raw/</a:t>
            </a:r>
          </a:p>
        </p:txBody>
      </p:sp>
      <p:cxnSp>
        <p:nvCxnSpPr>
          <p:cNvPr id="11" name="Connector 10"/>
          <p:cNvCxnSpPr/>
          <p:nvPr/>
        </p:nvCxnSpPr>
        <p:spPr>
          <a:xfrm>
            <a:off x="777240" y="279806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05256" y="2871216"/>
            <a:ext cx="246888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voc ingest profile</a:t>
            </a:r>
          </a:p>
        </p:txBody>
      </p:sp>
      <p:sp>
        <p:nvSpPr>
          <p:cNvPr id="13" name="TextBox 12"/>
          <p:cNvSpPr txBox="1"/>
          <p:nvPr/>
        </p:nvSpPr>
        <p:spPr>
          <a:xfrm>
            <a:off x="3557016" y="2871216"/>
            <a:ext cx="54864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the support gate that sets the corpus size</a:t>
            </a:r>
          </a:p>
        </p:txBody>
      </p:sp>
      <p:sp>
        <p:nvSpPr>
          <p:cNvPr id="14" name="TextBox 13"/>
          <p:cNvSpPr txBox="1"/>
          <p:nvPr/>
        </p:nvSpPr>
        <p:spPr>
          <a:xfrm>
            <a:off x="9226296" y="2871216"/>
            <a:ext cx="21031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-&gt; profile.json</a:t>
            </a:r>
          </a:p>
        </p:txBody>
      </p:sp>
      <p:cxnSp>
        <p:nvCxnSpPr>
          <p:cNvPr id="15" name="Connector 14"/>
          <p:cNvCxnSpPr/>
          <p:nvPr/>
        </p:nvCxnSpPr>
        <p:spPr>
          <a:xfrm>
            <a:off x="777240" y="3145536"/>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5256" y="3218688"/>
            <a:ext cx="246888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voc ingest sample</a:t>
            </a:r>
          </a:p>
        </p:txBody>
      </p:sp>
      <p:sp>
        <p:nvSpPr>
          <p:cNvPr id="17" name="TextBox 16"/>
          <p:cNvSpPr txBox="1"/>
          <p:nvPr/>
        </p:nvSpPr>
        <p:spPr>
          <a:xfrm>
            <a:off x="3557016" y="3218688"/>
            <a:ext cx="54864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hash-based constant fraction, fixed seed</a:t>
            </a:r>
          </a:p>
        </p:txBody>
      </p:sp>
      <p:sp>
        <p:nvSpPr>
          <p:cNvPr id="18" name="TextBox 17"/>
          <p:cNvSpPr txBox="1"/>
          <p:nvPr/>
        </p:nvSpPr>
        <p:spPr>
          <a:xfrm>
            <a:off x="9226296" y="3218688"/>
            <a:ext cx="21031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-&gt; calls.jsonl</a:t>
            </a:r>
          </a:p>
        </p:txBody>
      </p:sp>
      <p:cxnSp>
        <p:nvCxnSpPr>
          <p:cNvPr id="19" name="Connector 18"/>
          <p:cNvCxnSpPr/>
          <p:nvPr/>
        </p:nvCxnSpPr>
        <p:spPr>
          <a:xfrm>
            <a:off x="777240" y="3493008"/>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777240" y="3493008"/>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5256" y="3566160"/>
            <a:ext cx="2468880" cy="347472"/>
          </a:xfrm>
          <a:prstGeom prst="rect">
            <a:avLst/>
          </a:prstGeom>
          <a:noFill/>
        </p:spPr>
        <p:txBody>
          <a:bodyPr wrap="square" lIns="0" rIns="0" tIns="0" bIns="0">
            <a:spAutoFit/>
          </a:bodyPr>
          <a:lstStyle/>
          <a:p>
            <a:pPr algn="l">
              <a:spcBef>
                <a:spcPts val="0"/>
              </a:spcBef>
              <a:spcAft>
                <a:spcPts val="0"/>
              </a:spcAft>
            </a:pPr>
            <a:r>
              <a:rPr sz="1300" b="1" i="0">
                <a:solidFill>
                  <a:srgbClr val="C2411F"/>
                </a:solidFill>
                <a:latin typeface="Segoe UI"/>
              </a:rPr>
              <a:t>voc extract</a:t>
            </a:r>
          </a:p>
        </p:txBody>
      </p:sp>
      <p:sp>
        <p:nvSpPr>
          <p:cNvPr id="22" name="TextBox 21"/>
          <p:cNvSpPr txBox="1"/>
          <p:nvPr/>
        </p:nvSpPr>
        <p:spPr>
          <a:xfrm>
            <a:off x="3557016" y="3566160"/>
            <a:ext cx="54864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one model call per contact, strict schema</a:t>
            </a:r>
          </a:p>
        </p:txBody>
      </p:sp>
      <p:sp>
        <p:nvSpPr>
          <p:cNvPr id="23" name="TextBox 22"/>
          <p:cNvSpPr txBox="1"/>
          <p:nvPr/>
        </p:nvSpPr>
        <p:spPr>
          <a:xfrm>
            <a:off x="9226296" y="3566160"/>
            <a:ext cx="210312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-&gt; extractions.jsonl</a:t>
            </a:r>
          </a:p>
        </p:txBody>
      </p:sp>
      <p:cxnSp>
        <p:nvCxnSpPr>
          <p:cNvPr id="24" name="Connector 23"/>
          <p:cNvCxnSpPr/>
          <p:nvPr/>
        </p:nvCxnSpPr>
        <p:spPr>
          <a:xfrm>
            <a:off x="777240" y="3840480"/>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777240" y="3840480"/>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5256" y="3913632"/>
            <a:ext cx="2468880" cy="347472"/>
          </a:xfrm>
          <a:prstGeom prst="rect">
            <a:avLst/>
          </a:prstGeom>
          <a:noFill/>
        </p:spPr>
        <p:txBody>
          <a:bodyPr wrap="square" lIns="0" rIns="0" tIns="0" bIns="0">
            <a:spAutoFit/>
          </a:bodyPr>
          <a:lstStyle/>
          <a:p>
            <a:pPr algn="l">
              <a:spcBef>
                <a:spcPts val="0"/>
              </a:spcBef>
              <a:spcAft>
                <a:spcPts val="0"/>
              </a:spcAft>
            </a:pPr>
            <a:r>
              <a:rPr sz="1300" b="1" i="0">
                <a:solidFill>
                  <a:srgbClr val="C2411F"/>
                </a:solidFill>
                <a:latin typeface="Segoe UI"/>
              </a:rPr>
              <a:t>voc theme run</a:t>
            </a:r>
          </a:p>
        </p:txBody>
      </p:sp>
      <p:sp>
        <p:nvSpPr>
          <p:cNvPr id="27" name="TextBox 26"/>
          <p:cNvSpPr txBox="1"/>
          <p:nvPr/>
        </p:nvSpPr>
        <p:spPr>
          <a:xfrm>
            <a:off x="3557016" y="3913632"/>
            <a:ext cx="548640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seed, consolidate, rename, reassign, stability</a:t>
            </a:r>
          </a:p>
        </p:txBody>
      </p:sp>
      <p:sp>
        <p:nvSpPr>
          <p:cNvPr id="28" name="TextBox 27"/>
          <p:cNvSpPr txBox="1"/>
          <p:nvPr/>
        </p:nvSpPr>
        <p:spPr>
          <a:xfrm>
            <a:off x="9226296" y="3913632"/>
            <a:ext cx="2103120" cy="347472"/>
          </a:xfrm>
          <a:prstGeom prst="rect">
            <a:avLst/>
          </a:prstGeom>
          <a:noFill/>
        </p:spPr>
        <p:txBody>
          <a:bodyPr wrap="square" lIns="0" rIns="0" tIns="0" bIns="0">
            <a:spAutoFit/>
          </a:bodyPr>
          <a:lstStyle/>
          <a:p>
            <a:pPr algn="l">
              <a:spcBef>
                <a:spcPts val="0"/>
              </a:spcBef>
              <a:spcAft>
                <a:spcPts val="0"/>
              </a:spcAft>
            </a:pPr>
            <a:r>
              <a:rPr sz="1300" b="0" i="0">
                <a:solidFill>
                  <a:srgbClr val="C2411F"/>
                </a:solidFill>
                <a:latin typeface="Segoe UI"/>
              </a:rPr>
              <a:t>-&gt; themes/</a:t>
            </a:r>
          </a:p>
        </p:txBody>
      </p:sp>
      <p:cxnSp>
        <p:nvCxnSpPr>
          <p:cNvPr id="29" name="Connector 28"/>
          <p:cNvCxnSpPr/>
          <p:nvPr/>
        </p:nvCxnSpPr>
        <p:spPr>
          <a:xfrm>
            <a:off x="777240" y="4187952"/>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905256" y="4261104"/>
            <a:ext cx="246888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voc build-db</a:t>
            </a:r>
          </a:p>
        </p:txBody>
      </p:sp>
      <p:sp>
        <p:nvSpPr>
          <p:cNvPr id="31" name="TextBox 30"/>
          <p:cNvSpPr txBox="1"/>
          <p:nvPr/>
        </p:nvSpPr>
        <p:spPr>
          <a:xfrm>
            <a:off x="3557016" y="4261104"/>
            <a:ext cx="54864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files -&gt; SQLite, then materialise trends</a:t>
            </a:r>
          </a:p>
        </p:txBody>
      </p:sp>
      <p:sp>
        <p:nvSpPr>
          <p:cNvPr id="32" name="TextBox 31"/>
          <p:cNvSpPr txBox="1"/>
          <p:nvPr/>
        </p:nvSpPr>
        <p:spPr>
          <a:xfrm>
            <a:off x="9226296" y="4261104"/>
            <a:ext cx="21031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-&gt; voc.sqlite</a:t>
            </a:r>
          </a:p>
        </p:txBody>
      </p:sp>
      <p:cxnSp>
        <p:nvCxnSpPr>
          <p:cNvPr id="33" name="Connector 32"/>
          <p:cNvCxnSpPr/>
          <p:nvPr/>
        </p:nvCxnSpPr>
        <p:spPr>
          <a:xfrm>
            <a:off x="777240" y="453542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05256" y="4608576"/>
            <a:ext cx="246888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voc qa</a:t>
            </a:r>
          </a:p>
        </p:txBody>
      </p:sp>
      <p:sp>
        <p:nvSpPr>
          <p:cNvPr id="35" name="TextBox 34"/>
          <p:cNvSpPr txBox="1"/>
          <p:nvPr/>
        </p:nvSpPr>
        <p:spPr>
          <a:xfrm>
            <a:off x="3557016" y="4608576"/>
            <a:ext cx="54864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extraction quality metrics, stored in the index</a:t>
            </a:r>
          </a:p>
        </p:txBody>
      </p:sp>
      <p:sp>
        <p:nvSpPr>
          <p:cNvPr id="36" name="TextBox 35"/>
          <p:cNvSpPr txBox="1"/>
          <p:nvPr/>
        </p:nvSpPr>
        <p:spPr>
          <a:xfrm>
            <a:off x="9226296" y="4608576"/>
            <a:ext cx="21031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-&gt; meta</a:t>
            </a:r>
          </a:p>
        </p:txBody>
      </p:sp>
      <p:cxnSp>
        <p:nvCxnSpPr>
          <p:cNvPr id="37" name="Connector 36"/>
          <p:cNvCxnSpPr/>
          <p:nvPr/>
        </p:nvCxnSpPr>
        <p:spPr>
          <a:xfrm>
            <a:off x="777240" y="4882896"/>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05256" y="4956048"/>
            <a:ext cx="2468880" cy="347472"/>
          </a:xfrm>
          <a:prstGeom prst="rect">
            <a:avLst/>
          </a:prstGeom>
          <a:noFill/>
        </p:spPr>
        <p:txBody>
          <a:bodyPr wrap="square" lIns="0" rIns="0" tIns="0" bIns="0">
            <a:spAutoFit/>
          </a:bodyPr>
          <a:lstStyle/>
          <a:p>
            <a:pPr algn="l">
              <a:spcBef>
                <a:spcPts val="0"/>
              </a:spcBef>
              <a:spcAft>
                <a:spcPts val="0"/>
              </a:spcAft>
            </a:pPr>
            <a:r>
              <a:rPr sz="1300" b="0" i="0">
                <a:solidFill>
                  <a:srgbClr val="14171C"/>
                </a:solidFill>
                <a:latin typeface="Segoe UI"/>
              </a:rPr>
              <a:t>voc ask / serve</a:t>
            </a:r>
          </a:p>
        </p:txBody>
      </p:sp>
      <p:sp>
        <p:nvSpPr>
          <p:cNvPr id="39" name="TextBox 38"/>
          <p:cNvSpPr txBox="1"/>
          <p:nvPr/>
        </p:nvSpPr>
        <p:spPr>
          <a:xfrm>
            <a:off x="3557016" y="4956048"/>
            <a:ext cx="548640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the agent and the dashboard</a:t>
            </a:r>
          </a:p>
        </p:txBody>
      </p:sp>
      <p:sp>
        <p:nvSpPr>
          <p:cNvPr id="40" name="TextBox 39"/>
          <p:cNvSpPr txBox="1"/>
          <p:nvPr/>
        </p:nvSpPr>
        <p:spPr>
          <a:xfrm>
            <a:off x="9226296" y="4956048"/>
            <a:ext cx="2103120" cy="347472"/>
          </a:xfrm>
          <a:prstGeom prst="rect">
            <a:avLst/>
          </a:prstGeom>
          <a:noFill/>
        </p:spPr>
        <p:txBody>
          <a:bodyPr wrap="square" lIns="0" rIns="0" tIns="0" bIns="0">
            <a:spAutoFit/>
          </a:bodyPr>
          <a:lstStyle/>
          <a:p>
            <a:pPr algn="l">
              <a:spcBef>
                <a:spcPts val="0"/>
              </a:spcBef>
              <a:spcAft>
                <a:spcPts val="0"/>
              </a:spcAft>
            </a:pPr>
            <a:r>
              <a:rPr sz="1300" b="0" i="0">
                <a:solidFill>
                  <a:srgbClr val="6B7280"/>
                </a:solidFill>
                <a:latin typeface="Segoe UI"/>
              </a:rPr>
              <a:t>-&gt; answers/</a:t>
            </a:r>
          </a:p>
        </p:txBody>
      </p:sp>
      <p:cxnSp>
        <p:nvCxnSpPr>
          <p:cNvPr id="41" name="Connector 40"/>
          <p:cNvCxnSpPr/>
          <p:nvPr/>
        </p:nvCxnSpPr>
        <p:spPr>
          <a:xfrm>
            <a:off x="777240" y="5230368"/>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777240" y="5577840"/>
            <a:ext cx="10637215" cy="822960"/>
          </a:xfrm>
          <a:prstGeom prst="rect">
            <a:avLst/>
          </a:prstGeom>
          <a:noFill/>
        </p:spPr>
        <p:txBody>
          <a:bodyPr wrap="square" lIns="0" rIns="0" tIns="0" bIns="0">
            <a:spAutoFit/>
          </a:bodyPr>
          <a:lstStyle/>
          <a:p>
            <a:pPr algn="l">
              <a:spcBef>
                <a:spcPts val="0"/>
              </a:spcBef>
              <a:spcAft>
                <a:spcPts val="600"/>
              </a:spcAft>
            </a:pPr>
            <a:r>
              <a:rPr sz="1600" b="1" i="0">
                <a:solidFill>
                  <a:srgbClr val="C2411F"/>
                </a:solidFill>
                <a:latin typeface="Segoe UI"/>
              </a:rPr>
              <a:t>Every stage caches each model call by a content hash of its own input.</a:t>
            </a:r>
          </a:p>
          <a:p>
            <a:pPr algn="l">
              <a:spcBef>
                <a:spcPts val="0"/>
              </a:spcBef>
              <a:spcAft>
                <a:spcPts val="0"/>
              </a:spcAft>
            </a:pPr>
            <a:r>
              <a:rPr sz="1300" b="0" i="0">
                <a:solidFill>
                  <a:srgbClr val="6B7280"/>
                </a:solidFill>
                <a:latin typeface="Segoe UI"/>
              </a:rPr>
              <a:t>A killed run resumes where it stopped, a re-run costs nothing, and changing the taxonomy bumps a version that is part of the key, which re-reads the corpus on purpose.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THE TOOLS</a:t>
            </a:r>
          </a:p>
          <a:p>
            <a:pPr algn="l">
              <a:spcBef>
                <a:spcPts val="0"/>
              </a:spcBef>
              <a:spcAft>
                <a:spcPts val="0"/>
              </a:spcAft>
            </a:pPr>
            <a:r>
              <a:rPr sz="3300" b="1" i="0">
                <a:solidFill>
                  <a:srgbClr val="14171C"/>
                </a:solidFill>
                <a:latin typeface="Segoe UI"/>
              </a:rPr>
              <a:t>12 read-only tools, plus one that ends the turn</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777240" y="2029968"/>
            <a:ext cx="10607040" cy="347472"/>
          </a:xfrm>
          <a:prstGeom prst="rect">
            <a:avLst/>
          </a:prstGeom>
          <a:solidFill>
            <a:srgbClr val="E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 y="2093976"/>
            <a:ext cx="256032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Tool</a:t>
            </a:r>
          </a:p>
        </p:txBody>
      </p:sp>
      <p:sp>
        <p:nvSpPr>
          <p:cNvPr id="6" name="TextBox 5"/>
          <p:cNvSpPr txBox="1"/>
          <p:nvPr/>
        </p:nvSpPr>
        <p:spPr>
          <a:xfrm>
            <a:off x="3648456" y="2093976"/>
            <a:ext cx="768096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What it returns</a:t>
            </a:r>
          </a:p>
        </p:txBody>
      </p:sp>
      <p:sp>
        <p:nvSpPr>
          <p:cNvPr id="7" name="TextBox 6"/>
          <p:cNvSpPr txBox="1"/>
          <p:nvPr/>
        </p:nvSpPr>
        <p:spPr>
          <a:xfrm>
            <a:off x="905256" y="2450592"/>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get_overview</a:t>
            </a:r>
          </a:p>
        </p:txBody>
      </p:sp>
      <p:sp>
        <p:nvSpPr>
          <p:cNvPr id="8" name="TextBox 7"/>
          <p:cNvSpPr txBox="1"/>
          <p:nvPr/>
        </p:nvSpPr>
        <p:spPr>
          <a:xfrm>
            <a:off x="3648456" y="2450592"/>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Totals, volume by month, top reasons and themes, the sentiment split</a:t>
            </a:r>
          </a:p>
        </p:txBody>
      </p:sp>
      <p:cxnSp>
        <p:nvCxnSpPr>
          <p:cNvPr id="9" name="Connector 8"/>
          <p:cNvCxnSpPr/>
          <p:nvPr/>
        </p:nvCxnSpPr>
        <p:spPr>
          <a:xfrm>
            <a:off x="777240" y="2724912"/>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905256" y="2798064"/>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contact_reasons</a:t>
            </a:r>
          </a:p>
        </p:txBody>
      </p:sp>
      <p:sp>
        <p:nvSpPr>
          <p:cNvPr id="11" name="TextBox 10"/>
          <p:cNvSpPr txBox="1"/>
          <p:nvPr/>
        </p:nvSpPr>
        <p:spPr>
          <a:xfrm>
            <a:off x="3648456" y="2798064"/>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Reasons ranked, with change on the previous period and the customer's words</a:t>
            </a:r>
          </a:p>
        </p:txBody>
      </p:sp>
      <p:cxnSp>
        <p:nvCxnSpPr>
          <p:cNvPr id="12" name="Connector 11"/>
          <p:cNvCxnSpPr/>
          <p:nvPr/>
        </p:nvCxnSpPr>
        <p:spPr>
          <a:xfrm>
            <a:off x="777240" y="307238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905256" y="3145536"/>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list_themes</a:t>
            </a:r>
          </a:p>
        </p:txBody>
      </p:sp>
      <p:sp>
        <p:nvSpPr>
          <p:cNvPr id="14" name="TextBox 13"/>
          <p:cNvSpPr txBox="1"/>
          <p:nvPr/>
        </p:nvSpPr>
        <p:spPr>
          <a:xfrm>
            <a:off x="3648456" y="3145536"/>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Themes ranked by calls, negative mass, emerging score or wordings</a:t>
            </a:r>
          </a:p>
        </p:txBody>
      </p:sp>
      <p:cxnSp>
        <p:nvCxnSpPr>
          <p:cNvPr id="15" name="Connector 14"/>
          <p:cNvCxnSpPr/>
          <p:nvPr/>
        </p:nvCxnSpPr>
        <p:spPr>
          <a:xfrm>
            <a:off x="777240" y="3419856"/>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5256" y="3493008"/>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theme_detail</a:t>
            </a:r>
          </a:p>
        </p:txBody>
      </p:sp>
      <p:sp>
        <p:nvSpPr>
          <p:cNvPr id="17" name="TextBox 16"/>
          <p:cNvSpPr txBox="1"/>
          <p:nvPr/>
        </p:nvSpPr>
        <p:spPr>
          <a:xfrm>
            <a:off x="3648456" y="3493008"/>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One theme in full: definition, cause, every distinct wording, its weekly series</a:t>
            </a:r>
          </a:p>
        </p:txBody>
      </p:sp>
      <p:cxnSp>
        <p:nvCxnSpPr>
          <p:cNvPr id="18" name="Connector 17"/>
          <p:cNvCxnSpPr/>
          <p:nvPr/>
        </p:nvCxnSpPr>
        <p:spPr>
          <a:xfrm>
            <a:off x="777240" y="3767328"/>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05256" y="3840480"/>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theme_trend</a:t>
            </a:r>
          </a:p>
        </p:txBody>
      </p:sp>
      <p:sp>
        <p:nvSpPr>
          <p:cNvPr id="20" name="TextBox 19"/>
          <p:cNvSpPr txBox="1"/>
          <p:nvPr/>
        </p:nvSpPr>
        <p:spPr>
          <a:xfrm>
            <a:off x="3648456" y="3840480"/>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Weekly or monthly series for up to six themes or reasons</a:t>
            </a:r>
          </a:p>
        </p:txBody>
      </p:sp>
      <p:cxnSp>
        <p:nvCxnSpPr>
          <p:cNvPr id="21" name="Connector 20"/>
          <p:cNvCxnSpPr/>
          <p:nvPr/>
        </p:nvCxnSpPr>
        <p:spPr>
          <a:xfrm>
            <a:off x="777240" y="4114800"/>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905256" y="4187952"/>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emerging_themes</a:t>
            </a:r>
          </a:p>
        </p:txBody>
      </p:sp>
      <p:sp>
        <p:nvSpPr>
          <p:cNvPr id="23" name="TextBox 22"/>
          <p:cNvSpPr txBox="1"/>
          <p:nvPr/>
        </p:nvSpPr>
        <p:spPr>
          <a:xfrm>
            <a:off x="3648456" y="4187952"/>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What is new, emerging, growing or fading at a chosen as-of week</a:t>
            </a:r>
          </a:p>
        </p:txBody>
      </p:sp>
      <p:cxnSp>
        <p:nvCxnSpPr>
          <p:cNvPr id="24" name="Connector 23"/>
          <p:cNvCxnSpPr/>
          <p:nvPr/>
        </p:nvCxnSpPr>
        <p:spPr>
          <a:xfrm>
            <a:off x="777240" y="4462272"/>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905256" y="4535424"/>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sentiment_drivers</a:t>
            </a:r>
          </a:p>
        </p:txBody>
      </p:sp>
      <p:sp>
        <p:nvSpPr>
          <p:cNvPr id="26" name="TextBox 25"/>
          <p:cNvSpPr txBox="1"/>
          <p:nvPr/>
        </p:nvSpPr>
        <p:spPr>
          <a:xfrm>
            <a:off x="3648456" y="4535424"/>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What drives sentiment, with the specific triggers and two verified quotes</a:t>
            </a:r>
          </a:p>
        </p:txBody>
      </p:sp>
      <p:cxnSp>
        <p:nvCxnSpPr>
          <p:cNvPr id="27" name="Connector 26"/>
          <p:cNvCxnSpPr/>
          <p:nvPr/>
        </p:nvCxnSpPr>
        <p:spPr>
          <a:xfrm>
            <a:off x="777240" y="480974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05256" y="4882896"/>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breakdown</a:t>
            </a:r>
          </a:p>
        </p:txBody>
      </p:sp>
      <p:sp>
        <p:nvSpPr>
          <p:cNvPr id="29" name="TextBox 28"/>
          <p:cNvSpPr txBox="1"/>
          <p:nvPr/>
        </p:nvSpPr>
        <p:spPr>
          <a:xfrm>
            <a:off x="3648456" y="4882896"/>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One entity by product, channel, region or segment, with lift and suppression</a:t>
            </a:r>
          </a:p>
        </p:txBody>
      </p:sp>
      <p:cxnSp>
        <p:nvCxnSpPr>
          <p:cNvPr id="30" name="Connector 29"/>
          <p:cNvCxnSpPr/>
          <p:nvPr/>
        </p:nvCxnSpPr>
        <p:spPr>
          <a:xfrm>
            <a:off x="777240" y="5157216"/>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05256" y="5230368"/>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compare</a:t>
            </a:r>
          </a:p>
        </p:txBody>
      </p:sp>
      <p:sp>
        <p:nvSpPr>
          <p:cNvPr id="32" name="TextBox 31"/>
          <p:cNvSpPr txBox="1"/>
          <p:nvPr/>
        </p:nvSpPr>
        <p:spPr>
          <a:xfrm>
            <a:off x="3648456" y="5230368"/>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Two filtered scopes side by side, and what differs most between them</a:t>
            </a:r>
          </a:p>
        </p:txBody>
      </p:sp>
      <p:cxnSp>
        <p:nvCxnSpPr>
          <p:cNvPr id="33" name="Connector 32"/>
          <p:cNvCxnSpPr/>
          <p:nvPr/>
        </p:nvCxnSpPr>
        <p:spPr>
          <a:xfrm>
            <a:off x="777240" y="5504688"/>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05256" y="5577840"/>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get_quotes</a:t>
            </a:r>
          </a:p>
        </p:txBody>
      </p:sp>
      <p:sp>
        <p:nvSpPr>
          <p:cNvPr id="35" name="TextBox 34"/>
          <p:cNvSpPr txBox="1"/>
          <p:nvPr/>
        </p:nvSpPr>
        <p:spPr>
          <a:xfrm>
            <a:off x="3648456" y="5577840"/>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Verified verbatim statements, spread across months and products</a:t>
            </a:r>
          </a:p>
        </p:txBody>
      </p:sp>
      <p:cxnSp>
        <p:nvCxnSpPr>
          <p:cNvPr id="36" name="Connector 35"/>
          <p:cNvCxnSpPr/>
          <p:nvPr/>
        </p:nvCxnSpPr>
        <p:spPr>
          <a:xfrm>
            <a:off x="777240" y="5852160"/>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905256" y="5925312"/>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search_calls</a:t>
            </a:r>
          </a:p>
        </p:txBody>
      </p:sp>
      <p:sp>
        <p:nvSpPr>
          <p:cNvPr id="38" name="TextBox 37"/>
          <p:cNvSpPr txBox="1"/>
          <p:nvPr/>
        </p:nvSpPr>
        <p:spPr>
          <a:xfrm>
            <a:off x="3648456" y="5925312"/>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Full-text search over the contact texts and the extracted statements</a:t>
            </a:r>
          </a:p>
        </p:txBody>
      </p:sp>
      <p:cxnSp>
        <p:nvCxnSpPr>
          <p:cNvPr id="39" name="Connector 38"/>
          <p:cNvCxnSpPr/>
          <p:nvPr/>
        </p:nvCxnSpPr>
        <p:spPr>
          <a:xfrm>
            <a:off x="777240" y="6199632"/>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905256" y="6272784"/>
            <a:ext cx="256032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get_call</a:t>
            </a:r>
          </a:p>
        </p:txBody>
      </p:sp>
      <p:sp>
        <p:nvSpPr>
          <p:cNvPr id="41" name="TextBox 40"/>
          <p:cNvSpPr txBox="1"/>
          <p:nvPr/>
        </p:nvSpPr>
        <p:spPr>
          <a:xfrm>
            <a:off x="3648456" y="6272784"/>
            <a:ext cx="768096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One contact in full: text, metadata, everything extracted, its themes</a:t>
            </a:r>
          </a:p>
        </p:txBody>
      </p:sp>
      <p:cxnSp>
        <p:nvCxnSpPr>
          <p:cNvPr id="42" name="Connector 41"/>
          <p:cNvCxnSpPr/>
          <p:nvPr/>
        </p:nvCxnSpPr>
        <p:spPr>
          <a:xfrm>
            <a:off x="777240" y="654710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777240" y="5806440"/>
            <a:ext cx="10637215" cy="731520"/>
          </a:xfrm>
          <a:prstGeom prst="rect">
            <a:avLst/>
          </a:prstGeom>
          <a:noFill/>
        </p:spPr>
        <p:txBody>
          <a:bodyPr wrap="square" lIns="0" rIns="0" tIns="0" bIns="0">
            <a:spAutoFit/>
          </a:bodyPr>
          <a:lstStyle/>
          <a:p>
            <a:pPr algn="l">
              <a:spcBef>
                <a:spcPts val="0"/>
              </a:spcBef>
              <a:spcAft>
                <a:spcPts val="500"/>
              </a:spcAft>
            </a:pPr>
            <a:r>
              <a:rPr sz="1300" b="1" i="0">
                <a:solidFill>
                  <a:srgbClr val="C2411F"/>
                </a:solidFill>
                <a:latin typeface="Segoe UI"/>
              </a:rPr>
              <a:t>submit_answer  ·  answer_markdown, claims, quotes, charts, caveats, followups</a:t>
            </a:r>
          </a:p>
          <a:p>
            <a:pPr algn="l">
              <a:spcBef>
                <a:spcPts val="0"/>
              </a:spcBef>
              <a:spcAft>
                <a:spcPts val="0"/>
              </a:spcAft>
            </a:pPr>
            <a:r>
              <a:rPr sz="1200" b="0" i="0">
                <a:solidFill>
                  <a:srgbClr val="6B7280"/>
                </a:solidFill>
                <a:latin typeface="Segoe UI"/>
              </a:rPr>
              <a:t>Terminal, and must be alone in its turn. Everything else is read-only: the agent can query the index but can never write to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ONE ENVELOPE FOR EVERY TOOL</a:t>
            </a:r>
          </a:p>
          <a:p>
            <a:pPr algn="l">
              <a:spcBef>
                <a:spcPts val="0"/>
              </a:spcBef>
              <a:spcAft>
                <a:spcPts val="0"/>
              </a:spcAft>
            </a:pPr>
            <a:r>
              <a:rPr sz="3300" b="1" i="0">
                <a:solidFill>
                  <a:srgbClr val="14171C"/>
                </a:solidFill>
                <a:latin typeface="Segoe UI"/>
              </a:rPr>
              <a:t>The contract that makes verification possible</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777240" y="2057400"/>
            <a:ext cx="5394960" cy="3200400"/>
          </a:xfrm>
          <a:prstGeom prst="rect">
            <a:avLst/>
          </a:prstGeom>
          <a:solidFill>
            <a:srgbClr val="FFFFFD"/>
          </a:solidFill>
          <a:ln w="12700">
            <a:solidFill>
              <a:srgbClr val="C2411F"/>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400" b="1" i="0">
                <a:solidFill>
                  <a:srgbClr val="14171C"/>
                </a:solidFill>
                <a:latin typeface="Segoe UI"/>
              </a:rPr>
              <a:t>What a tool returns</a:t>
            </a:r>
          </a:p>
          <a:p>
            <a:pPr algn="l">
              <a:spcBef>
                <a:spcPts val="0"/>
              </a:spcBef>
              <a:spcAft>
                <a:spcPts val="200"/>
              </a:spcAft>
            </a:pPr>
            <a:r>
              <a:rPr sz="1150" b="0" i="0">
                <a:solidFill>
                  <a:srgbClr val="6B7280"/>
                </a:solidFill>
                <a:latin typeface="Segoe UI"/>
              </a:rPr>
              <a:t>result_id     the id a claim cites</a:t>
            </a:r>
          </a:p>
          <a:p>
            <a:pPr algn="l">
              <a:spcBef>
                <a:spcPts val="0"/>
              </a:spcBef>
              <a:spcAft>
                <a:spcPts val="200"/>
              </a:spcAft>
            </a:pPr>
            <a:r>
              <a:rPr sz="1150" b="0" i="0">
                <a:solidFill>
                  <a:srgbClr val="6B7280"/>
                </a:solidFill>
                <a:latin typeface="Segoe UI"/>
              </a:rPr>
              <a:t>tool, args    what was asked</a:t>
            </a:r>
          </a:p>
          <a:p>
            <a:pPr algn="l">
              <a:spcBef>
                <a:spcPts val="0"/>
              </a:spcBef>
              <a:spcAft>
                <a:spcPts val="200"/>
              </a:spcAft>
            </a:pPr>
            <a:r>
              <a:rPr sz="1150" b="0" i="0">
                <a:solidFill>
                  <a:srgbClr val="6B7280"/>
                </a:solidFill>
                <a:latin typeface="Segoe UI"/>
              </a:rPr>
              <a:t>scope         how many calls are in the filtered slice</a:t>
            </a:r>
          </a:p>
          <a:p>
            <a:pPr algn="l">
              <a:spcBef>
                <a:spcPts val="0"/>
              </a:spcBef>
              <a:spcAft>
                <a:spcPts val="200"/>
              </a:spcAft>
            </a:pPr>
            <a:r>
              <a:rPr sz="1150" b="0" i="0">
                <a:solidFill>
                  <a:srgbClr val="6B7280"/>
                </a:solidFill>
                <a:latin typeface="Segoe UI"/>
              </a:rPr>
              <a:t>summary       one line the model reads without parsing</a:t>
            </a:r>
          </a:p>
          <a:p>
            <a:pPr algn="l">
              <a:spcBef>
                <a:spcPts val="0"/>
              </a:spcBef>
              <a:spcAft>
                <a:spcPts val="200"/>
              </a:spcAft>
            </a:pPr>
            <a:r>
              <a:rPr sz="1150" b="0" i="0">
                <a:solidFill>
                  <a:srgbClr val="6B7280"/>
                </a:solidFill>
                <a:latin typeface="Segoe UI"/>
              </a:rPr>
              <a:t>rows, data    the actual findings</a:t>
            </a:r>
          </a:p>
          <a:p>
            <a:pPr algn="l">
              <a:spcBef>
                <a:spcPts val="0"/>
              </a:spcBef>
              <a:spcAft>
                <a:spcPts val="200"/>
              </a:spcAft>
            </a:pPr>
            <a:r>
              <a:rPr sz="1150" b="0" i="0">
                <a:solidFill>
                  <a:srgbClr val="6B7280"/>
                </a:solidFill>
                <a:latin typeface="Segoe UI"/>
              </a:rPr>
              <a:t>call_ids      up to 50 shown; n_call_ids is the true count</a:t>
            </a:r>
          </a:p>
          <a:p>
            <a:pPr algn="l">
              <a:spcBef>
                <a:spcPts val="0"/>
              </a:spcBef>
              <a:spcAft>
                <a:spcPts val="200"/>
              </a:spcAft>
            </a:pPr>
            <a:r>
              <a:rPr sz="1150" b="0" i="0">
                <a:solidFill>
                  <a:srgbClr val="6B7280"/>
                </a:solidFill>
                <a:latin typeface="Segoe UI"/>
              </a:rPr>
              <a:t>sql           the statements, kept so they can be re-run</a:t>
            </a:r>
          </a:p>
          <a:p>
            <a:pPr algn="l">
              <a:spcBef>
                <a:spcPts val="0"/>
              </a:spcBef>
              <a:spcAft>
                <a:spcPts val="200"/>
              </a:spcAft>
            </a:pPr>
            <a:r>
              <a:rPr sz="1150" b="0" i="0">
                <a:solidFill>
                  <a:srgbClr val="6B7280"/>
                </a:solidFill>
                <a:latin typeface="Segoe UI"/>
              </a:rPr>
              <a:t>data_version  which corpus this came from</a:t>
            </a:r>
          </a:p>
        </p:txBody>
      </p:sp>
      <p:sp>
        <p:nvSpPr>
          <p:cNvPr id="5" name="Rectangle 4"/>
          <p:cNvSpPr/>
          <p:nvPr/>
        </p:nvSpPr>
        <p:spPr>
          <a:xfrm>
            <a:off x="6446520" y="2057400"/>
            <a:ext cx="5394960" cy="3200400"/>
          </a:xfrm>
          <a:prstGeom prst="rect">
            <a:avLst/>
          </a:prstGeom>
          <a:solidFill>
            <a:srgbClr val="FFFFFD"/>
          </a:solidFill>
          <a:ln w="12700">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rIns="128016" tIns="91440"/>
          <a:lstStyle/>
          <a:p>
            <a:pPr algn="l">
              <a:spcBef>
                <a:spcPts val="0"/>
              </a:spcBef>
              <a:spcAft>
                <a:spcPts val="500"/>
              </a:spcAft>
            </a:pPr>
            <a:r>
              <a:rPr sz="1400" b="1" i="0">
                <a:solidFill>
                  <a:srgbClr val="14171C"/>
                </a:solidFill>
                <a:latin typeface="Segoe UI"/>
              </a:rPr>
              <a:t>Why it is shaped this way</a:t>
            </a:r>
          </a:p>
          <a:p>
            <a:pPr algn="l">
              <a:spcBef>
                <a:spcPts val="0"/>
              </a:spcBef>
              <a:spcAft>
                <a:spcPts val="200"/>
              </a:spcAft>
            </a:pPr>
            <a:r>
              <a:rPr sz="1150" b="0" i="0">
                <a:solidFill>
                  <a:srgbClr val="6B7280"/>
                </a:solidFill>
                <a:latin typeface="Segoe UI"/>
              </a:rPr>
              <a:t>A claim cites result_ids, not numbers.</a:t>
            </a:r>
          </a:p>
          <a:p>
            <a:pPr algn="l">
              <a:spcBef>
                <a:spcPts val="0"/>
              </a:spcBef>
              <a:spcAft>
                <a:spcPts val="200"/>
              </a:spcAft>
            </a:pPr>
            <a:r>
              <a:rPr sz="1150" b="0" i="0">
                <a:solidFill>
                  <a:srgbClr val="6B7280"/>
                </a:solidFill>
                <a:latin typeface="Segoe UI"/>
              </a:rPr>
              <a:t/>
            </a:r>
          </a:p>
          <a:p>
            <a:pPr algn="l">
              <a:spcBef>
                <a:spcPts val="0"/>
              </a:spcBef>
              <a:spcAft>
                <a:spcPts val="200"/>
              </a:spcAft>
            </a:pPr>
            <a:r>
              <a:rPr sz="1150" b="0" i="0">
                <a:solidFill>
                  <a:srgbClr val="6B7280"/>
                </a:solidFill>
                <a:latin typeface="Segoe UI"/>
              </a:rPr>
              <a:t>The server re-reads those results' full call-id lists,</a:t>
            </a:r>
          </a:p>
          <a:p>
            <a:pPr algn="l">
              <a:spcBef>
                <a:spcPts val="0"/>
              </a:spcBef>
              <a:spcAft>
                <a:spcPts val="200"/>
              </a:spcAft>
            </a:pPr>
            <a:r>
              <a:rPr sz="1150" b="0" i="0">
                <a:solidFill>
                  <a:srgbClr val="6B7280"/>
                </a:solidFill>
                <a:latin typeface="Segoe UI"/>
              </a:rPr>
              <a:t>recounts them, and overrides whatever the model said.</a:t>
            </a:r>
          </a:p>
          <a:p>
            <a:pPr algn="l">
              <a:spcBef>
                <a:spcPts val="0"/>
              </a:spcBef>
              <a:spcAft>
                <a:spcPts val="200"/>
              </a:spcAft>
            </a:pPr>
            <a:r>
              <a:rPr sz="1150" b="0" i="0">
                <a:solidFill>
                  <a:srgbClr val="6B7280"/>
                </a:solidFill>
                <a:latin typeface="Segoe UI"/>
              </a:rPr>
              <a:t/>
            </a:r>
          </a:p>
          <a:p>
            <a:pPr algn="l">
              <a:spcBef>
                <a:spcPts val="0"/>
              </a:spcBef>
              <a:spcAft>
                <a:spcPts val="200"/>
              </a:spcAft>
            </a:pPr>
            <a:r>
              <a:rPr sz="1150" b="0" i="0">
                <a:solidFill>
                  <a:srgbClr val="6B7280"/>
                </a:solidFill>
                <a:latin typeface="Segoe UI"/>
              </a:rPr>
              <a:t>The stored SQL means a number is still explainable</a:t>
            </a:r>
          </a:p>
          <a:p>
            <a:pPr algn="l">
              <a:spcBef>
                <a:spcPts val="0"/>
              </a:spcBef>
              <a:spcAft>
                <a:spcPts val="200"/>
              </a:spcAft>
            </a:pPr>
            <a:r>
              <a:rPr sz="1150" b="0" i="0">
                <a:solidFill>
                  <a:srgbClr val="6B7280"/>
                </a:solidFill>
                <a:latin typeface="Segoe UI"/>
              </a:rPr>
              <a:t>after the index is rebuilt: the query re-executes and</a:t>
            </a:r>
          </a:p>
          <a:p>
            <a:pPr algn="l">
              <a:spcBef>
                <a:spcPts val="0"/>
              </a:spcBef>
              <a:spcAft>
                <a:spcPts val="200"/>
              </a:spcAft>
            </a:pPr>
            <a:r>
              <a:rPr sz="1150" b="0" i="0">
                <a:solidFill>
                  <a:srgbClr val="6B7280"/>
                </a:solidFill>
                <a:latin typeface="Segoe UI"/>
              </a:rPr>
              <a:t>the call list comes back.</a:t>
            </a:r>
          </a:p>
          <a:p>
            <a:pPr algn="l">
              <a:spcBef>
                <a:spcPts val="0"/>
              </a:spcBef>
              <a:spcAft>
                <a:spcPts val="200"/>
              </a:spcAft>
            </a:pPr>
            <a:r>
              <a:rPr sz="1150" b="0" i="0">
                <a:solidFill>
                  <a:srgbClr val="6B7280"/>
                </a:solidFill>
                <a:latin typeface="Segoe UI"/>
              </a:rPr>
              <a:t/>
            </a:r>
          </a:p>
          <a:p>
            <a:pPr algn="l">
              <a:spcBef>
                <a:spcPts val="0"/>
              </a:spcBef>
              <a:spcAft>
                <a:spcPts val="200"/>
              </a:spcAft>
            </a:pPr>
            <a:r>
              <a:rPr sz="1150" b="0" i="0">
                <a:solidFill>
                  <a:srgbClr val="6B7280"/>
                </a:solidFill>
                <a:latin typeface="Segoe UI"/>
              </a:rPr>
              <a:t>Results are keyed by question, because result ids</a:t>
            </a:r>
          </a:p>
          <a:p>
            <a:pPr algn="l">
              <a:spcBef>
                <a:spcPts val="0"/>
              </a:spcBef>
              <a:spcAft>
                <a:spcPts val="200"/>
              </a:spcAft>
            </a:pPr>
            <a:r>
              <a:rPr sz="1150" b="0" i="0">
                <a:solidFill>
                  <a:srgbClr val="6B7280"/>
                </a:solidFill>
                <a:latin typeface="Segoe UI"/>
              </a:rPr>
              <a:t>restart at r1 for every question asked.</a:t>
            </a:r>
          </a:p>
        </p:txBody>
      </p:sp>
      <p:sp>
        <p:nvSpPr>
          <p:cNvPr id="6" name="TextBox 5"/>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Tool results are persisted, so "which calls?" works months later, not just during the run.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RUNNING WITH NO API KEY</a:t>
            </a:r>
          </a:p>
          <a:p>
            <a:pPr algn="l">
              <a:spcBef>
                <a:spcPts val="0"/>
              </a:spcBef>
              <a:spcAft>
                <a:spcPts val="0"/>
              </a:spcAft>
            </a:pPr>
            <a:r>
              <a:rPr sz="3300" b="1" i="0">
                <a:solidFill>
                  <a:srgbClr val="14171C"/>
                </a:solidFill>
                <a:latin typeface="Segoe UI"/>
              </a:rPr>
              <a:t>The offline mechanic, and why it exists</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57400"/>
            <a:ext cx="10637215" cy="4160520"/>
          </a:xfrm>
          <a:prstGeom prst="rect">
            <a:avLst/>
          </a:prstGeom>
          <a:noFill/>
        </p:spPr>
        <p:txBody>
          <a:bodyPr wrap="square" lIns="0" rIns="0" tIns="0" bIns="0">
            <a:spAutoFit/>
          </a:bodyPr>
          <a:lstStyle/>
          <a:p>
            <a:pPr>
              <a:spcAft>
                <a:spcPts val="1300"/>
              </a:spcAft>
            </a:pPr>
            <a:r>
              <a:rPr sz="1600" b="1">
                <a:solidFill>
                  <a:srgbClr val="14171C"/>
                </a:solidFill>
                <a:latin typeface="Segoe UI"/>
              </a:rPr>
              <a:t>Every LLM stage can export work bundles.  </a:t>
            </a:r>
            <a:r>
              <a:rPr sz="1600">
                <a:solidFill>
                  <a:srgbClr val="6B7280"/>
                </a:solidFill>
                <a:latin typeface="Segoe UI"/>
              </a:rPr>
              <a:t>A bundle carries the exact prompt, the records, the JSON schema and the cache identity to write. A build-time agent fills it and writes the same cache file the API path would have written.</a:t>
            </a:r>
          </a:p>
          <a:p>
            <a:pPr>
              <a:spcAft>
                <a:spcPts val="1300"/>
              </a:spcAft>
            </a:pPr>
            <a:r>
              <a:rPr sz="1600" b="1">
                <a:solidFill>
                  <a:srgbClr val="14171C"/>
                </a:solidFill>
                <a:latin typeface="Segoe UI"/>
              </a:rPr>
              <a:t>The runner does not care who did the reading.  </a:t>
            </a:r>
            <a:r>
              <a:rPr sz="1600">
                <a:solidFill>
                  <a:srgbClr val="6B7280"/>
                </a:solidFill>
                <a:latin typeface="Segoe UI"/>
              </a:rPr>
              <a:t>A `produced_by` field records it. A fake-produced index is refused unless explicitly asked for, and then the interface shows a red warning.</a:t>
            </a:r>
          </a:p>
          <a:p>
            <a:pPr>
              <a:spcAft>
                <a:spcPts val="1300"/>
              </a:spcAft>
            </a:pPr>
            <a:r>
              <a:rPr sz="1600" b="1">
                <a:solidFill>
                  <a:srgbClr val="14171C"/>
                </a:solidFill>
                <a:latin typeface="Segoe UI"/>
              </a:rPr>
              <a:t>Answers are recorded the same way.  </a:t>
            </a:r>
            <a:r>
              <a:rPr sz="1600">
                <a:solidFill>
                  <a:srgbClr val="6B7280"/>
                </a:solidFill>
                <a:latin typeface="Segoe UI"/>
              </a:rPr>
              <a:t>Drive the real tools from the shell, write the answer JSON, and finalize runs it through the same verifier a live answer uses.</a:t>
            </a:r>
          </a:p>
        </p:txBody>
      </p:sp>
      <p:sp>
        <p:nvSpPr>
          <p:cNvPr id="5" name="Rectangle 4"/>
          <p:cNvSpPr/>
          <p:nvPr/>
        </p:nvSpPr>
        <p:spPr>
          <a:xfrm>
            <a:off x="777240" y="470916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5,425</a:t>
            </a:r>
          </a:p>
          <a:p>
            <a:pPr algn="ctr">
              <a:spcBef>
                <a:spcPts val="0"/>
              </a:spcBef>
              <a:spcAft>
                <a:spcPts val="0"/>
              </a:spcAft>
            </a:pPr>
            <a:r>
              <a:rPr sz="1150" b="0" i="0">
                <a:solidFill>
                  <a:srgbClr val="6B7280"/>
                </a:solidFill>
                <a:latin typeface="Segoe UI"/>
              </a:rPr>
              <a:t>extract</a:t>
            </a:r>
          </a:p>
        </p:txBody>
      </p:sp>
      <p:sp>
        <p:nvSpPr>
          <p:cNvPr id="6" name="Rectangle 5"/>
          <p:cNvSpPr/>
          <p:nvPr/>
        </p:nvSpPr>
        <p:spPr>
          <a:xfrm>
            <a:off x="2959547" y="470916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191</a:t>
            </a:r>
          </a:p>
          <a:p>
            <a:pPr algn="ctr">
              <a:spcBef>
                <a:spcPts val="0"/>
              </a:spcBef>
              <a:spcAft>
                <a:spcPts val="0"/>
              </a:spcAft>
            </a:pPr>
            <a:r>
              <a:rPr sz="1150" b="0" i="0">
                <a:solidFill>
                  <a:srgbClr val="6B7280"/>
                </a:solidFill>
                <a:latin typeface="Segoe UI"/>
              </a:rPr>
              <a:t>theme reassign</a:t>
            </a:r>
          </a:p>
        </p:txBody>
      </p:sp>
      <p:sp>
        <p:nvSpPr>
          <p:cNvPr id="7" name="Rectangle 6"/>
          <p:cNvSpPr/>
          <p:nvPr/>
        </p:nvSpPr>
        <p:spPr>
          <a:xfrm>
            <a:off x="5141854" y="470916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139</a:t>
            </a:r>
          </a:p>
          <a:p>
            <a:pPr algn="ctr">
              <a:spcBef>
                <a:spcPts val="0"/>
              </a:spcBef>
              <a:spcAft>
                <a:spcPts val="0"/>
              </a:spcAft>
            </a:pPr>
            <a:r>
              <a:rPr sz="1150" b="0" i="0">
                <a:solidFill>
                  <a:srgbClr val="6B7280"/>
                </a:solidFill>
                <a:latin typeface="Segoe UI"/>
              </a:rPr>
              <a:t>theme seed</a:t>
            </a:r>
          </a:p>
        </p:txBody>
      </p:sp>
      <p:sp>
        <p:nvSpPr>
          <p:cNvPr id="8" name="Rectangle 7"/>
          <p:cNvSpPr/>
          <p:nvPr/>
        </p:nvSpPr>
        <p:spPr>
          <a:xfrm>
            <a:off x="7324161" y="470916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68</a:t>
            </a:r>
          </a:p>
          <a:p>
            <a:pPr algn="ctr">
              <a:spcBef>
                <a:spcPts val="0"/>
              </a:spcBef>
              <a:spcAft>
                <a:spcPts val="0"/>
              </a:spcAft>
            </a:pPr>
            <a:r>
              <a:rPr sz="1150" b="0" i="0">
                <a:solidFill>
                  <a:srgbClr val="6B7280"/>
                </a:solidFill>
                <a:latin typeface="Segoe UI"/>
              </a:rPr>
              <a:t>theme consolidate</a:t>
            </a:r>
          </a:p>
        </p:txBody>
      </p:sp>
      <p:sp>
        <p:nvSpPr>
          <p:cNvPr id="9" name="Rectangle 8"/>
          <p:cNvSpPr/>
          <p:nvPr/>
        </p:nvSpPr>
        <p:spPr>
          <a:xfrm>
            <a:off x="9506468" y="4709160"/>
            <a:ext cx="1907987" cy="1188720"/>
          </a:xfrm>
          <a:prstGeom prst="rect">
            <a:avLst/>
          </a:prstGeom>
          <a:solidFill>
            <a:srgbClr val="F2F1EA"/>
          </a:solidFill>
          <a:ln w="9525">
            <a:solidFill>
              <a:srgbClr val="DEDED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rIns="146304"/>
          <a:lstStyle/>
          <a:p>
            <a:pPr algn="ctr">
              <a:spcBef>
                <a:spcPts val="0"/>
              </a:spcBef>
              <a:spcAft>
                <a:spcPts val="200"/>
              </a:spcAft>
            </a:pPr>
            <a:r>
              <a:rPr sz="3000" b="1" i="0">
                <a:solidFill>
                  <a:srgbClr val="14171C"/>
                </a:solidFill>
                <a:latin typeface="Segoe UI"/>
              </a:rPr>
              <a:t>25</a:t>
            </a:r>
          </a:p>
          <a:p>
            <a:pPr algn="ctr">
              <a:spcBef>
                <a:spcPts val="0"/>
              </a:spcBef>
              <a:spcAft>
                <a:spcPts val="0"/>
              </a:spcAft>
            </a:pPr>
            <a:r>
              <a:rPr sz="1150" b="0" i="0">
                <a:solidFill>
                  <a:srgbClr val="6B7280"/>
                </a:solidFill>
                <a:latin typeface="Segoe UI"/>
              </a:rPr>
              <a:t>recorded answers</a:t>
            </a:r>
          </a:p>
        </p:txBody>
      </p:sp>
      <p:sp>
        <p:nvSpPr>
          <p:cNvPr id="10" name="TextBox 9"/>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This is how all 5,425 contacts were read and all 7,417 statements grouped, on a machine with no key.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THREE WAYS TO ANSWER</a:t>
            </a:r>
          </a:p>
          <a:p>
            <a:pPr algn="l">
              <a:spcBef>
                <a:spcPts val="0"/>
              </a:spcBef>
              <a:spcAft>
                <a:spcPts val="0"/>
              </a:spcAft>
            </a:pPr>
            <a:r>
              <a:rPr sz="3300" b="1" i="0">
                <a:solidFill>
                  <a:srgbClr val="14171C"/>
                </a:solidFill>
                <a:latin typeface="Segoe UI"/>
              </a:rPr>
              <a:t>Same tools, same verifier, different source of judgement</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777240" y="2103120"/>
            <a:ext cx="3520440" cy="64008"/>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95528" y="2304288"/>
            <a:ext cx="3520440" cy="731520"/>
          </a:xfrm>
          <a:prstGeom prst="rect">
            <a:avLst/>
          </a:prstGeom>
          <a:noFill/>
        </p:spPr>
        <p:txBody>
          <a:bodyPr wrap="square" lIns="0" rIns="0" tIns="0" bIns="0">
            <a:spAutoFit/>
          </a:bodyPr>
          <a:lstStyle/>
          <a:p>
            <a:pPr algn="l">
              <a:spcBef>
                <a:spcPts val="0"/>
              </a:spcBef>
              <a:spcAft>
                <a:spcPts val="200"/>
              </a:spcAft>
            </a:pPr>
            <a:r>
              <a:rPr sz="1900" b="1" i="0">
                <a:solidFill>
                  <a:srgbClr val="14171C"/>
                </a:solidFill>
                <a:latin typeface="Segoe UI"/>
              </a:rPr>
              <a:t>LIVE</a:t>
            </a:r>
          </a:p>
          <a:p>
            <a:pPr algn="l">
              <a:spcBef>
                <a:spcPts val="0"/>
              </a:spcBef>
              <a:spcAft>
                <a:spcPts val="0"/>
              </a:spcAft>
            </a:pPr>
            <a:r>
              <a:rPr sz="1200" b="0" i="1">
                <a:solidFill>
                  <a:srgbClr val="C2411F"/>
                </a:solidFill>
                <a:latin typeface="Segoe UI"/>
              </a:rPr>
              <a:t>an agent calls the model</a:t>
            </a:r>
          </a:p>
        </p:txBody>
      </p:sp>
      <p:sp>
        <p:nvSpPr>
          <p:cNvPr id="6" name="TextBox 5"/>
          <p:cNvSpPr txBox="1"/>
          <p:nvPr/>
        </p:nvSpPr>
        <p:spPr>
          <a:xfrm>
            <a:off x="795528" y="3154680"/>
            <a:ext cx="3520440" cy="2194560"/>
          </a:xfrm>
          <a:prstGeom prst="rect">
            <a:avLst/>
          </a:prstGeom>
          <a:noFill/>
        </p:spPr>
        <p:txBody>
          <a:bodyPr wrap="square" lIns="0" rIns="0" tIns="0" bIns="0">
            <a:spAutoFit/>
          </a:bodyPr>
          <a:lstStyle/>
          <a:p>
            <a:pPr algn="l">
              <a:spcBef>
                <a:spcPts val="0"/>
              </a:spcBef>
              <a:spcAft>
                <a:spcPts val="900"/>
              </a:spcAft>
            </a:pPr>
            <a:r>
              <a:rPr sz="1250" b="0" i="0">
                <a:solidFill>
                  <a:srgbClr val="6B7280"/>
                </a:solidFill>
                <a:latin typeface="Segoe UI"/>
              </a:rPr>
              <a:t>The agent picks tools itself.</a:t>
            </a:r>
          </a:p>
          <a:p>
            <a:pPr algn="l">
              <a:spcBef>
                <a:spcPts val="0"/>
              </a:spcBef>
              <a:spcAft>
                <a:spcPts val="900"/>
              </a:spcAft>
            </a:pPr>
            <a:r>
              <a:rPr sz="1250" b="0" i="0">
                <a:solidFill>
                  <a:srgbClr val="6B7280"/>
                </a:solidFill>
                <a:latin typeface="Segoe UI"/>
              </a:rPr>
              <a:t>Streams its reasoning and every call.</a:t>
            </a:r>
          </a:p>
          <a:p>
            <a:pPr algn="l">
              <a:spcBef>
                <a:spcPts val="0"/>
              </a:spcBef>
              <a:spcAft>
                <a:spcPts val="900"/>
              </a:spcAft>
            </a:pPr>
            <a:r>
              <a:rPr sz="1250" b="0" i="0">
                <a:solidFill>
                  <a:srgbClr val="6B7280"/>
                </a:solidFill>
                <a:latin typeface="Segoe UI"/>
              </a:rPr>
              <a:t>Round and time budgets bound it.</a:t>
            </a:r>
          </a:p>
          <a:p>
            <a:pPr algn="l">
              <a:spcBef>
                <a:spcPts val="0"/>
              </a:spcBef>
              <a:spcAft>
                <a:spcPts val="900"/>
              </a:spcAft>
            </a:pPr>
            <a:r>
              <a:rPr sz="1250" b="0" i="0">
                <a:solidFill>
                  <a:srgbClr val="6B7280"/>
                </a:solidFill>
                <a:latin typeface="Segoe UI"/>
              </a:rPr>
              <a:t>Needs a key. Costs per question.</a:t>
            </a:r>
          </a:p>
        </p:txBody>
      </p:sp>
      <p:sp>
        <p:nvSpPr>
          <p:cNvPr id="7" name="Rectangle 6"/>
          <p:cNvSpPr/>
          <p:nvPr/>
        </p:nvSpPr>
        <p:spPr>
          <a:xfrm>
            <a:off x="4553712" y="2103120"/>
            <a:ext cx="3520440" cy="64008"/>
          </a:xfrm>
          <a:prstGeom prst="rect">
            <a:avLst/>
          </a:prstGeom>
          <a:solidFill>
            <a:srgbClr val="2F6F4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0" y="2304288"/>
            <a:ext cx="3520440" cy="731520"/>
          </a:xfrm>
          <a:prstGeom prst="rect">
            <a:avLst/>
          </a:prstGeom>
          <a:noFill/>
        </p:spPr>
        <p:txBody>
          <a:bodyPr wrap="square" lIns="0" rIns="0" tIns="0" bIns="0">
            <a:spAutoFit/>
          </a:bodyPr>
          <a:lstStyle/>
          <a:p>
            <a:pPr algn="l">
              <a:spcBef>
                <a:spcPts val="0"/>
              </a:spcBef>
              <a:spcAft>
                <a:spcPts val="200"/>
              </a:spcAft>
            </a:pPr>
            <a:r>
              <a:rPr sz="1900" b="1" i="0">
                <a:solidFill>
                  <a:srgbClr val="14171C"/>
                </a:solidFill>
                <a:latin typeface="Segoe UI"/>
              </a:rPr>
              <a:t>RECORDED</a:t>
            </a:r>
          </a:p>
          <a:p>
            <a:pPr algn="l">
              <a:spcBef>
                <a:spcPts val="0"/>
              </a:spcBef>
              <a:spcAft>
                <a:spcPts val="0"/>
              </a:spcAft>
            </a:pPr>
            <a:r>
              <a:rPr sz="1200" b="0" i="1">
                <a:solidFill>
                  <a:srgbClr val="2F6F4E"/>
                </a:solidFill>
                <a:latin typeface="Segoe UI"/>
              </a:rPr>
              <a:t>a real run, replayed</a:t>
            </a:r>
          </a:p>
        </p:txBody>
      </p:sp>
      <p:sp>
        <p:nvSpPr>
          <p:cNvPr id="9" name="TextBox 8"/>
          <p:cNvSpPr txBox="1"/>
          <p:nvPr/>
        </p:nvSpPr>
        <p:spPr>
          <a:xfrm>
            <a:off x="4572000" y="3154680"/>
            <a:ext cx="3520440" cy="2194560"/>
          </a:xfrm>
          <a:prstGeom prst="rect">
            <a:avLst/>
          </a:prstGeom>
          <a:noFill/>
        </p:spPr>
        <p:txBody>
          <a:bodyPr wrap="square" lIns="0" rIns="0" tIns="0" bIns="0">
            <a:spAutoFit/>
          </a:bodyPr>
          <a:lstStyle/>
          <a:p>
            <a:pPr algn="l">
              <a:spcBef>
                <a:spcPts val="0"/>
              </a:spcBef>
              <a:spcAft>
                <a:spcPts val="900"/>
              </a:spcAft>
            </a:pPr>
            <a:r>
              <a:rPr sz="1250" b="0" i="0">
                <a:solidFill>
                  <a:srgbClr val="6B7280"/>
                </a:solidFill>
                <a:latin typeface="Segoe UI"/>
              </a:rPr>
              <a:t>A past live run, re-verified on the way out.</a:t>
            </a:r>
          </a:p>
          <a:p>
            <a:pPr algn="l">
              <a:spcBef>
                <a:spcPts val="0"/>
              </a:spcBef>
              <a:spcAft>
                <a:spcPts val="900"/>
              </a:spcAft>
            </a:pPr>
            <a:r>
              <a:rPr sz="1250" b="0" i="0">
                <a:solidFill>
                  <a:srgbClr val="6B7280"/>
                </a:solidFill>
                <a:latin typeface="Segoe UI"/>
              </a:rPr>
              <a:t>Matched exactly, or by token overlap.</a:t>
            </a:r>
          </a:p>
          <a:p>
            <a:pPr algn="l">
              <a:spcBef>
                <a:spcPts val="0"/>
              </a:spcBef>
              <a:spcAft>
                <a:spcPts val="900"/>
              </a:spcAft>
            </a:pPr>
            <a:r>
              <a:rPr sz="1250" b="0" i="0">
                <a:solidFill>
                  <a:srgbClr val="6B7280"/>
                </a:solidFill>
                <a:latin typeface="Segoe UI"/>
              </a:rPr>
              <a:t>About two seconds, no key, no network.</a:t>
            </a:r>
          </a:p>
          <a:p>
            <a:pPr algn="l">
              <a:spcBef>
                <a:spcPts val="0"/>
              </a:spcBef>
              <a:spcAft>
                <a:spcPts val="900"/>
              </a:spcAft>
            </a:pPr>
            <a:r>
              <a:rPr sz="1250" b="0" i="0">
                <a:solidFill>
                  <a:srgbClr val="6B7280"/>
                </a:solidFill>
                <a:latin typeface="Segoe UI"/>
              </a:rPr>
              <a:t>This is what the demo uses.</a:t>
            </a:r>
          </a:p>
        </p:txBody>
      </p:sp>
      <p:sp>
        <p:nvSpPr>
          <p:cNvPr id="10" name="Rectangle 9"/>
          <p:cNvSpPr/>
          <p:nvPr/>
        </p:nvSpPr>
        <p:spPr>
          <a:xfrm>
            <a:off x="8330184" y="2103120"/>
            <a:ext cx="3520440" cy="6400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348472" y="2304288"/>
            <a:ext cx="3520440" cy="731520"/>
          </a:xfrm>
          <a:prstGeom prst="rect">
            <a:avLst/>
          </a:prstGeom>
          <a:noFill/>
        </p:spPr>
        <p:txBody>
          <a:bodyPr wrap="square" lIns="0" rIns="0" tIns="0" bIns="0">
            <a:spAutoFit/>
          </a:bodyPr>
          <a:lstStyle/>
          <a:p>
            <a:pPr algn="l">
              <a:spcBef>
                <a:spcPts val="0"/>
              </a:spcBef>
              <a:spcAft>
                <a:spcPts val="200"/>
              </a:spcAft>
            </a:pPr>
            <a:r>
              <a:rPr sz="1900" b="1" i="0">
                <a:solidFill>
                  <a:srgbClr val="14171C"/>
                </a:solidFill>
                <a:latin typeface="Segoe UI"/>
              </a:rPr>
              <a:t>TEMPLATED</a:t>
            </a:r>
          </a:p>
          <a:p>
            <a:pPr algn="l">
              <a:spcBef>
                <a:spcPts val="0"/>
              </a:spcBef>
              <a:spcAft>
                <a:spcPts val="0"/>
              </a:spcAft>
            </a:pPr>
            <a:r>
              <a:rPr sz="1200" b="0" i="1">
                <a:solidFill>
                  <a:srgbClr val="6B7280"/>
                </a:solidFill>
                <a:latin typeface="Segoe UI"/>
              </a:rPr>
              <a:t>no model at all</a:t>
            </a:r>
          </a:p>
        </p:txBody>
      </p:sp>
      <p:sp>
        <p:nvSpPr>
          <p:cNvPr id="12" name="TextBox 11"/>
          <p:cNvSpPr txBox="1"/>
          <p:nvPr/>
        </p:nvSpPr>
        <p:spPr>
          <a:xfrm>
            <a:off x="8348472" y="3154680"/>
            <a:ext cx="3520440" cy="2194560"/>
          </a:xfrm>
          <a:prstGeom prst="rect">
            <a:avLst/>
          </a:prstGeom>
          <a:noFill/>
        </p:spPr>
        <p:txBody>
          <a:bodyPr wrap="square" lIns="0" rIns="0" tIns="0" bIns="0">
            <a:spAutoFit/>
          </a:bodyPr>
          <a:lstStyle/>
          <a:p>
            <a:pPr algn="l">
              <a:spcBef>
                <a:spcPts val="0"/>
              </a:spcBef>
              <a:spcAft>
                <a:spcPts val="900"/>
              </a:spcAft>
            </a:pPr>
            <a:r>
              <a:rPr sz="1250" b="0" i="0">
                <a:solidFill>
                  <a:srgbClr val="6B7280"/>
                </a:solidFill>
                <a:latin typeface="Segoe UI"/>
              </a:rPr>
              <a:t>Eight regex archetypes route the question.</a:t>
            </a:r>
          </a:p>
          <a:p>
            <a:pPr algn="l">
              <a:spcBef>
                <a:spcPts val="0"/>
              </a:spcBef>
              <a:spcAft>
                <a:spcPts val="900"/>
              </a:spcAft>
            </a:pPr>
            <a:r>
              <a:rPr sz="1250" b="0" i="0">
                <a:solidFill>
                  <a:srgbClr val="6B7280"/>
                </a:solidFill>
                <a:latin typeface="Segoe UI"/>
              </a:rPr>
              <a:t>Pulls from the same tools.</a:t>
            </a:r>
          </a:p>
          <a:p>
            <a:pPr algn="l">
              <a:spcBef>
                <a:spcPts val="0"/>
              </a:spcBef>
              <a:spcAft>
                <a:spcPts val="900"/>
              </a:spcAft>
            </a:pPr>
            <a:r>
              <a:rPr sz="1250" b="0" i="0">
                <a:solidFill>
                  <a:srgbClr val="6B7280"/>
                </a:solidFill>
                <a:latin typeface="Segoe UI"/>
              </a:rPr>
              <a:t>Numbers are real; the prose is a template.</a:t>
            </a:r>
          </a:p>
          <a:p>
            <a:pPr algn="l">
              <a:spcBef>
                <a:spcPts val="0"/>
              </a:spcBef>
              <a:spcAft>
                <a:spcPts val="900"/>
              </a:spcAft>
            </a:pPr>
            <a:r>
              <a:rPr sz="1250" b="0" i="0">
                <a:solidFill>
                  <a:srgbClr val="6B7280"/>
                </a:solidFill>
                <a:latin typeface="Segoe UI"/>
              </a:rPr>
              <a:t>Always badged on screen.</a:t>
            </a:r>
          </a:p>
        </p:txBody>
      </p:sp>
      <p:sp>
        <p:nvSpPr>
          <p:cNvPr id="13" name="TextBox 12"/>
          <p:cNvSpPr txBox="1"/>
          <p:nvPr/>
        </p:nvSpPr>
        <p:spPr>
          <a:xfrm>
            <a:off x="777240" y="5577840"/>
            <a:ext cx="10637215" cy="822960"/>
          </a:xfrm>
          <a:prstGeom prst="rect">
            <a:avLst/>
          </a:prstGeom>
          <a:noFill/>
        </p:spPr>
        <p:txBody>
          <a:bodyPr wrap="square" lIns="0" rIns="0" tIns="0" bIns="0">
            <a:spAutoFit/>
          </a:bodyPr>
          <a:lstStyle/>
          <a:p>
            <a:pPr algn="l">
              <a:spcBef>
                <a:spcPts val="0"/>
              </a:spcBef>
              <a:spcAft>
                <a:spcPts val="500"/>
              </a:spcAft>
            </a:pPr>
            <a:r>
              <a:rPr sz="1600" b="1" i="0">
                <a:solidFill>
                  <a:srgbClr val="C2411F"/>
                </a:solidFill>
                <a:latin typeface="Segoe UI"/>
              </a:rPr>
              <a:t>All three go through the same server-side verification before anything is rendered.</a:t>
            </a:r>
          </a:p>
          <a:p>
            <a:pPr algn="l">
              <a:spcBef>
                <a:spcPts val="0"/>
              </a:spcBef>
              <a:spcAft>
                <a:spcPts val="0"/>
              </a:spcAft>
            </a:pPr>
            <a:r>
              <a:rPr sz="1300" b="0" i="0">
                <a:solidFill>
                  <a:srgbClr val="6B7280"/>
                </a:solidFill>
                <a:latin typeface="Segoe UI"/>
              </a:rPr>
              <a:t>That is what makes the fallbacks honest rather than embarrassing: a templated answer's numbers are as checked as a live one's.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NOT TIED TO ONE MODEL</a:t>
            </a:r>
          </a:p>
          <a:p>
            <a:pPr algn="l">
              <a:spcBef>
                <a:spcPts val="0"/>
              </a:spcBef>
              <a:spcAft>
                <a:spcPts val="0"/>
              </a:spcAft>
            </a:pPr>
            <a:r>
              <a:rPr sz="3300" b="1" i="0">
                <a:solidFill>
                  <a:srgbClr val="14171C"/>
                </a:solidFill>
                <a:latin typeface="Segoe UI"/>
              </a:rPr>
              <a:t>The provider is an adapter, not a fork</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57400"/>
            <a:ext cx="10637215" cy="4160520"/>
          </a:xfrm>
          <a:prstGeom prst="rect">
            <a:avLst/>
          </a:prstGeom>
          <a:noFill/>
        </p:spPr>
        <p:txBody>
          <a:bodyPr wrap="square" lIns="0" rIns="0" tIns="0" bIns="0">
            <a:spAutoFit/>
          </a:bodyPr>
          <a:lstStyle/>
          <a:p>
            <a:pPr>
              <a:spcAft>
                <a:spcPts val="1300"/>
              </a:spcAft>
            </a:pPr>
            <a:r>
              <a:rPr sz="1600" b="1">
                <a:solidFill>
                  <a:srgbClr val="14171C"/>
                </a:solidFill>
                <a:latin typeface="Segoe UI"/>
              </a:rPr>
              <a:t>Batch stages speak one interface.  </a:t>
            </a:r>
            <a:r>
              <a:rPr sz="1600">
                <a:solidFill>
                  <a:srgbClr val="6B7280"/>
                </a:solidFill>
                <a:latin typeface="Segoe UI"/>
              </a:rPr>
              <a:t>`complete_json(LLMRequest) -&gt; LLMResult`, with three implementations behind it: the live API, the cache, and a deterministic fake for tests.</a:t>
            </a:r>
          </a:p>
          <a:p>
            <a:pPr>
              <a:spcAft>
                <a:spcPts val="1300"/>
              </a:spcAft>
            </a:pPr>
            <a:r>
              <a:rPr sz="1600" b="1">
                <a:solidFill>
                  <a:srgbClr val="14171C"/>
                </a:solidFill>
                <a:latin typeface="Segoe UI"/>
              </a:rPr>
              <a:t>The agent loop takes an injectable turn.  </a:t>
            </a:r>
            <a:r>
              <a:rPr sz="1600">
                <a:solidFill>
                  <a:srgbClr val="6B7280"/>
                </a:solidFill>
                <a:latin typeface="Segoe UI"/>
              </a:rPr>
              <a:t>It hands over messages and reads content blocks back. Swapping provider means writing one adapter that translates in both directions, not rewriting the loop, the budgets, the tool execution or the verifier.</a:t>
            </a:r>
          </a:p>
          <a:p>
            <a:pPr>
              <a:spcAft>
                <a:spcPts val="1300"/>
              </a:spcAft>
            </a:pPr>
            <a:r>
              <a:rPr sz="1600" b="1">
                <a:solidFill>
                  <a:srgbClr val="14171C"/>
                </a:solidFill>
                <a:latin typeface="Segoe UI"/>
              </a:rPr>
              <a:t>Verified in practice, not in principle.  </a:t>
            </a:r>
            <a:r>
              <a:rPr sz="1600">
                <a:solidFill>
                  <a:srgbClr val="6B7280"/>
                </a:solidFill>
                <a:latin typeface="Segoe UI"/>
              </a:rPr>
              <a:t>A live run on Gemini through OpenRouter: six claims, every one recounted and verified, no number mismatches, no dropped quotes.</a:t>
            </a:r>
          </a:p>
        </p:txBody>
      </p:sp>
      <p:sp>
        <p:nvSpPr>
          <p:cNvPr id="5" name="TextBox 4"/>
          <p:cNvSpPr txBox="1"/>
          <p:nvPr/>
        </p:nvSpPr>
        <p:spPr>
          <a:xfrm>
            <a:off x="777240" y="4663440"/>
            <a:ext cx="10637215" cy="1371600"/>
          </a:xfrm>
          <a:prstGeom prst="rect">
            <a:avLst/>
          </a:prstGeom>
          <a:noFill/>
        </p:spPr>
        <p:txBody>
          <a:bodyPr wrap="square" lIns="0" rIns="0" tIns="0" bIns="0">
            <a:spAutoFit/>
          </a:bodyPr>
          <a:lstStyle/>
          <a:p>
            <a:pPr algn="l">
              <a:spcBef>
                <a:spcPts val="0"/>
              </a:spcBef>
              <a:spcAft>
                <a:spcPts val="800"/>
              </a:spcAft>
            </a:pPr>
            <a:r>
              <a:rPr sz="1900" b="1" i="0">
                <a:solidFill>
                  <a:srgbClr val="C2411F"/>
                </a:solidFill>
                <a:latin typeface="Segoe UI"/>
              </a:rPr>
              <a:t>A different model can choose different tools. It cannot make a number wrong.</a:t>
            </a:r>
          </a:p>
          <a:p>
            <a:pPr algn="l">
              <a:spcBef>
                <a:spcPts val="0"/>
              </a:spcBef>
              <a:spcAft>
                <a:spcPts val="0"/>
              </a:spcAft>
            </a:pPr>
            <a:r>
              <a:rPr sz="1400" b="0" i="0">
                <a:solidFill>
                  <a:srgbClr val="6B7280"/>
                </a:solidFill>
                <a:latin typeface="Segoe UI"/>
              </a:rPr>
              <a:t>The server recounts every claim from call ids and checks every quoted figure against the tool result it cites, whichever model proposed them. Where the evidence retrieved is thinner, the confidence badge says so by itself.</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THE VERIFICATION PATH</a:t>
            </a:r>
          </a:p>
          <a:p>
            <a:pPr algn="l">
              <a:spcBef>
                <a:spcPts val="0"/>
              </a:spcBef>
              <a:spcAft>
                <a:spcPts val="0"/>
              </a:spcAft>
            </a:pPr>
            <a:r>
              <a:rPr sz="3300" b="1" i="0">
                <a:solidFill>
                  <a:srgbClr val="14171C"/>
                </a:solidFill>
                <a:latin typeface="Segoe UI"/>
              </a:rPr>
              <a:t>What happens between the model and the screen</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777240" y="2103120"/>
            <a:ext cx="384048" cy="384048"/>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Segoe UI"/>
              </a:rPr>
              <a:t>1</a:t>
            </a:r>
          </a:p>
        </p:txBody>
      </p:sp>
      <p:sp>
        <p:nvSpPr>
          <p:cNvPr id="5" name="TextBox 4"/>
          <p:cNvSpPr txBox="1"/>
          <p:nvPr/>
        </p:nvSpPr>
        <p:spPr>
          <a:xfrm>
            <a:off x="1344168" y="2121408"/>
            <a:ext cx="9875520" cy="457200"/>
          </a:xfrm>
          <a:prstGeom prst="rect">
            <a:avLst/>
          </a:prstGeom>
          <a:noFill/>
        </p:spPr>
        <p:txBody>
          <a:bodyPr wrap="square" lIns="0" rIns="0" tIns="0" bIns="0">
            <a:spAutoFit/>
          </a:bodyPr>
          <a:lstStyle/>
          <a:p>
            <a:pPr algn="l">
              <a:spcBef>
                <a:spcPts val="0"/>
              </a:spcBef>
              <a:spcAft>
                <a:spcPts val="0"/>
              </a:spcAft>
            </a:pPr>
            <a:r>
              <a:rPr sz="1500" b="1" i="0">
                <a:solidFill>
                  <a:srgbClr val="14171C"/>
                </a:solidFill>
                <a:latin typeface="Segoe UI"/>
              </a:rPr>
              <a:t>Claim cites result_ids</a:t>
            </a:r>
            <a:r>
              <a:rPr sz="1300">
                <a:solidFill>
                  <a:srgbClr val="6B7280"/>
                </a:solidFill>
                <a:latin typeface="Segoe UI"/>
              </a:rPr>
              <a:t>   never raw numbers</a:t>
            </a:r>
          </a:p>
        </p:txBody>
      </p:sp>
      <p:sp>
        <p:nvSpPr>
          <p:cNvPr id="6" name="Rectangle 5"/>
          <p:cNvSpPr/>
          <p:nvPr/>
        </p:nvSpPr>
        <p:spPr>
          <a:xfrm>
            <a:off x="777240" y="2670048"/>
            <a:ext cx="384048" cy="384048"/>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Segoe UI"/>
              </a:rPr>
              <a:t>2</a:t>
            </a:r>
          </a:p>
        </p:txBody>
      </p:sp>
      <p:sp>
        <p:nvSpPr>
          <p:cNvPr id="7" name="TextBox 6"/>
          <p:cNvSpPr txBox="1"/>
          <p:nvPr/>
        </p:nvSpPr>
        <p:spPr>
          <a:xfrm>
            <a:off x="1344168" y="2688336"/>
            <a:ext cx="9875520" cy="457200"/>
          </a:xfrm>
          <a:prstGeom prst="rect">
            <a:avLst/>
          </a:prstGeom>
          <a:noFill/>
        </p:spPr>
        <p:txBody>
          <a:bodyPr wrap="square" lIns="0" rIns="0" tIns="0" bIns="0">
            <a:spAutoFit/>
          </a:bodyPr>
          <a:lstStyle/>
          <a:p>
            <a:pPr algn="l">
              <a:spcBef>
                <a:spcPts val="0"/>
              </a:spcBef>
              <a:spcAft>
                <a:spcPts val="0"/>
              </a:spcAft>
            </a:pPr>
            <a:r>
              <a:rPr sz="1500" b="1" i="0">
                <a:solidFill>
                  <a:srgbClr val="14171C"/>
                </a:solidFill>
                <a:latin typeface="Segoe UI"/>
              </a:rPr>
              <a:t>Server re-reads those results</a:t>
            </a:r>
            <a:r>
              <a:rPr sz="1300">
                <a:solidFill>
                  <a:srgbClr val="6B7280"/>
                </a:solidFill>
                <a:latin typeface="Segoe UI"/>
              </a:rPr>
              <a:t>   full call-id lists, scoped to this question</a:t>
            </a:r>
          </a:p>
        </p:txBody>
      </p:sp>
      <p:sp>
        <p:nvSpPr>
          <p:cNvPr id="8" name="Rectangle 7"/>
          <p:cNvSpPr/>
          <p:nvPr/>
        </p:nvSpPr>
        <p:spPr>
          <a:xfrm>
            <a:off x="777240" y="3236976"/>
            <a:ext cx="384048" cy="384048"/>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Segoe UI"/>
              </a:rPr>
              <a:t>3</a:t>
            </a:r>
          </a:p>
        </p:txBody>
      </p:sp>
      <p:sp>
        <p:nvSpPr>
          <p:cNvPr id="9" name="TextBox 8"/>
          <p:cNvSpPr txBox="1"/>
          <p:nvPr/>
        </p:nvSpPr>
        <p:spPr>
          <a:xfrm>
            <a:off x="1344168" y="3255264"/>
            <a:ext cx="9875520" cy="457200"/>
          </a:xfrm>
          <a:prstGeom prst="rect">
            <a:avLst/>
          </a:prstGeom>
          <a:noFill/>
        </p:spPr>
        <p:txBody>
          <a:bodyPr wrap="square" lIns="0" rIns="0" tIns="0" bIns="0">
            <a:spAutoFit/>
          </a:bodyPr>
          <a:lstStyle/>
          <a:p>
            <a:pPr algn="l">
              <a:spcBef>
                <a:spcPts val="0"/>
              </a:spcBef>
              <a:spcAft>
                <a:spcPts val="0"/>
              </a:spcAft>
            </a:pPr>
            <a:r>
              <a:rPr sz="1500" b="1" i="0">
                <a:solidFill>
                  <a:srgbClr val="14171C"/>
                </a:solidFill>
                <a:latin typeface="Segoe UI"/>
              </a:rPr>
              <a:t>Recount</a:t>
            </a:r>
            <a:r>
              <a:rPr sz="1300">
                <a:solidFill>
                  <a:srgbClr val="6B7280"/>
                </a:solidFill>
                <a:latin typeface="Segoe UI"/>
              </a:rPr>
              <a:t>   the server's number wins over the model's</a:t>
            </a:r>
          </a:p>
        </p:txBody>
      </p:sp>
      <p:sp>
        <p:nvSpPr>
          <p:cNvPr id="10" name="Rectangle 9"/>
          <p:cNvSpPr/>
          <p:nvPr/>
        </p:nvSpPr>
        <p:spPr>
          <a:xfrm>
            <a:off x="777240" y="3803904"/>
            <a:ext cx="384048" cy="384048"/>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Segoe UI"/>
              </a:rPr>
              <a:t>4</a:t>
            </a:r>
          </a:p>
        </p:txBody>
      </p:sp>
      <p:sp>
        <p:nvSpPr>
          <p:cNvPr id="11" name="TextBox 10"/>
          <p:cNvSpPr txBox="1"/>
          <p:nvPr/>
        </p:nvSpPr>
        <p:spPr>
          <a:xfrm>
            <a:off x="1344168" y="3822192"/>
            <a:ext cx="9875520" cy="457200"/>
          </a:xfrm>
          <a:prstGeom prst="rect">
            <a:avLst/>
          </a:prstGeom>
          <a:noFill/>
        </p:spPr>
        <p:txBody>
          <a:bodyPr wrap="square" lIns="0" rIns="0" tIns="0" bIns="0">
            <a:spAutoFit/>
          </a:bodyPr>
          <a:lstStyle/>
          <a:p>
            <a:pPr algn="l">
              <a:spcBef>
                <a:spcPts val="0"/>
              </a:spcBef>
              <a:spcAft>
                <a:spcPts val="0"/>
              </a:spcAft>
            </a:pPr>
            <a:r>
              <a:rPr sz="1500" b="1" i="0">
                <a:solidFill>
                  <a:srgbClr val="14171C"/>
                </a:solidFill>
                <a:latin typeface="Segoe UI"/>
              </a:rPr>
              <a:t>Check every figure</a:t>
            </a:r>
            <a:r>
              <a:rPr sz="1300">
                <a:solidFill>
                  <a:srgbClr val="6B7280"/>
                </a:solidFill>
                <a:latin typeface="Segoe UI"/>
              </a:rPr>
              <a:t>   must appear in a cited tool result</a:t>
            </a:r>
          </a:p>
        </p:txBody>
      </p:sp>
      <p:sp>
        <p:nvSpPr>
          <p:cNvPr id="12" name="Rectangle 11"/>
          <p:cNvSpPr/>
          <p:nvPr/>
        </p:nvSpPr>
        <p:spPr>
          <a:xfrm>
            <a:off x="777240" y="4370832"/>
            <a:ext cx="384048" cy="384048"/>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Segoe UI"/>
              </a:rPr>
              <a:t>5</a:t>
            </a:r>
          </a:p>
        </p:txBody>
      </p:sp>
      <p:sp>
        <p:nvSpPr>
          <p:cNvPr id="13" name="TextBox 12"/>
          <p:cNvSpPr txBox="1"/>
          <p:nvPr/>
        </p:nvSpPr>
        <p:spPr>
          <a:xfrm>
            <a:off x="1344168" y="4389120"/>
            <a:ext cx="9875520" cy="457200"/>
          </a:xfrm>
          <a:prstGeom prst="rect">
            <a:avLst/>
          </a:prstGeom>
          <a:noFill/>
        </p:spPr>
        <p:txBody>
          <a:bodyPr wrap="square" lIns="0" rIns="0" tIns="0" bIns="0">
            <a:spAutoFit/>
          </a:bodyPr>
          <a:lstStyle/>
          <a:p>
            <a:pPr algn="l">
              <a:spcBef>
                <a:spcPts val="0"/>
              </a:spcBef>
              <a:spcAft>
                <a:spcPts val="0"/>
              </a:spcAft>
            </a:pPr>
            <a:r>
              <a:rPr sz="1500" b="1" i="0">
                <a:solidFill>
                  <a:srgbClr val="14171C"/>
                </a:solidFill>
                <a:latin typeface="Segoe UI"/>
              </a:rPr>
              <a:t>Check every quote</a:t>
            </a:r>
            <a:r>
              <a:rPr sz="1300">
                <a:solidFill>
                  <a:srgbClr val="6B7280"/>
                </a:solidFill>
                <a:latin typeface="Segoe UI"/>
              </a:rPr>
              <a:t>   must be an exact substring of the source text</a:t>
            </a:r>
          </a:p>
        </p:txBody>
      </p:sp>
      <p:sp>
        <p:nvSpPr>
          <p:cNvPr id="14" name="Rectangle 13"/>
          <p:cNvSpPr/>
          <p:nvPr/>
        </p:nvSpPr>
        <p:spPr>
          <a:xfrm>
            <a:off x="777240" y="4937760"/>
            <a:ext cx="384048" cy="384048"/>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spcBef>
                <a:spcPts val="0"/>
              </a:spcBef>
              <a:spcAft>
                <a:spcPts val="0"/>
              </a:spcAft>
            </a:pPr>
            <a:r>
              <a:rPr sz="1400" b="1" i="0">
                <a:solidFill>
                  <a:srgbClr val="FFFFFF"/>
                </a:solidFill>
                <a:latin typeface="Segoe UI"/>
              </a:rPr>
              <a:t>6</a:t>
            </a:r>
          </a:p>
        </p:txBody>
      </p:sp>
      <p:sp>
        <p:nvSpPr>
          <p:cNvPr id="15" name="TextBox 14"/>
          <p:cNvSpPr txBox="1"/>
          <p:nvPr/>
        </p:nvSpPr>
        <p:spPr>
          <a:xfrm>
            <a:off x="1344168" y="4956048"/>
            <a:ext cx="9875520" cy="457200"/>
          </a:xfrm>
          <a:prstGeom prst="rect">
            <a:avLst/>
          </a:prstGeom>
          <a:noFill/>
        </p:spPr>
        <p:txBody>
          <a:bodyPr wrap="square" lIns="0" rIns="0" tIns="0" bIns="0">
            <a:spAutoFit/>
          </a:bodyPr>
          <a:lstStyle/>
          <a:p>
            <a:pPr algn="l">
              <a:spcBef>
                <a:spcPts val="0"/>
              </a:spcBef>
              <a:spcAft>
                <a:spcPts val="0"/>
              </a:spcAft>
            </a:pPr>
            <a:r>
              <a:rPr sz="1500" b="1" i="0">
                <a:solidFill>
                  <a:srgbClr val="14171C"/>
                </a:solidFill>
                <a:latin typeface="Segoe UI"/>
              </a:rPr>
              <a:t>Compute confidence</a:t>
            </a:r>
            <a:r>
              <a:rPr sz="1300">
                <a:solidFill>
                  <a:srgbClr val="6B7280"/>
                </a:solidFill>
                <a:latin typeface="Segoe UI"/>
              </a:rPr>
              <a:t>   from calls, months, products and states</a:t>
            </a:r>
          </a:p>
        </p:txBody>
      </p:sp>
      <p:sp>
        <p:nvSpPr>
          <p:cNvPr id="16" name="TextBox 15"/>
          <p:cNvSpPr txBox="1"/>
          <p:nvPr/>
        </p:nvSpPr>
        <p:spPr>
          <a:xfrm>
            <a:off x="777240" y="5760720"/>
            <a:ext cx="10637215" cy="731520"/>
          </a:xfrm>
          <a:prstGeom prst="rect">
            <a:avLst/>
          </a:prstGeom>
          <a:noFill/>
        </p:spPr>
        <p:txBody>
          <a:bodyPr wrap="square" lIns="0" rIns="0" tIns="0" bIns="0">
            <a:spAutoFit/>
          </a:bodyPr>
          <a:lstStyle/>
          <a:p>
            <a:pPr algn="l">
              <a:spcBef>
                <a:spcPts val="0"/>
              </a:spcBef>
              <a:spcAft>
                <a:spcPts val="0"/>
              </a:spcAft>
            </a:pPr>
            <a:r>
              <a:rPr sz="1400" b="1" i="0">
                <a:solidFill>
                  <a:srgbClr val="2F6F4E"/>
                </a:solidFill>
                <a:latin typeface="Segoe UI"/>
              </a:rPr>
              <a:t>A claim that survives none of this is shown greyed, with the server's real number beside it. It is never quietly deleted.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THE CODE</a:t>
            </a:r>
          </a:p>
          <a:p>
            <a:pPr algn="l">
              <a:spcBef>
                <a:spcPts val="0"/>
              </a:spcBef>
              <a:spcAft>
                <a:spcPts val="0"/>
              </a:spcAft>
            </a:pPr>
            <a:r>
              <a:rPr sz="3300" b="1" i="0">
                <a:solidFill>
                  <a:srgbClr val="14171C"/>
                </a:solidFill>
                <a:latin typeface="Segoe UI"/>
              </a:rPr>
              <a:t>Where each thing lives</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Rectangle 3"/>
          <p:cNvSpPr/>
          <p:nvPr/>
        </p:nvSpPr>
        <p:spPr>
          <a:xfrm>
            <a:off x="777240" y="2057400"/>
            <a:ext cx="10607040" cy="347472"/>
          </a:xfrm>
          <a:prstGeom prst="rect">
            <a:avLst/>
          </a:prstGeom>
          <a:solidFill>
            <a:srgbClr val="ECE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05256" y="2121408"/>
            <a:ext cx="155448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Module</a:t>
            </a:r>
          </a:p>
        </p:txBody>
      </p:sp>
      <p:sp>
        <p:nvSpPr>
          <p:cNvPr id="6" name="TextBox 5"/>
          <p:cNvSpPr txBox="1"/>
          <p:nvPr/>
        </p:nvSpPr>
        <p:spPr>
          <a:xfrm>
            <a:off x="2642616" y="2121408"/>
            <a:ext cx="740664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What it holds</a:t>
            </a:r>
          </a:p>
        </p:txBody>
      </p:sp>
      <p:sp>
        <p:nvSpPr>
          <p:cNvPr id="7" name="TextBox 6"/>
          <p:cNvSpPr txBox="1"/>
          <p:nvPr/>
        </p:nvSpPr>
        <p:spPr>
          <a:xfrm>
            <a:off x="10232136" y="2121408"/>
            <a:ext cx="1097280" cy="347472"/>
          </a:xfrm>
          <a:prstGeom prst="rect">
            <a:avLst/>
          </a:prstGeom>
          <a:noFill/>
        </p:spPr>
        <p:txBody>
          <a:bodyPr wrap="square" lIns="0" rIns="0" tIns="0" bIns="0">
            <a:spAutoFit/>
          </a:bodyPr>
          <a:lstStyle/>
          <a:p>
            <a:pPr algn="l">
              <a:spcBef>
                <a:spcPts val="0"/>
              </a:spcBef>
              <a:spcAft>
                <a:spcPts val="0"/>
              </a:spcAft>
            </a:pPr>
            <a:r>
              <a:rPr sz="1100" b="1" i="0">
                <a:solidFill>
                  <a:srgbClr val="6B7280"/>
                </a:solidFill>
                <a:latin typeface="Segoe UI"/>
              </a:rPr>
              <a:t>Lines</a:t>
            </a:r>
          </a:p>
        </p:txBody>
      </p:sp>
      <p:sp>
        <p:nvSpPr>
          <p:cNvPr id="8" name="TextBox 7"/>
          <p:cNvSpPr txBox="1"/>
          <p:nvPr/>
        </p:nvSpPr>
        <p:spPr>
          <a:xfrm>
            <a:off x="905256" y="2478024"/>
            <a:ext cx="155448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voc/taxonomy/</a:t>
            </a:r>
          </a:p>
        </p:txBody>
      </p:sp>
      <p:sp>
        <p:nvSpPr>
          <p:cNvPr id="9" name="TextBox 8"/>
          <p:cNvSpPr txBox="1"/>
          <p:nvPr/>
        </p:nvSpPr>
        <p:spPr>
          <a:xfrm>
            <a:off x="2642616" y="2478024"/>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the enums, their definitions, and the regulator mapping used for QA</a:t>
            </a:r>
          </a:p>
        </p:txBody>
      </p:sp>
      <p:sp>
        <p:nvSpPr>
          <p:cNvPr id="10" name="TextBox 9"/>
          <p:cNvSpPr txBox="1"/>
          <p:nvPr/>
        </p:nvSpPr>
        <p:spPr>
          <a:xfrm>
            <a:off x="10232136" y="2478024"/>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95</a:t>
            </a:r>
          </a:p>
        </p:txBody>
      </p:sp>
      <p:cxnSp>
        <p:nvCxnSpPr>
          <p:cNvPr id="11" name="Connector 10"/>
          <p:cNvCxnSpPr/>
          <p:nvPr/>
        </p:nvCxnSpPr>
        <p:spPr>
          <a:xfrm>
            <a:off x="777240" y="275234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05256" y="2825496"/>
            <a:ext cx="155448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voc/schemas/</a:t>
            </a:r>
          </a:p>
        </p:txBody>
      </p:sp>
      <p:sp>
        <p:nvSpPr>
          <p:cNvPr id="13" name="TextBox 12"/>
          <p:cNvSpPr txBox="1"/>
          <p:nvPr/>
        </p:nvSpPr>
        <p:spPr>
          <a:xfrm>
            <a:off x="2642616" y="2825496"/>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call, extraction, theme, filter and answer contracts (pydantic + strict JSON schema)</a:t>
            </a:r>
          </a:p>
        </p:txBody>
      </p:sp>
      <p:sp>
        <p:nvSpPr>
          <p:cNvPr id="14" name="TextBox 13"/>
          <p:cNvSpPr txBox="1"/>
          <p:nvPr/>
        </p:nvSpPr>
        <p:spPr>
          <a:xfrm>
            <a:off x="10232136" y="2825496"/>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728</a:t>
            </a:r>
          </a:p>
        </p:txBody>
      </p:sp>
      <p:cxnSp>
        <p:nvCxnSpPr>
          <p:cNvPr id="15" name="Connector 14"/>
          <p:cNvCxnSpPr/>
          <p:nvPr/>
        </p:nvCxnSpPr>
        <p:spPr>
          <a:xfrm>
            <a:off x="777240" y="3099816"/>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5256" y="3172968"/>
            <a:ext cx="155448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voc/llm/</a:t>
            </a:r>
          </a:p>
        </p:txBody>
      </p:sp>
      <p:sp>
        <p:nvSpPr>
          <p:cNvPr id="17" name="TextBox 16"/>
          <p:cNvSpPr txBox="1"/>
          <p:nvPr/>
        </p:nvSpPr>
        <p:spPr>
          <a:xfrm>
            <a:off x="2642616" y="3172968"/>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one interface over live, cached and fake clients, plus the cost table</a:t>
            </a:r>
          </a:p>
        </p:txBody>
      </p:sp>
      <p:sp>
        <p:nvSpPr>
          <p:cNvPr id="18" name="TextBox 17"/>
          <p:cNvSpPr txBox="1"/>
          <p:nvPr/>
        </p:nvSpPr>
        <p:spPr>
          <a:xfrm>
            <a:off x="10232136" y="3172968"/>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653</a:t>
            </a:r>
          </a:p>
        </p:txBody>
      </p:sp>
      <p:cxnSp>
        <p:nvCxnSpPr>
          <p:cNvPr id="19" name="Connector 18"/>
          <p:cNvCxnSpPr/>
          <p:nvPr/>
        </p:nvCxnSpPr>
        <p:spPr>
          <a:xfrm>
            <a:off x="777240" y="3447288"/>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905256" y="3520440"/>
            <a:ext cx="155448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voc/ingest/</a:t>
            </a:r>
          </a:p>
        </p:txBody>
      </p:sp>
      <p:sp>
        <p:nvSpPr>
          <p:cNvPr id="21" name="TextBox 20"/>
          <p:cNvSpPr txBox="1"/>
          <p:nvPr/>
        </p:nvSpPr>
        <p:spPr>
          <a:xfrm>
            <a:off x="2642616" y="3520440"/>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API pull, the support gate, hash sampling, transcript normaliser</a:t>
            </a:r>
          </a:p>
        </p:txBody>
      </p:sp>
      <p:sp>
        <p:nvSpPr>
          <p:cNvPr id="22" name="TextBox 21"/>
          <p:cNvSpPr txBox="1"/>
          <p:nvPr/>
        </p:nvSpPr>
        <p:spPr>
          <a:xfrm>
            <a:off x="10232136" y="3520440"/>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890</a:t>
            </a:r>
          </a:p>
        </p:txBody>
      </p:sp>
      <p:cxnSp>
        <p:nvCxnSpPr>
          <p:cNvPr id="23" name="Connector 22"/>
          <p:cNvCxnSpPr/>
          <p:nvPr/>
        </p:nvCxnSpPr>
        <p:spPr>
          <a:xfrm>
            <a:off x="777240" y="3794760"/>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905256" y="3867912"/>
            <a:ext cx="155448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voc/extract/</a:t>
            </a:r>
          </a:p>
        </p:txBody>
      </p:sp>
      <p:sp>
        <p:nvSpPr>
          <p:cNvPr id="25" name="TextBox 24"/>
          <p:cNvSpPr txBox="1"/>
          <p:nvPr/>
        </p:nvSpPr>
        <p:spPr>
          <a:xfrm>
            <a:off x="2642616" y="3867912"/>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step 1: prompt, async runner, quote verification, work bundles</a:t>
            </a:r>
          </a:p>
        </p:txBody>
      </p:sp>
      <p:sp>
        <p:nvSpPr>
          <p:cNvPr id="26" name="TextBox 25"/>
          <p:cNvSpPr txBox="1"/>
          <p:nvPr/>
        </p:nvSpPr>
        <p:spPr>
          <a:xfrm>
            <a:off x="10232136" y="3867912"/>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802</a:t>
            </a:r>
          </a:p>
        </p:txBody>
      </p:sp>
      <p:cxnSp>
        <p:nvCxnSpPr>
          <p:cNvPr id="27" name="Connector 26"/>
          <p:cNvCxnSpPr/>
          <p:nvPr/>
        </p:nvCxnSpPr>
        <p:spPr>
          <a:xfrm>
            <a:off x="777240" y="4142232"/>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05256" y="4215384"/>
            <a:ext cx="155448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voc/theme/</a:t>
            </a:r>
          </a:p>
        </p:txBody>
      </p:sp>
      <p:sp>
        <p:nvSpPr>
          <p:cNvPr id="29" name="TextBox 28"/>
          <p:cNvSpPr txBox="1"/>
          <p:nvPr/>
        </p:nvSpPr>
        <p:spPr>
          <a:xfrm>
            <a:off x="2642616" y="4215384"/>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step 2: bucketing, four passes, the merge audit trail, stability</a:t>
            </a:r>
          </a:p>
        </p:txBody>
      </p:sp>
      <p:sp>
        <p:nvSpPr>
          <p:cNvPr id="30" name="TextBox 29"/>
          <p:cNvSpPr txBox="1"/>
          <p:nvPr/>
        </p:nvSpPr>
        <p:spPr>
          <a:xfrm>
            <a:off x="10232136" y="4215384"/>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1,425</a:t>
            </a:r>
          </a:p>
        </p:txBody>
      </p:sp>
      <p:cxnSp>
        <p:nvCxnSpPr>
          <p:cNvPr id="31" name="Connector 30"/>
          <p:cNvCxnSpPr/>
          <p:nvPr/>
        </p:nvCxnSpPr>
        <p:spPr>
          <a:xfrm>
            <a:off x="777240" y="448970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905256" y="4562856"/>
            <a:ext cx="155448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voc/analytics/</a:t>
            </a:r>
          </a:p>
        </p:txBody>
      </p:sp>
      <p:sp>
        <p:nvSpPr>
          <p:cNvPr id="33" name="TextBox 32"/>
          <p:cNvSpPr txBox="1"/>
          <p:nvPr/>
        </p:nvSpPr>
        <p:spPr>
          <a:xfrm>
            <a:off x="2642616" y="4562856"/>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step 3: Wilson intervals, the emerging score, segment lift, confidence tiers</a:t>
            </a:r>
          </a:p>
        </p:txBody>
      </p:sp>
      <p:sp>
        <p:nvSpPr>
          <p:cNvPr id="34" name="TextBox 33"/>
          <p:cNvSpPr txBox="1"/>
          <p:nvPr/>
        </p:nvSpPr>
        <p:spPr>
          <a:xfrm>
            <a:off x="10232136" y="4562856"/>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637</a:t>
            </a:r>
          </a:p>
        </p:txBody>
      </p:sp>
      <p:cxnSp>
        <p:nvCxnSpPr>
          <p:cNvPr id="35" name="Connector 34"/>
          <p:cNvCxnSpPr/>
          <p:nvPr/>
        </p:nvCxnSpPr>
        <p:spPr>
          <a:xfrm>
            <a:off x="777240" y="4837176"/>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777240" y="4837176"/>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5256" y="4910328"/>
            <a:ext cx="1554480" cy="347472"/>
          </a:xfrm>
          <a:prstGeom prst="rect">
            <a:avLst/>
          </a:prstGeom>
          <a:noFill/>
        </p:spPr>
        <p:txBody>
          <a:bodyPr wrap="square" lIns="0" rIns="0" tIns="0" bIns="0">
            <a:spAutoFit/>
          </a:bodyPr>
          <a:lstStyle/>
          <a:p>
            <a:pPr algn="l">
              <a:spcBef>
                <a:spcPts val="0"/>
              </a:spcBef>
              <a:spcAft>
                <a:spcPts val="0"/>
              </a:spcAft>
            </a:pPr>
            <a:r>
              <a:rPr sz="1150" b="1" i="0">
                <a:solidFill>
                  <a:srgbClr val="C2411F"/>
                </a:solidFill>
                <a:latin typeface="Segoe UI"/>
              </a:rPr>
              <a:t>voc/store/</a:t>
            </a:r>
          </a:p>
        </p:txBody>
      </p:sp>
      <p:sp>
        <p:nvSpPr>
          <p:cNvPr id="38" name="TextBox 37"/>
          <p:cNvSpPr txBox="1"/>
          <p:nvPr/>
        </p:nvSpPr>
        <p:spPr>
          <a:xfrm>
            <a:off x="2642616" y="4910328"/>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C2411F"/>
                </a:solidFill>
                <a:latin typeface="Segoe UI"/>
              </a:rPr>
              <a:t>the SQLite schema, the builder, and every query the tools run</a:t>
            </a:r>
          </a:p>
        </p:txBody>
      </p:sp>
      <p:sp>
        <p:nvSpPr>
          <p:cNvPr id="39" name="TextBox 38"/>
          <p:cNvSpPr txBox="1"/>
          <p:nvPr/>
        </p:nvSpPr>
        <p:spPr>
          <a:xfrm>
            <a:off x="10232136" y="4910328"/>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C2411F"/>
                </a:solidFill>
                <a:latin typeface="Segoe UI"/>
              </a:rPr>
              <a:t>1,472</a:t>
            </a:r>
          </a:p>
        </p:txBody>
      </p:sp>
      <p:cxnSp>
        <p:nvCxnSpPr>
          <p:cNvPr id="40" name="Connector 39"/>
          <p:cNvCxnSpPr/>
          <p:nvPr/>
        </p:nvCxnSpPr>
        <p:spPr>
          <a:xfrm>
            <a:off x="777240" y="5184648"/>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41" name="Rectangle 40"/>
          <p:cNvSpPr/>
          <p:nvPr/>
        </p:nvSpPr>
        <p:spPr>
          <a:xfrm>
            <a:off x="777240" y="5184648"/>
            <a:ext cx="10607040" cy="347472"/>
          </a:xfrm>
          <a:prstGeom prst="rect">
            <a:avLst/>
          </a:prstGeom>
          <a:solidFill>
            <a:srgbClr val="FBEE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905256" y="5257800"/>
            <a:ext cx="1554480" cy="347472"/>
          </a:xfrm>
          <a:prstGeom prst="rect">
            <a:avLst/>
          </a:prstGeom>
          <a:noFill/>
        </p:spPr>
        <p:txBody>
          <a:bodyPr wrap="square" lIns="0" rIns="0" tIns="0" bIns="0">
            <a:spAutoFit/>
          </a:bodyPr>
          <a:lstStyle/>
          <a:p>
            <a:pPr algn="l">
              <a:spcBef>
                <a:spcPts val="0"/>
              </a:spcBef>
              <a:spcAft>
                <a:spcPts val="0"/>
              </a:spcAft>
            </a:pPr>
            <a:r>
              <a:rPr sz="1150" b="1" i="0">
                <a:solidFill>
                  <a:srgbClr val="C2411F"/>
                </a:solidFill>
                <a:latin typeface="Segoe UI"/>
              </a:rPr>
              <a:t>voc/agent/</a:t>
            </a:r>
          </a:p>
        </p:txBody>
      </p:sp>
      <p:sp>
        <p:nvSpPr>
          <p:cNvPr id="43" name="TextBox 42"/>
          <p:cNvSpPr txBox="1"/>
          <p:nvPr/>
        </p:nvSpPr>
        <p:spPr>
          <a:xfrm>
            <a:off x="2642616" y="5257800"/>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C2411F"/>
                </a:solidFill>
                <a:latin typeface="Segoe UI"/>
              </a:rPr>
              <a:t>steps 4 and 5: tools, the loop, the verifier, the cache, the offline analyst</a:t>
            </a:r>
          </a:p>
        </p:txBody>
      </p:sp>
      <p:sp>
        <p:nvSpPr>
          <p:cNvPr id="44" name="TextBox 43"/>
          <p:cNvSpPr txBox="1"/>
          <p:nvPr/>
        </p:nvSpPr>
        <p:spPr>
          <a:xfrm>
            <a:off x="10232136" y="5257800"/>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C2411F"/>
                </a:solidFill>
                <a:latin typeface="Segoe UI"/>
              </a:rPr>
              <a:t>2,353</a:t>
            </a:r>
          </a:p>
        </p:txBody>
      </p:sp>
      <p:cxnSp>
        <p:nvCxnSpPr>
          <p:cNvPr id="45" name="Connector 44"/>
          <p:cNvCxnSpPr/>
          <p:nvPr/>
        </p:nvCxnSpPr>
        <p:spPr>
          <a:xfrm>
            <a:off x="777240" y="5532120"/>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905256" y="5605272"/>
            <a:ext cx="155448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voc/api/</a:t>
            </a:r>
          </a:p>
        </p:txBody>
      </p:sp>
      <p:sp>
        <p:nvSpPr>
          <p:cNvPr id="47" name="TextBox 46"/>
          <p:cNvSpPr txBox="1"/>
          <p:nvPr/>
        </p:nvSpPr>
        <p:spPr>
          <a:xfrm>
            <a:off x="2642616" y="5605272"/>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FastAPI endpoints and the event stream</a:t>
            </a:r>
          </a:p>
        </p:txBody>
      </p:sp>
      <p:sp>
        <p:nvSpPr>
          <p:cNvPr id="48" name="TextBox 47"/>
          <p:cNvSpPr txBox="1"/>
          <p:nvPr/>
        </p:nvSpPr>
        <p:spPr>
          <a:xfrm>
            <a:off x="10232136" y="5605272"/>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435</a:t>
            </a:r>
          </a:p>
        </p:txBody>
      </p:sp>
      <p:cxnSp>
        <p:nvCxnSpPr>
          <p:cNvPr id="49" name="Connector 48"/>
          <p:cNvCxnSpPr/>
          <p:nvPr/>
        </p:nvCxnSpPr>
        <p:spPr>
          <a:xfrm>
            <a:off x="777240" y="5879592"/>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905256" y="5952744"/>
            <a:ext cx="1554480" cy="347472"/>
          </a:xfrm>
          <a:prstGeom prst="rect">
            <a:avLst/>
          </a:prstGeom>
          <a:noFill/>
        </p:spPr>
        <p:txBody>
          <a:bodyPr wrap="square" lIns="0" rIns="0" tIns="0" bIns="0">
            <a:spAutoFit/>
          </a:bodyPr>
          <a:lstStyle/>
          <a:p>
            <a:pPr algn="l">
              <a:spcBef>
                <a:spcPts val="0"/>
              </a:spcBef>
              <a:spcAft>
                <a:spcPts val="0"/>
              </a:spcAft>
            </a:pPr>
            <a:r>
              <a:rPr sz="1150" b="0" i="0">
                <a:solidFill>
                  <a:srgbClr val="14171C"/>
                </a:solidFill>
                <a:latin typeface="Segoe UI"/>
              </a:rPr>
              <a:t>voc/web/</a:t>
            </a:r>
          </a:p>
        </p:txBody>
      </p:sp>
      <p:sp>
        <p:nvSpPr>
          <p:cNvPr id="51" name="TextBox 50"/>
          <p:cNvSpPr txBox="1"/>
          <p:nvPr/>
        </p:nvSpPr>
        <p:spPr>
          <a:xfrm>
            <a:off x="2642616" y="5952744"/>
            <a:ext cx="740664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the dashboard: static ES modules, vendored chart library, no build step</a:t>
            </a:r>
          </a:p>
        </p:txBody>
      </p:sp>
      <p:sp>
        <p:nvSpPr>
          <p:cNvPr id="52" name="TextBox 51"/>
          <p:cNvSpPr txBox="1"/>
          <p:nvPr/>
        </p:nvSpPr>
        <p:spPr>
          <a:xfrm>
            <a:off x="10232136" y="5952744"/>
            <a:ext cx="1097280" cy="347472"/>
          </a:xfrm>
          <a:prstGeom prst="rect">
            <a:avLst/>
          </a:prstGeom>
          <a:noFill/>
        </p:spPr>
        <p:txBody>
          <a:bodyPr wrap="square" lIns="0" rIns="0" tIns="0" bIns="0">
            <a:spAutoFit/>
          </a:bodyPr>
          <a:lstStyle/>
          <a:p>
            <a:pPr algn="l">
              <a:spcBef>
                <a:spcPts val="0"/>
              </a:spcBef>
              <a:spcAft>
                <a:spcPts val="0"/>
              </a:spcAft>
            </a:pPr>
            <a:r>
              <a:rPr sz="1150" b="0" i="0">
                <a:solidFill>
                  <a:srgbClr val="6B7280"/>
                </a:solidFill>
                <a:latin typeface="Segoe UI"/>
              </a:rPr>
              <a:t>1,526</a:t>
            </a:r>
          </a:p>
        </p:txBody>
      </p:sp>
      <p:cxnSp>
        <p:nvCxnSpPr>
          <p:cNvPr id="53" name="Connector 52"/>
          <p:cNvCxnSpPr/>
          <p:nvPr/>
        </p:nvCxnSpPr>
        <p:spPr>
          <a:xfrm>
            <a:off x="777240" y="6227064"/>
            <a:ext cx="10607040" cy="0"/>
          </a:xfrm>
          <a:prstGeom prst="line">
            <a:avLst/>
          </a:prstGeom>
          <a:ln w="6350">
            <a:solidFill>
              <a:srgbClr val="EEEDE6"/>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777240" y="6291072"/>
            <a:ext cx="10637215" cy="292608"/>
          </a:xfrm>
          <a:prstGeom prst="rect">
            <a:avLst/>
          </a:prstGeom>
          <a:noFill/>
        </p:spPr>
        <p:txBody>
          <a:bodyPr wrap="square" lIns="0" rIns="0" tIns="0" bIns="0">
            <a:spAutoFit/>
          </a:bodyPr>
          <a:lstStyle/>
          <a:p>
            <a:pPr algn="l">
              <a:spcBef>
                <a:spcPts val="0"/>
              </a:spcBef>
              <a:spcAft>
                <a:spcPts val="0"/>
              </a:spcAft>
            </a:pPr>
            <a:r>
              <a:rPr sz="1050" b="0" i="0">
                <a:solidFill>
                  <a:srgbClr val="6B7280"/>
                </a:solidFill>
                <a:latin typeface="Segoe UI"/>
              </a:rPr>
              <a:t>11,016 lines in all. The two highlighted modules are where the interesting decisions live: what the data means, and what may be shown.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777240" y="566928"/>
            <a:ext cx="10637215" cy="1143000"/>
          </a:xfrm>
          <a:prstGeom prst="rect">
            <a:avLst/>
          </a:prstGeom>
          <a:noFill/>
        </p:spPr>
        <p:txBody>
          <a:bodyPr wrap="square" lIns="0" rIns="0" tIns="0" bIns="0">
            <a:spAutoFit/>
          </a:bodyPr>
          <a:lstStyle/>
          <a:p>
            <a:pPr algn="l">
              <a:spcBef>
                <a:spcPts val="0"/>
              </a:spcBef>
              <a:spcAft>
                <a:spcPts val="600"/>
              </a:spcAft>
            </a:pPr>
            <a:r>
              <a:rPr sz="1200" b="1" i="0">
                <a:solidFill>
                  <a:srgbClr val="C2411F"/>
                </a:solidFill>
                <a:latin typeface="Segoe UI"/>
              </a:rPr>
              <a:t>PROPERTIES WORTH KNOWING</a:t>
            </a:r>
          </a:p>
          <a:p>
            <a:pPr algn="l">
              <a:spcBef>
                <a:spcPts val="0"/>
              </a:spcBef>
              <a:spcAft>
                <a:spcPts val="0"/>
              </a:spcAft>
            </a:pPr>
            <a:r>
              <a:rPr sz="3300" b="1" i="0">
                <a:solidFill>
                  <a:srgbClr val="14171C"/>
                </a:solidFill>
                <a:latin typeface="Segoe UI"/>
              </a:rPr>
              <a:t>The things that shape every change you make</a:t>
            </a:r>
          </a:p>
        </p:txBody>
      </p:sp>
      <p:cxnSp>
        <p:nvCxnSpPr>
          <p:cNvPr id="3" name="Connector 2"/>
          <p:cNvCxnSpPr/>
          <p:nvPr/>
        </p:nvCxnSpPr>
        <p:spPr>
          <a:xfrm>
            <a:off x="777240" y="1755648"/>
            <a:ext cx="10637215" cy="0"/>
          </a:xfrm>
          <a:prstGeom prst="line">
            <a:avLst/>
          </a:prstGeom>
          <a:ln w="15875">
            <a:solidFill>
              <a:srgbClr val="DEDED6"/>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777240" y="2057400"/>
            <a:ext cx="10637215" cy="4160520"/>
          </a:xfrm>
          <a:prstGeom prst="rect">
            <a:avLst/>
          </a:prstGeom>
          <a:noFill/>
        </p:spPr>
        <p:txBody>
          <a:bodyPr wrap="square" lIns="0" rIns="0" tIns="0" bIns="0">
            <a:spAutoFit/>
          </a:bodyPr>
          <a:lstStyle/>
          <a:p>
            <a:pPr>
              <a:spcAft>
                <a:spcPts val="1300"/>
              </a:spcAft>
            </a:pPr>
            <a:r>
              <a:rPr sz="1550" b="1">
                <a:solidFill>
                  <a:srgbClr val="14171C"/>
                </a:solidFill>
                <a:latin typeface="Segoe UI"/>
              </a:rPr>
              <a:t>The counting unit is the contact.  </a:t>
            </a:r>
            <a:r>
              <a:rPr sz="1550">
                <a:solidFill>
                  <a:srgbClr val="6B7280"/>
                </a:solidFill>
                <a:latin typeface="Segoe UI"/>
              </a:rPr>
              <a:t>A theme, reason or driver counts at most once per contact, and every share is over the contacts in the same filtered slice.</a:t>
            </a:r>
          </a:p>
          <a:p>
            <a:pPr>
              <a:spcAft>
                <a:spcPts val="1300"/>
              </a:spcAft>
            </a:pPr>
            <a:r>
              <a:rPr sz="1550" b="1">
                <a:solidFill>
                  <a:srgbClr val="14171C"/>
                </a:solidFill>
                <a:latin typeface="Segoe UI"/>
              </a:rPr>
              <a:t>Minimum support is deliberate.  </a:t>
            </a:r>
            <a:r>
              <a:rPr sz="1550">
                <a:solidFill>
                  <a:srgbClr val="6B7280"/>
                </a:solidFill>
                <a:latin typeface="Segoe UI"/>
              </a:rPr>
              <a:t>Nothing is ranked below five contacts; a segment cell is blanked below fifty in the slice. Relaxing it to make a chart look fuller is the wrong fix.</a:t>
            </a:r>
          </a:p>
          <a:p>
            <a:pPr>
              <a:spcAft>
                <a:spcPts val="1300"/>
              </a:spcAft>
            </a:pPr>
            <a:r>
              <a:rPr sz="1550" b="1">
                <a:solidFill>
                  <a:srgbClr val="14171C"/>
                </a:solidFill>
                <a:latin typeface="Segoe UI"/>
              </a:rPr>
              <a:t>Quotes must be exact substrings.  </a:t>
            </a:r>
            <a:r>
              <a:rPr sz="1550">
                <a:solidFill>
                  <a:srgbClr val="6B7280"/>
                </a:solidFill>
                <a:latin typeface="Segoe UI"/>
              </a:rPr>
              <a:t>An exact or whitespace-normalised match, nothing else. Unverified quotes never reach the interface, a tool result, or the agent.</a:t>
            </a:r>
          </a:p>
          <a:p>
            <a:pPr>
              <a:spcAft>
                <a:spcPts val="1300"/>
              </a:spcAft>
            </a:pPr>
            <a:r>
              <a:rPr sz="1550" b="1">
                <a:solidFill>
                  <a:srgbClr val="14171C"/>
                </a:solidFill>
                <a:latin typeface="Segoe UI"/>
              </a:rPr>
              <a:t>The as-of week must be complete.  </a:t>
            </a:r>
            <a:r>
              <a:rPr sz="1550">
                <a:solidFill>
                  <a:srgbClr val="6B7280"/>
                </a:solidFill>
                <a:latin typeface="Segoe UI"/>
              </a:rPr>
              <a:t>A corpus ending mid-week puts a half-empty week in the recent window and hides every emerging signal.</a:t>
            </a:r>
          </a:p>
          <a:p>
            <a:pPr>
              <a:spcAft>
                <a:spcPts val="1300"/>
              </a:spcAft>
            </a:pPr>
            <a:r>
              <a:rPr sz="1550" b="1">
                <a:solidFill>
                  <a:srgbClr val="14171C"/>
                </a:solidFill>
                <a:latin typeface="Segoe UI"/>
              </a:rPr>
              <a:t>The index is disposable.  </a:t>
            </a:r>
            <a:r>
              <a:rPr sz="1550">
                <a:solidFill>
                  <a:srgbClr val="6B7280"/>
                </a:solidFill>
                <a:latin typeface="Segoe UI"/>
              </a:rPr>
              <a:t>Rebuilt from files in about four seconds, including restoring the recorded answers and the tool results behind their numbers.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C241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77240" y="1554480"/>
            <a:ext cx="10058400" cy="914400"/>
          </a:xfrm>
          <a:prstGeom prst="rect">
            <a:avLst/>
          </a:prstGeom>
          <a:noFill/>
        </p:spPr>
        <p:txBody>
          <a:bodyPr wrap="square" lIns="0" rIns="0" tIns="0" bIns="0">
            <a:spAutoFit/>
          </a:bodyPr>
          <a:lstStyle/>
          <a:p>
            <a:pPr algn="l">
              <a:spcBef>
                <a:spcPts val="0"/>
              </a:spcBef>
              <a:spcAft>
                <a:spcPts val="2000"/>
              </a:spcAft>
            </a:pPr>
            <a:r>
              <a:rPr sz="1300" b="1" i="0">
                <a:solidFill>
                  <a:srgbClr val="C2411F"/>
                </a:solidFill>
                <a:latin typeface="Segoe UI"/>
              </a:rPr>
              <a:t>WHY IT IS BUILT THIS WAY</a:t>
            </a:r>
          </a:p>
        </p:txBody>
      </p:sp>
      <p:sp>
        <p:nvSpPr>
          <p:cNvPr id="4" name="TextBox 3"/>
          <p:cNvSpPr txBox="1"/>
          <p:nvPr/>
        </p:nvSpPr>
        <p:spPr>
          <a:xfrm>
            <a:off x="777240" y="2514600"/>
            <a:ext cx="10424160" cy="960120"/>
          </a:xfrm>
          <a:prstGeom prst="rect">
            <a:avLst/>
          </a:prstGeom>
          <a:noFill/>
        </p:spPr>
        <p:txBody>
          <a:bodyPr wrap="square" lIns="0" rIns="0" tIns="0" bIns="0">
            <a:spAutoFit/>
          </a:bodyPr>
          <a:lstStyle/>
          <a:p>
            <a:pPr algn="l">
              <a:spcBef>
                <a:spcPts val="0"/>
              </a:spcBef>
              <a:spcAft>
                <a:spcPts val="400"/>
              </a:spcAft>
            </a:pPr>
            <a:r>
              <a:rPr sz="2200" b="1" i="0">
                <a:solidFill>
                  <a:srgbClr val="14171C"/>
                </a:solidFill>
                <a:latin typeface="Segoe UI"/>
              </a:rPr>
              <a:t>Because the demo has to run anywhere.</a:t>
            </a:r>
          </a:p>
          <a:p>
            <a:pPr algn="l">
              <a:spcBef>
                <a:spcPts val="0"/>
              </a:spcBef>
              <a:spcAft>
                <a:spcPts val="0"/>
              </a:spcAft>
            </a:pPr>
            <a:r>
              <a:rPr sz="1400" b="0" i="0">
                <a:solidFill>
                  <a:srgbClr val="6B7280"/>
                </a:solidFill>
                <a:latin typeface="Segoe UI"/>
              </a:rPr>
              <a:t>No external services, no key required, no network. Clone, build the index, serve.</a:t>
            </a:r>
          </a:p>
        </p:txBody>
      </p:sp>
      <p:sp>
        <p:nvSpPr>
          <p:cNvPr id="5" name="TextBox 4"/>
          <p:cNvSpPr txBox="1"/>
          <p:nvPr/>
        </p:nvSpPr>
        <p:spPr>
          <a:xfrm>
            <a:off x="777240" y="3657600"/>
            <a:ext cx="10424160" cy="960120"/>
          </a:xfrm>
          <a:prstGeom prst="rect">
            <a:avLst/>
          </a:prstGeom>
          <a:noFill/>
        </p:spPr>
        <p:txBody>
          <a:bodyPr wrap="square" lIns="0" rIns="0" tIns="0" bIns="0">
            <a:spAutoFit/>
          </a:bodyPr>
          <a:lstStyle/>
          <a:p>
            <a:pPr algn="l">
              <a:spcBef>
                <a:spcPts val="0"/>
              </a:spcBef>
              <a:spcAft>
                <a:spcPts val="400"/>
              </a:spcAft>
            </a:pPr>
            <a:r>
              <a:rPr sz="2200" b="1" i="0">
                <a:solidFill>
                  <a:srgbClr val="14171C"/>
                </a:solidFill>
                <a:latin typeface="Segoe UI"/>
              </a:rPr>
              <a:t>Because re-running has to be free.</a:t>
            </a:r>
          </a:p>
          <a:p>
            <a:pPr algn="l">
              <a:spcBef>
                <a:spcPts val="0"/>
              </a:spcBef>
              <a:spcAft>
                <a:spcPts val="0"/>
              </a:spcAft>
            </a:pPr>
            <a:r>
              <a:rPr sz="1400" b="0" i="0">
                <a:solidFill>
                  <a:srgbClr val="6B7280"/>
                </a:solidFill>
                <a:latin typeface="Segoe UI"/>
              </a:rPr>
              <a:t>Content-hash caching means tomorrow's contacts cost only tomorrow's contacts, and a killed run resumes.</a:t>
            </a:r>
          </a:p>
        </p:txBody>
      </p:sp>
      <p:sp>
        <p:nvSpPr>
          <p:cNvPr id="6" name="TextBox 5"/>
          <p:cNvSpPr txBox="1"/>
          <p:nvPr/>
        </p:nvSpPr>
        <p:spPr>
          <a:xfrm>
            <a:off x="777240" y="4800600"/>
            <a:ext cx="10424160" cy="960120"/>
          </a:xfrm>
          <a:prstGeom prst="rect">
            <a:avLst/>
          </a:prstGeom>
          <a:noFill/>
        </p:spPr>
        <p:txBody>
          <a:bodyPr wrap="square" lIns="0" rIns="0" tIns="0" bIns="0">
            <a:spAutoFit/>
          </a:bodyPr>
          <a:lstStyle/>
          <a:p>
            <a:pPr algn="l">
              <a:spcBef>
                <a:spcPts val="0"/>
              </a:spcBef>
              <a:spcAft>
                <a:spcPts val="400"/>
              </a:spcAft>
            </a:pPr>
            <a:r>
              <a:rPr sz="2200" b="1" i="0">
                <a:solidFill>
                  <a:srgbClr val="14171C"/>
                </a:solidFill>
                <a:latin typeface="Segoe UI"/>
              </a:rPr>
              <a:t>Because a bank will ask where the number came from.</a:t>
            </a:r>
          </a:p>
          <a:p>
            <a:pPr algn="l">
              <a:spcBef>
                <a:spcPts val="0"/>
              </a:spcBef>
              <a:spcAft>
                <a:spcPts val="0"/>
              </a:spcAft>
            </a:pPr>
            <a:r>
              <a:rPr sz="1400" b="0" i="0">
                <a:solidFill>
                  <a:srgbClr val="6B7280"/>
                </a:solidFill>
                <a:latin typeface="Segoe UI"/>
              </a:rPr>
              <a:t>Every figure traces to a query, and the query re-executes to a list of real calls you can open and read.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